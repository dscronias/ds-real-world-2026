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org&amp;utm_campaign=imageinfo&amp;utm_content=original"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3"/>
  </p:notesMasterIdLst>
  <p:handoutMasterIdLst>
    <p:handoutMasterId r:id="rId84"/>
  </p:handoutMasterIdLst>
  <p:sldIdLst>
    <p:sldId id="256" r:id="rId2"/>
    <p:sldId id="258" r:id="rId3"/>
    <p:sldId id="368" r:id="rId4"/>
    <p:sldId id="429" r:id="rId5"/>
    <p:sldId id="259" r:id="rId6"/>
    <p:sldId id="261" r:id="rId7"/>
    <p:sldId id="433" r:id="rId8"/>
    <p:sldId id="430" r:id="rId9"/>
    <p:sldId id="432" r:id="rId10"/>
    <p:sldId id="295" r:id="rId11"/>
    <p:sldId id="331" r:id="rId12"/>
    <p:sldId id="495" r:id="rId13"/>
    <p:sldId id="332" r:id="rId14"/>
    <p:sldId id="431" r:id="rId15"/>
    <p:sldId id="494" r:id="rId16"/>
    <p:sldId id="496" r:id="rId17"/>
    <p:sldId id="369" r:id="rId18"/>
    <p:sldId id="455" r:id="rId19"/>
    <p:sldId id="414" r:id="rId20"/>
    <p:sldId id="260" r:id="rId21"/>
    <p:sldId id="262" r:id="rId22"/>
    <p:sldId id="279" r:id="rId23"/>
    <p:sldId id="410" r:id="rId24"/>
    <p:sldId id="314" r:id="rId25"/>
    <p:sldId id="281" r:id="rId26"/>
    <p:sldId id="282" r:id="rId27"/>
    <p:sldId id="456" r:id="rId28"/>
    <p:sldId id="283" r:id="rId29"/>
    <p:sldId id="462" r:id="rId30"/>
    <p:sldId id="285" r:id="rId31"/>
    <p:sldId id="492" r:id="rId32"/>
    <p:sldId id="466" r:id="rId33"/>
    <p:sldId id="472" r:id="rId34"/>
    <p:sldId id="475" r:id="rId35"/>
    <p:sldId id="474" r:id="rId36"/>
    <p:sldId id="477" r:id="rId37"/>
    <p:sldId id="287" r:id="rId38"/>
    <p:sldId id="478" r:id="rId39"/>
    <p:sldId id="482" r:id="rId40"/>
    <p:sldId id="485" r:id="rId41"/>
    <p:sldId id="484" r:id="rId42"/>
    <p:sldId id="486" r:id="rId43"/>
    <p:sldId id="497" r:id="rId44"/>
    <p:sldId id="483" r:id="rId45"/>
    <p:sldId id="487" r:id="rId46"/>
    <p:sldId id="490" r:id="rId47"/>
    <p:sldId id="491" r:id="rId48"/>
    <p:sldId id="290" r:id="rId49"/>
    <p:sldId id="489" r:id="rId50"/>
    <p:sldId id="446" r:id="rId51"/>
    <p:sldId id="291" r:id="rId52"/>
    <p:sldId id="301" r:id="rId53"/>
    <p:sldId id="333" r:id="rId54"/>
    <p:sldId id="464" r:id="rId55"/>
    <p:sldId id="334" r:id="rId56"/>
    <p:sldId id="498" r:id="rId57"/>
    <p:sldId id="448" r:id="rId58"/>
    <p:sldId id="468" r:id="rId59"/>
    <p:sldId id="304" r:id="rId60"/>
    <p:sldId id="348" r:id="rId61"/>
    <p:sldId id="343" r:id="rId62"/>
    <p:sldId id="447" r:id="rId63"/>
    <p:sldId id="347" r:id="rId64"/>
    <p:sldId id="346" r:id="rId65"/>
    <p:sldId id="341" r:id="rId66"/>
    <p:sldId id="344" r:id="rId67"/>
    <p:sldId id="345" r:id="rId68"/>
    <p:sldId id="355" r:id="rId69"/>
    <p:sldId id="356" r:id="rId70"/>
    <p:sldId id="313" r:id="rId71"/>
    <p:sldId id="321" r:id="rId72"/>
    <p:sldId id="358" r:id="rId73"/>
    <p:sldId id="320" r:id="rId74"/>
    <p:sldId id="299" r:id="rId75"/>
    <p:sldId id="350" r:id="rId76"/>
    <p:sldId id="351" r:id="rId77"/>
    <p:sldId id="353" r:id="rId78"/>
    <p:sldId id="352" r:id="rId79"/>
    <p:sldId id="354" r:id="rId80"/>
    <p:sldId id="316" r:id="rId81"/>
    <p:sldId id="317" r:id="rId82"/>
  </p:sldIdLst>
  <p:sldSz cx="12192000" cy="6858000"/>
  <p:notesSz cx="6858000" cy="9144000"/>
  <p:embeddedFontLst>
    <p:embeddedFont>
      <p:font typeface="Esteban" panose="020B0604020202020204" charset="0"/>
      <p:regular r:id="rId85"/>
    </p:embeddedFont>
    <p:embeddedFont>
      <p:font typeface="Fira Code" panose="020B0809050000020004" pitchFamily="49" charset="0"/>
      <p:regular r:id="rId86"/>
    </p:embeddedFont>
    <p:embeddedFont>
      <p:font typeface="Montserrat" pitchFamily="2" charset="0"/>
      <p:regular r:id="rId87"/>
      <p:bold r:id="rId88"/>
      <p:italic r:id="rId89"/>
      <p:boldItalic r:id="rId90"/>
    </p:embeddedFont>
    <p:embeddedFont>
      <p:font typeface="Source Sans Pro" panose="020B0503030403020204" pitchFamily="34" charset="0"/>
      <p:regular r:id="rId91"/>
      <p:bold r:id="rId92"/>
      <p:italic r:id="rId9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C1)" id="{16E25BFD-B8B8-4E15-8221-99C6BF3B4192}">
          <p14:sldIdLst>
            <p14:sldId id="256"/>
            <p14:sldId id="258"/>
            <p14:sldId id="368"/>
            <p14:sldId id="429"/>
            <p14:sldId id="259"/>
            <p14:sldId id="261"/>
            <p14:sldId id="433"/>
            <p14:sldId id="430"/>
            <p14:sldId id="432"/>
            <p14:sldId id="295"/>
            <p14:sldId id="331"/>
            <p14:sldId id="495"/>
            <p14:sldId id="332"/>
            <p14:sldId id="431"/>
            <p14:sldId id="494"/>
            <p14:sldId id="496"/>
            <p14:sldId id="369"/>
            <p14:sldId id="455"/>
            <p14:sldId id="414"/>
            <p14:sldId id="260"/>
            <p14:sldId id="262"/>
          </p14:sldIdLst>
        </p14:section>
        <p14:section name="Data" id="{ACC15DFC-9AA0-477C-B9FC-F552AEC01FDC}">
          <p14:sldIdLst>
            <p14:sldId id="279"/>
            <p14:sldId id="410"/>
            <p14:sldId id="314"/>
            <p14:sldId id="281"/>
            <p14:sldId id="282"/>
            <p14:sldId id="456"/>
            <p14:sldId id="283"/>
            <p14:sldId id="462"/>
            <p14:sldId id="285"/>
            <p14:sldId id="492"/>
            <p14:sldId id="466"/>
            <p14:sldId id="472"/>
            <p14:sldId id="475"/>
            <p14:sldId id="474"/>
            <p14:sldId id="477"/>
            <p14:sldId id="287"/>
            <p14:sldId id="478"/>
            <p14:sldId id="482"/>
            <p14:sldId id="485"/>
            <p14:sldId id="484"/>
            <p14:sldId id="486"/>
            <p14:sldId id="497"/>
            <p14:sldId id="483"/>
            <p14:sldId id="487"/>
            <p14:sldId id="490"/>
            <p14:sldId id="491"/>
            <p14:sldId id="290"/>
            <p14:sldId id="489"/>
            <p14:sldId id="446"/>
            <p14:sldId id="291"/>
            <p14:sldId id="301"/>
            <p14:sldId id="333"/>
            <p14:sldId id="464"/>
            <p14:sldId id="334"/>
            <p14:sldId id="498"/>
            <p14:sldId id="448"/>
            <p14:sldId id="468"/>
            <p14:sldId id="304"/>
            <p14:sldId id="348"/>
            <p14:sldId id="343"/>
            <p14:sldId id="447"/>
            <p14:sldId id="347"/>
            <p14:sldId id="346"/>
            <p14:sldId id="341"/>
            <p14:sldId id="344"/>
            <p14:sldId id="345"/>
            <p14:sldId id="355"/>
            <p14:sldId id="356"/>
            <p14:sldId id="313"/>
            <p14:sldId id="321"/>
            <p14:sldId id="358"/>
            <p14:sldId id="320"/>
            <p14:sldId id="299"/>
            <p14:sldId id="350"/>
            <p14:sldId id="351"/>
            <p14:sldId id="353"/>
            <p14:sldId id="352"/>
            <p14:sldId id="354"/>
            <p14:sldId id="316"/>
            <p14:sldId id="3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DB0"/>
    <a:srgbClr val="0C0804"/>
    <a:srgbClr val="FDFBF9"/>
    <a:srgbClr val="BA0820"/>
    <a:srgbClr val="1F9ED3"/>
    <a:srgbClr val="3391B0"/>
    <a:srgbClr val="EB6E40"/>
    <a:srgbClr val="1891C3"/>
    <a:srgbClr val="C8EAF8"/>
    <a:srgbClr val="F9D4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542" autoAdjust="0"/>
  </p:normalViewPr>
  <p:slideViewPr>
    <p:cSldViewPr snapToGrid="0">
      <p:cViewPr varScale="1">
        <p:scale>
          <a:sx n="77" d="100"/>
          <a:sy n="77" d="100"/>
        </p:scale>
        <p:origin x="4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72AE929-947F-54AF-FA86-862A7B8C50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6FB245DA-9F3B-66B2-BF12-EA5A3CB27D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62B388-E28C-4954-A860-13DF77ADB2E7}" type="datetimeFigureOut">
              <a:rPr lang="fr-FR" smtClean="0"/>
              <a:t>26/09/2026</a:t>
            </a:fld>
            <a:endParaRPr lang="fr-FR"/>
          </a:p>
        </p:txBody>
      </p:sp>
      <p:sp>
        <p:nvSpPr>
          <p:cNvPr id="4" name="Espace réservé du pied de page 3">
            <a:extLst>
              <a:ext uri="{FF2B5EF4-FFF2-40B4-BE49-F238E27FC236}">
                <a16:creationId xmlns:a16="http://schemas.microsoft.com/office/drawing/2014/main" id="{32A01E7F-F2A6-49F5-67A9-7B4D2B33CA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4E26734-4ED7-F8BD-92EF-432D455DF0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4CF5E7-CA4B-40AD-BE1D-06429DE8B1E3}" type="slidenum">
              <a:rPr lang="fr-FR" smtClean="0"/>
              <a:t>‹N°›</a:t>
            </a:fld>
            <a:endParaRPr lang="fr-FR"/>
          </a:p>
        </p:txBody>
      </p:sp>
    </p:spTree>
    <p:extLst>
      <p:ext uri="{BB962C8B-B14F-4D97-AF65-F5344CB8AC3E}">
        <p14:creationId xmlns:p14="http://schemas.microsoft.com/office/powerpoint/2010/main" val="187629737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01T15:57:24.9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1,'5223'0,"-5226"0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2T09:09:30.69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26,'123'2,"134"-5,-166-9,-56 7,60-3,48 9,-123-1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2T09:09:32.046"/>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25,'964'0,"-934"-1,51-10,19-1,-79 12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2T09:09:35.14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0,'4'0,"5"0,6 0,4 0,3 0,1 0,2 0,0 0,0 0,0 0,-1 0,1 0,-1 0,0 0,0 0,-4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2T09:09:48.5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26,'5'-5,"4"0,6 0,4 0,7 2,3 2,5 0,0 0,-1 1,-2 0,2 1,3-1,0 0,-3 0,-6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2T09:09:52.1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0,'645'0,"-620"0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6A9FB1-57B7-40A8-A35B-8FCF7356B355}" type="datetimeFigureOut">
              <a:rPr lang="en-GB" smtClean="0"/>
              <a:t>26/09/2026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EC21E-A6F6-4C42-B0A9-7BADF486F0B3}" type="slidenum">
              <a:rPr lang="en-GB" smtClean="0"/>
              <a:t>‹N°›</a:t>
            </a:fld>
            <a:endParaRPr lang="en-GB"/>
          </a:p>
        </p:txBody>
      </p:sp>
    </p:spTree>
    <p:extLst>
      <p:ext uri="{BB962C8B-B14F-4D97-AF65-F5344CB8AC3E}">
        <p14:creationId xmlns:p14="http://schemas.microsoft.com/office/powerpoint/2010/main" val="11924426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Practical exercises using (mainly) dirty data</a:t>
            </a:r>
            <a:r>
              <a:rPr lang="en-GB" dirty="0"/>
              <a:t>: tell them that’s a problem and that working on toys dataset doesn’t prepare you to all the data manipulation you’ll have to do</a:t>
            </a:r>
            <a:endParaRPr lang="en-US" dirty="0"/>
          </a:p>
        </p:txBody>
      </p:sp>
      <p:sp>
        <p:nvSpPr>
          <p:cNvPr id="4" name="Slide Number Placeholder 3"/>
          <p:cNvSpPr>
            <a:spLocks noGrp="1"/>
          </p:cNvSpPr>
          <p:nvPr>
            <p:ph type="sldNum" sz="quarter" idx="5"/>
          </p:nvPr>
        </p:nvSpPr>
        <p:spPr/>
        <p:txBody>
          <a:bodyPr/>
          <a:lstStyle/>
          <a:p>
            <a:fld id="{A62EC21E-A6F6-4C42-B0A9-7BADF486F0B3}" type="slidenum">
              <a:rPr lang="en-GB" smtClean="0"/>
              <a:t>2</a:t>
            </a:fld>
            <a:endParaRPr lang="en-GB"/>
          </a:p>
        </p:txBody>
      </p:sp>
    </p:spTree>
    <p:extLst>
      <p:ext uri="{BB962C8B-B14F-4D97-AF65-F5344CB8AC3E}">
        <p14:creationId xmlns:p14="http://schemas.microsoft.com/office/powerpoint/2010/main" val="2757135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3</a:t>
            </a:fld>
            <a:endParaRPr lang="en-GB"/>
          </a:p>
        </p:txBody>
      </p:sp>
    </p:spTree>
    <p:extLst>
      <p:ext uri="{BB962C8B-B14F-4D97-AF65-F5344CB8AC3E}">
        <p14:creationId xmlns:p14="http://schemas.microsoft.com/office/powerpoint/2010/main" val="2665006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4AAC5-022F-EB20-40AA-6A2B5DEC8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CC8F4-EB85-FBF1-367F-0E77DB949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53B818-0F10-6300-181D-FFD13A6087D8}"/>
              </a:ext>
            </a:extLst>
          </p:cNvPr>
          <p:cNvSpPr>
            <a:spLocks noGrp="1"/>
          </p:cNvSpPr>
          <p:nvPr>
            <p:ph type="body" idx="1"/>
          </p:nvPr>
        </p:nvSpPr>
        <p:spPr/>
        <p:txBody>
          <a:bodyPr/>
          <a:lstStyle/>
          <a:p>
            <a:r>
              <a:rPr lang="en-GB" dirty="0"/>
              <a:t>It’s quite obvious, but paid books aren’t necessarily better than free ones.</a:t>
            </a:r>
          </a:p>
          <a:p>
            <a:r>
              <a:rPr lang="en-GB" dirty="0"/>
              <a:t>Reminder: archive</a:t>
            </a:r>
          </a:p>
          <a:p>
            <a:r>
              <a:rPr lang="en-GB" dirty="0"/>
              <a:t>Don’t mention any website name</a:t>
            </a:r>
          </a:p>
        </p:txBody>
      </p:sp>
      <p:sp>
        <p:nvSpPr>
          <p:cNvPr id="4" name="Slide Number Placeholder 3">
            <a:extLst>
              <a:ext uri="{FF2B5EF4-FFF2-40B4-BE49-F238E27FC236}">
                <a16:creationId xmlns:a16="http://schemas.microsoft.com/office/drawing/2014/main" id="{32F22AC2-F50E-27E9-E615-CD6B2377A992}"/>
              </a:ext>
            </a:extLst>
          </p:cNvPr>
          <p:cNvSpPr>
            <a:spLocks noGrp="1"/>
          </p:cNvSpPr>
          <p:nvPr>
            <p:ph type="sldNum" sz="quarter" idx="5"/>
          </p:nvPr>
        </p:nvSpPr>
        <p:spPr/>
        <p:txBody>
          <a:bodyPr/>
          <a:lstStyle/>
          <a:p>
            <a:fld id="{A62EC21E-A6F6-4C42-B0A9-7BADF486F0B3}" type="slidenum">
              <a:rPr lang="en-GB" smtClean="0"/>
              <a:t>4</a:t>
            </a:fld>
            <a:endParaRPr lang="en-GB"/>
          </a:p>
        </p:txBody>
      </p:sp>
    </p:spTree>
    <p:extLst>
      <p:ext uri="{BB962C8B-B14F-4D97-AF65-F5344CB8AC3E}">
        <p14:creationId xmlns:p14="http://schemas.microsoft.com/office/powerpoint/2010/main" val="1371435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Same</a:t>
            </a:r>
            <a:r>
              <a:rPr lang="fr-FR" dirty="0"/>
              <a:t> background as </a:t>
            </a:r>
            <a:r>
              <a:rPr lang="fr-FR" dirty="0" err="1"/>
              <a:t>you</a:t>
            </a:r>
            <a:endParaRPr lang="fr-FR" dirty="0"/>
          </a:p>
          <a:p>
            <a:r>
              <a:rPr lang="fr-FR" dirty="0" err="1"/>
              <a:t>Statistician</a:t>
            </a:r>
            <a:r>
              <a:rPr lang="fr-FR" dirty="0"/>
              <a:t>/data </a:t>
            </a:r>
            <a:r>
              <a:rPr lang="fr-FR" dirty="0" err="1"/>
              <a:t>scientist</a:t>
            </a:r>
            <a:r>
              <a:rPr lang="fr-FR" dirty="0"/>
              <a:t>/</a:t>
            </a:r>
            <a:r>
              <a:rPr lang="fr-FR" dirty="0" err="1"/>
              <a:t>whatever</a:t>
            </a:r>
            <a:r>
              <a:rPr lang="fr-FR" dirty="0"/>
              <a:t> </a:t>
            </a:r>
            <a:r>
              <a:rPr lang="fr-FR" dirty="0" err="1"/>
              <a:t>since</a:t>
            </a:r>
            <a:r>
              <a:rPr lang="fr-FR" dirty="0"/>
              <a:t> 2019</a:t>
            </a:r>
          </a:p>
          <a:p>
            <a:r>
              <a:rPr lang="fr-FR" dirty="0" err="1"/>
              <a:t>Already</a:t>
            </a:r>
            <a:r>
              <a:rPr lang="fr-FR" dirty="0"/>
              <a:t> </a:t>
            </a:r>
            <a:r>
              <a:rPr lang="fr-FR" dirty="0" err="1"/>
              <a:t>taught</a:t>
            </a:r>
            <a:r>
              <a:rPr lang="fr-FR" dirty="0"/>
              <a:t> </a:t>
            </a:r>
            <a:r>
              <a:rPr lang="fr-FR" dirty="0" err="1"/>
              <a:t>this</a:t>
            </a:r>
            <a:r>
              <a:rPr lang="fr-FR" dirty="0"/>
              <a:t> class for the </a:t>
            </a:r>
            <a:r>
              <a:rPr lang="fr-FR" dirty="0" err="1"/>
              <a:t>two</a:t>
            </a:r>
            <a:r>
              <a:rPr lang="fr-FR" dirty="0"/>
              <a:t> </a:t>
            </a:r>
            <a:r>
              <a:rPr lang="fr-FR" dirty="0" err="1"/>
              <a:t>previous</a:t>
            </a:r>
            <a:r>
              <a:rPr lang="fr-FR" dirty="0"/>
              <a:t> </a:t>
            </a:r>
            <a:r>
              <a:rPr lang="fr-FR" dirty="0" err="1"/>
              <a:t>years</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5</a:t>
            </a:fld>
            <a:endParaRPr lang="en-GB"/>
          </a:p>
        </p:txBody>
      </p:sp>
    </p:spTree>
    <p:extLst>
      <p:ext uri="{BB962C8B-B14F-4D97-AF65-F5344CB8AC3E}">
        <p14:creationId xmlns:p14="http://schemas.microsoft.com/office/powerpoint/2010/main" val="4033188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a:t>
            </a:fld>
            <a:endParaRPr lang="en-GB"/>
          </a:p>
        </p:txBody>
      </p:sp>
    </p:spTree>
    <p:extLst>
      <p:ext uri="{BB962C8B-B14F-4D97-AF65-F5344CB8AC3E}">
        <p14:creationId xmlns:p14="http://schemas.microsoft.com/office/powerpoint/2010/main" val="2233587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478E-722D-1D97-35A4-BDA1E3A2F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B257C-6D99-81B0-AB4A-E66F90A55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DB4C1-0D35-33DB-CBDF-7A1B4ABCD8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E415BDD-862E-1887-DA49-CD201741821E}"/>
              </a:ext>
            </a:extLst>
          </p:cNvPr>
          <p:cNvSpPr>
            <a:spLocks noGrp="1"/>
          </p:cNvSpPr>
          <p:nvPr>
            <p:ph type="sldNum" sz="quarter" idx="5"/>
          </p:nvPr>
        </p:nvSpPr>
        <p:spPr/>
        <p:txBody>
          <a:bodyPr/>
          <a:lstStyle/>
          <a:p>
            <a:fld id="{A62EC21E-A6F6-4C42-B0A9-7BADF486F0B3}" type="slidenum">
              <a:rPr lang="en-GB" smtClean="0"/>
              <a:t>7</a:t>
            </a:fld>
            <a:endParaRPr lang="en-GB"/>
          </a:p>
        </p:txBody>
      </p:sp>
    </p:spTree>
    <p:extLst>
      <p:ext uri="{BB962C8B-B14F-4D97-AF65-F5344CB8AC3E}">
        <p14:creationId xmlns:p14="http://schemas.microsoft.com/office/powerpoint/2010/main" val="3672184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463C2-031B-72A2-4DFC-F111FBC8E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95607-BFDB-0984-DE76-07C13D154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E31F3-F476-CB0B-DD78-45FA67A065FA}"/>
              </a:ext>
            </a:extLst>
          </p:cNvPr>
          <p:cNvSpPr>
            <a:spLocks noGrp="1"/>
          </p:cNvSpPr>
          <p:nvPr>
            <p:ph type="body" idx="1"/>
          </p:nvPr>
        </p:nvSpPr>
        <p:spPr/>
        <p:txBody>
          <a:bodyPr/>
          <a:lstStyle/>
          <a:p>
            <a:r>
              <a:rPr lang="fr-FR" dirty="0"/>
              <a:t>And </a:t>
            </a:r>
            <a:r>
              <a:rPr lang="fr-FR" dirty="0" err="1"/>
              <a:t>probably</a:t>
            </a:r>
            <a:r>
              <a:rPr lang="fr-FR" dirty="0"/>
              <a:t> </a:t>
            </a:r>
            <a:r>
              <a:rPr lang="fr-FR" dirty="0" err="1"/>
              <a:t>other</a:t>
            </a:r>
            <a:r>
              <a:rPr lang="fr-FR" dirty="0"/>
              <a:t> </a:t>
            </a:r>
            <a:r>
              <a:rPr lang="fr-FR" dirty="0" err="1"/>
              <a:t>things</a:t>
            </a:r>
            <a:r>
              <a:rPr lang="fr-FR" dirty="0"/>
              <a:t> </a:t>
            </a:r>
            <a:r>
              <a:rPr lang="fr-FR" dirty="0" err="1"/>
              <a:t>that</a:t>
            </a:r>
            <a:r>
              <a:rPr lang="fr-FR" dirty="0"/>
              <a:t> I have </a:t>
            </a:r>
            <a:r>
              <a:rPr lang="fr-FR" dirty="0" err="1"/>
              <a:t>forgotten</a:t>
            </a:r>
            <a:r>
              <a:rPr lang="fr-FR" dirty="0"/>
              <a:t> about</a:t>
            </a:r>
            <a:endParaRPr lang="en-GB" dirty="0"/>
          </a:p>
        </p:txBody>
      </p:sp>
      <p:sp>
        <p:nvSpPr>
          <p:cNvPr id="4" name="Slide Number Placeholder 3">
            <a:extLst>
              <a:ext uri="{FF2B5EF4-FFF2-40B4-BE49-F238E27FC236}">
                <a16:creationId xmlns:a16="http://schemas.microsoft.com/office/drawing/2014/main" id="{34D53EC3-89B8-6E8F-4F8F-CE7ED5FF6DB6}"/>
              </a:ext>
            </a:extLst>
          </p:cNvPr>
          <p:cNvSpPr>
            <a:spLocks noGrp="1"/>
          </p:cNvSpPr>
          <p:nvPr>
            <p:ph type="sldNum" sz="quarter" idx="5"/>
          </p:nvPr>
        </p:nvSpPr>
        <p:spPr/>
        <p:txBody>
          <a:bodyPr/>
          <a:lstStyle/>
          <a:p>
            <a:fld id="{A62EC21E-A6F6-4C42-B0A9-7BADF486F0B3}" type="slidenum">
              <a:rPr lang="en-GB" smtClean="0"/>
              <a:t>8</a:t>
            </a:fld>
            <a:endParaRPr lang="en-GB"/>
          </a:p>
        </p:txBody>
      </p:sp>
    </p:spTree>
    <p:extLst>
      <p:ext uri="{BB962C8B-B14F-4D97-AF65-F5344CB8AC3E}">
        <p14:creationId xmlns:p14="http://schemas.microsoft.com/office/powerpoint/2010/main" val="379861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B0452-B8C6-F97D-3F35-1DAB45C06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BEBA5-3865-2DF2-0DDA-DC879FECF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A8188-3A68-1E25-5BCE-7630E45EE570}"/>
              </a:ext>
            </a:extLst>
          </p:cNvPr>
          <p:cNvSpPr>
            <a:spLocks noGrp="1"/>
          </p:cNvSpPr>
          <p:nvPr>
            <p:ph type="body" idx="1"/>
          </p:nvPr>
        </p:nvSpPr>
        <p:spPr/>
        <p:txBody>
          <a:bodyPr/>
          <a:lstStyle/>
          <a:p>
            <a:r>
              <a:rPr lang="fr-FR" dirty="0"/>
              <a:t>And </a:t>
            </a:r>
            <a:r>
              <a:rPr lang="fr-FR" dirty="0" err="1"/>
              <a:t>probably</a:t>
            </a:r>
            <a:r>
              <a:rPr lang="fr-FR" dirty="0"/>
              <a:t> </a:t>
            </a:r>
            <a:r>
              <a:rPr lang="fr-FR" dirty="0" err="1"/>
              <a:t>other</a:t>
            </a:r>
            <a:r>
              <a:rPr lang="fr-FR" dirty="0"/>
              <a:t> </a:t>
            </a:r>
            <a:r>
              <a:rPr lang="fr-FR" dirty="0" err="1"/>
              <a:t>things</a:t>
            </a:r>
            <a:r>
              <a:rPr lang="fr-FR" dirty="0"/>
              <a:t> </a:t>
            </a:r>
            <a:r>
              <a:rPr lang="fr-FR" dirty="0" err="1"/>
              <a:t>that</a:t>
            </a:r>
            <a:r>
              <a:rPr lang="fr-FR" dirty="0"/>
              <a:t> I have </a:t>
            </a:r>
            <a:r>
              <a:rPr lang="fr-FR" dirty="0" err="1"/>
              <a:t>forgotten</a:t>
            </a:r>
            <a:r>
              <a:rPr lang="fr-FR" dirty="0"/>
              <a:t> about</a:t>
            </a:r>
            <a:endParaRPr lang="en-GB" dirty="0"/>
          </a:p>
        </p:txBody>
      </p:sp>
      <p:sp>
        <p:nvSpPr>
          <p:cNvPr id="4" name="Slide Number Placeholder 3">
            <a:extLst>
              <a:ext uri="{FF2B5EF4-FFF2-40B4-BE49-F238E27FC236}">
                <a16:creationId xmlns:a16="http://schemas.microsoft.com/office/drawing/2014/main" id="{366C4785-113F-160A-FA66-02DEA50B7325}"/>
              </a:ext>
            </a:extLst>
          </p:cNvPr>
          <p:cNvSpPr>
            <a:spLocks noGrp="1"/>
          </p:cNvSpPr>
          <p:nvPr>
            <p:ph type="sldNum" sz="quarter" idx="5"/>
          </p:nvPr>
        </p:nvSpPr>
        <p:spPr/>
        <p:txBody>
          <a:bodyPr/>
          <a:lstStyle/>
          <a:p>
            <a:fld id="{A62EC21E-A6F6-4C42-B0A9-7BADF486F0B3}" type="slidenum">
              <a:rPr lang="en-GB" smtClean="0"/>
              <a:t>9</a:t>
            </a:fld>
            <a:endParaRPr lang="en-GB"/>
          </a:p>
        </p:txBody>
      </p:sp>
    </p:spTree>
    <p:extLst>
      <p:ext uri="{BB962C8B-B14F-4D97-AF65-F5344CB8AC3E}">
        <p14:creationId xmlns:p14="http://schemas.microsoft.com/office/powerpoint/2010/main" val="1376324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Still useful for you to know about data privacy, regulatory constraints, etc. It’s not a deal breaker if you don’t know about it, but the more you know…</a:t>
            </a:r>
          </a:p>
        </p:txBody>
      </p:sp>
      <p:sp>
        <p:nvSpPr>
          <p:cNvPr id="4" name="Slide Number Placeholder 3"/>
          <p:cNvSpPr>
            <a:spLocks noGrp="1"/>
          </p:cNvSpPr>
          <p:nvPr>
            <p:ph type="sldNum" sz="quarter" idx="5"/>
          </p:nvPr>
        </p:nvSpPr>
        <p:spPr/>
        <p:txBody>
          <a:bodyPr/>
          <a:lstStyle/>
          <a:p>
            <a:fld id="{A62EC21E-A6F6-4C42-B0A9-7BADF486F0B3}" type="slidenum">
              <a:rPr lang="en-GB" smtClean="0"/>
              <a:t>10</a:t>
            </a:fld>
            <a:endParaRPr lang="en-GB"/>
          </a:p>
        </p:txBody>
      </p:sp>
    </p:spTree>
    <p:extLst>
      <p:ext uri="{BB962C8B-B14F-4D97-AF65-F5344CB8AC3E}">
        <p14:creationId xmlns:p14="http://schemas.microsoft.com/office/powerpoint/2010/main" val="408115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r>
              <a:rPr lang="fr-FR" dirty="0"/>
              <a:t>« </a:t>
            </a:r>
            <a:r>
              <a:rPr lang="fr-FR" dirty="0" err="1"/>
              <a:t>Here</a:t>
            </a:r>
            <a:r>
              <a:rPr lang="fr-FR" dirty="0"/>
              <a:t> </a:t>
            </a:r>
            <a:r>
              <a:rPr lang="fr-FR" dirty="0" err="1"/>
              <a:t>is</a:t>
            </a:r>
            <a:r>
              <a:rPr lang="fr-FR" dirty="0"/>
              <a:t> the conclusion to </a:t>
            </a:r>
            <a:r>
              <a:rPr lang="fr-FR" dirty="0" err="1"/>
              <a:t>your</a:t>
            </a:r>
            <a:r>
              <a:rPr lang="fr-FR" dirty="0"/>
              <a:t> report » </a:t>
            </a:r>
          </a:p>
          <a:p>
            <a:pPr marL="0" indent="0">
              <a:buFontTx/>
              <a:buNone/>
            </a:pPr>
            <a:r>
              <a:rPr lang="fr-FR" dirty="0" err="1"/>
              <a:t>lol</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14</a:t>
            </a:fld>
            <a:endParaRPr lang="en-GB"/>
          </a:p>
        </p:txBody>
      </p:sp>
    </p:spTree>
    <p:extLst>
      <p:ext uri="{BB962C8B-B14F-4D97-AF65-F5344CB8AC3E}">
        <p14:creationId xmlns:p14="http://schemas.microsoft.com/office/powerpoint/2010/main" val="109389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3288D-E6F3-1DE2-F33F-62A0ADF5FF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8C752F-D686-F788-04FB-68A7618890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E1DEB4-ED77-6E5E-ED8B-FD33A34F96B9}"/>
              </a:ext>
            </a:extLst>
          </p:cNvPr>
          <p:cNvSpPr>
            <a:spLocks noGrp="1"/>
          </p:cNvSpPr>
          <p:nvPr>
            <p:ph type="body" idx="1"/>
          </p:nvPr>
        </p:nvSpPr>
        <p:spPr/>
        <p:txBody>
          <a:bodyPr/>
          <a:lstStyle/>
          <a:p>
            <a:pPr marL="0" indent="0">
              <a:buFontTx/>
              <a:buNone/>
            </a:pPr>
            <a:endParaRPr lang="fr-FR" dirty="0"/>
          </a:p>
        </p:txBody>
      </p:sp>
      <p:sp>
        <p:nvSpPr>
          <p:cNvPr id="4" name="Espace réservé du numéro de diapositive 3">
            <a:extLst>
              <a:ext uri="{FF2B5EF4-FFF2-40B4-BE49-F238E27FC236}">
                <a16:creationId xmlns:a16="http://schemas.microsoft.com/office/drawing/2014/main" id="{661E4FD1-3ADF-57A8-025D-622181B9C976}"/>
              </a:ext>
            </a:extLst>
          </p:cNvPr>
          <p:cNvSpPr>
            <a:spLocks noGrp="1"/>
          </p:cNvSpPr>
          <p:nvPr>
            <p:ph type="sldNum" sz="quarter" idx="5"/>
          </p:nvPr>
        </p:nvSpPr>
        <p:spPr/>
        <p:txBody>
          <a:bodyPr/>
          <a:lstStyle/>
          <a:p>
            <a:fld id="{A62EC21E-A6F6-4C42-B0A9-7BADF486F0B3}" type="slidenum">
              <a:rPr lang="en-GB" smtClean="0"/>
              <a:t>15</a:t>
            </a:fld>
            <a:endParaRPr lang="en-GB"/>
          </a:p>
        </p:txBody>
      </p:sp>
    </p:spTree>
    <p:extLst>
      <p:ext uri="{BB962C8B-B14F-4D97-AF65-F5344CB8AC3E}">
        <p14:creationId xmlns:p14="http://schemas.microsoft.com/office/powerpoint/2010/main" val="145417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BCFF-B329-DA7F-B56F-01EDDF32D6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C6DFD4-CBCD-857C-4ADD-8CCB3F4926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18D3B6-292F-668C-4438-626053655B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Espace réservé du numéro de diapositive 3">
            <a:extLst>
              <a:ext uri="{FF2B5EF4-FFF2-40B4-BE49-F238E27FC236}">
                <a16:creationId xmlns:a16="http://schemas.microsoft.com/office/drawing/2014/main" id="{B7538583-A5F6-62BE-8E66-2D0520082DCC}"/>
              </a:ext>
            </a:extLst>
          </p:cNvPr>
          <p:cNvSpPr>
            <a:spLocks noGrp="1"/>
          </p:cNvSpPr>
          <p:nvPr>
            <p:ph type="sldNum" sz="quarter" idx="5"/>
          </p:nvPr>
        </p:nvSpPr>
        <p:spPr/>
        <p:txBody>
          <a:bodyPr/>
          <a:lstStyle/>
          <a:p>
            <a:fld id="{A62EC21E-A6F6-4C42-B0A9-7BADF486F0B3}" type="slidenum">
              <a:rPr lang="en-GB" smtClean="0"/>
              <a:t>16</a:t>
            </a:fld>
            <a:endParaRPr lang="en-GB"/>
          </a:p>
        </p:txBody>
      </p:sp>
    </p:spTree>
    <p:extLst>
      <p:ext uri="{BB962C8B-B14F-4D97-AF65-F5344CB8AC3E}">
        <p14:creationId xmlns:p14="http://schemas.microsoft.com/office/powerpoint/2010/main" val="2429318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the average salary for your job on Glassdoor or the APEC, bump that by 10% when negotiating</a:t>
            </a:r>
            <a:r>
              <a:rPr lang="fr-FR" dirty="0"/>
              <a:t>: </a:t>
            </a:r>
            <a:r>
              <a:rPr lang="fr-FR" dirty="0" err="1"/>
              <a:t>worst</a:t>
            </a:r>
            <a:r>
              <a:rPr lang="fr-FR" dirty="0"/>
              <a:t> </a:t>
            </a:r>
            <a:r>
              <a:rPr lang="fr-FR" dirty="0" err="1"/>
              <a:t>thing</a:t>
            </a:r>
            <a:r>
              <a:rPr lang="fr-FR" dirty="0"/>
              <a:t> </a:t>
            </a:r>
            <a:r>
              <a:rPr lang="fr-FR" dirty="0" err="1"/>
              <a:t>they</a:t>
            </a:r>
            <a:r>
              <a:rPr lang="fr-FR" dirty="0"/>
              <a:t> </a:t>
            </a:r>
            <a:r>
              <a:rPr lang="fr-FR" dirty="0" err="1"/>
              <a:t>will</a:t>
            </a:r>
            <a:r>
              <a:rPr lang="fr-FR" dirty="0"/>
              <a:t> </a:t>
            </a:r>
            <a:r>
              <a:rPr lang="fr-FR" dirty="0" err="1"/>
              <a:t>say</a:t>
            </a:r>
            <a:r>
              <a:rPr lang="fr-FR" dirty="0"/>
              <a:t> </a:t>
            </a:r>
            <a:r>
              <a:rPr lang="fr-FR" dirty="0" err="1"/>
              <a:t>is</a:t>
            </a:r>
            <a:r>
              <a:rPr lang="fr-FR" dirty="0"/>
              <a:t> no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Talk about </a:t>
            </a:r>
            <a:r>
              <a:rPr lang="fr-FR" dirty="0" err="1"/>
              <a:t>my</a:t>
            </a:r>
            <a:r>
              <a:rPr lang="fr-FR" dirty="0"/>
              <a:t> </a:t>
            </a:r>
            <a:r>
              <a:rPr lang="fr-FR" dirty="0" err="1"/>
              <a:t>salary</a:t>
            </a:r>
            <a:endParaRPr lang="en-US"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17</a:t>
            </a:fld>
            <a:endParaRPr lang="en-GB"/>
          </a:p>
        </p:txBody>
      </p:sp>
    </p:spTree>
    <p:extLst>
      <p:ext uri="{BB962C8B-B14F-4D97-AF65-F5344CB8AC3E}">
        <p14:creationId xmlns:p14="http://schemas.microsoft.com/office/powerpoint/2010/main" val="4101756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11322-9BFD-EF46-CC74-E4F998F39B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DC1C22-7528-025D-AD64-6824CB04BEB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8040D7-98ED-98A3-15C2-34B4E25843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Espace réservé du numéro de diapositive 3">
            <a:extLst>
              <a:ext uri="{FF2B5EF4-FFF2-40B4-BE49-F238E27FC236}">
                <a16:creationId xmlns:a16="http://schemas.microsoft.com/office/drawing/2014/main" id="{D940BEC2-2FD7-DD80-D31B-DB111421DB37}"/>
              </a:ext>
            </a:extLst>
          </p:cNvPr>
          <p:cNvSpPr>
            <a:spLocks noGrp="1"/>
          </p:cNvSpPr>
          <p:nvPr>
            <p:ph type="sldNum" sz="quarter" idx="5"/>
          </p:nvPr>
        </p:nvSpPr>
        <p:spPr/>
        <p:txBody>
          <a:bodyPr/>
          <a:lstStyle/>
          <a:p>
            <a:fld id="{A62EC21E-A6F6-4C42-B0A9-7BADF486F0B3}" type="slidenum">
              <a:rPr lang="en-GB" smtClean="0"/>
              <a:t>18</a:t>
            </a:fld>
            <a:endParaRPr lang="en-GB"/>
          </a:p>
        </p:txBody>
      </p:sp>
    </p:spTree>
    <p:extLst>
      <p:ext uri="{BB962C8B-B14F-4D97-AF65-F5344CB8AC3E}">
        <p14:creationId xmlns:p14="http://schemas.microsoft.com/office/powerpoint/2010/main" val="2633233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ASK STUDENTS WHAT THEY THINK</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20</a:t>
            </a:fld>
            <a:endParaRPr lang="en-GB"/>
          </a:p>
        </p:txBody>
      </p:sp>
    </p:spTree>
    <p:extLst>
      <p:ext uri="{BB962C8B-B14F-4D97-AF65-F5344CB8AC3E}">
        <p14:creationId xmlns:p14="http://schemas.microsoft.com/office/powerpoint/2010/main" val="4083086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students what data science is</a:t>
            </a:r>
          </a:p>
        </p:txBody>
      </p:sp>
      <p:sp>
        <p:nvSpPr>
          <p:cNvPr id="4" name="Slide Number Placeholder 3"/>
          <p:cNvSpPr>
            <a:spLocks noGrp="1"/>
          </p:cNvSpPr>
          <p:nvPr>
            <p:ph type="sldNum" sz="quarter" idx="5"/>
          </p:nvPr>
        </p:nvSpPr>
        <p:spPr/>
        <p:txBody>
          <a:bodyPr/>
          <a:lstStyle/>
          <a:p>
            <a:fld id="{A62EC21E-A6F6-4C42-B0A9-7BADF486F0B3}" type="slidenum">
              <a:rPr lang="en-GB" smtClean="0"/>
              <a:t>25</a:t>
            </a:fld>
            <a:endParaRPr lang="en-GB"/>
          </a:p>
        </p:txBody>
      </p:sp>
    </p:spTree>
    <p:extLst>
      <p:ext uri="{BB962C8B-B14F-4D97-AF65-F5344CB8AC3E}">
        <p14:creationId xmlns:p14="http://schemas.microsoft.com/office/powerpoint/2010/main" val="1585696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26</a:t>
            </a:fld>
            <a:endParaRPr lang="en-GB"/>
          </a:p>
        </p:txBody>
      </p:sp>
    </p:spTree>
    <p:extLst>
      <p:ext uri="{BB962C8B-B14F-4D97-AF65-F5344CB8AC3E}">
        <p14:creationId xmlns:p14="http://schemas.microsoft.com/office/powerpoint/2010/main" val="1546224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FBC48-7557-5EBF-3C5C-E7B9C5095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FDD96-F9FF-E0D9-1784-59DDB0F8B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E7346-37B9-9287-BB3C-CA5C43A5B348}"/>
              </a:ext>
            </a:extLst>
          </p:cNvPr>
          <p:cNvSpPr>
            <a:spLocks noGrp="1"/>
          </p:cNvSpPr>
          <p:nvPr>
            <p:ph type="body" idx="1"/>
          </p:nvPr>
        </p:nvSpPr>
        <p:spPr/>
        <p:txBody>
          <a:bodyPr/>
          <a:lstStyle/>
          <a:p>
            <a:r>
              <a:rPr lang="en-GB" dirty="0"/>
              <a:t>I actually have no answers to this, I was just curious</a:t>
            </a:r>
          </a:p>
          <a:p>
            <a:endParaRPr lang="en-GB" dirty="0"/>
          </a:p>
          <a:p>
            <a:endParaRPr lang="en-GB" dirty="0"/>
          </a:p>
        </p:txBody>
      </p:sp>
      <p:sp>
        <p:nvSpPr>
          <p:cNvPr id="4" name="Slide Number Placeholder 3">
            <a:extLst>
              <a:ext uri="{FF2B5EF4-FFF2-40B4-BE49-F238E27FC236}">
                <a16:creationId xmlns:a16="http://schemas.microsoft.com/office/drawing/2014/main" id="{F5AA27AF-A788-AF90-1EEA-921E7DD16D14}"/>
              </a:ext>
            </a:extLst>
          </p:cNvPr>
          <p:cNvSpPr>
            <a:spLocks noGrp="1"/>
          </p:cNvSpPr>
          <p:nvPr>
            <p:ph type="sldNum" sz="quarter" idx="5"/>
          </p:nvPr>
        </p:nvSpPr>
        <p:spPr/>
        <p:txBody>
          <a:bodyPr/>
          <a:lstStyle/>
          <a:p>
            <a:fld id="{A62EC21E-A6F6-4C42-B0A9-7BADF486F0B3}" type="slidenum">
              <a:rPr lang="en-GB" smtClean="0"/>
              <a:t>27</a:t>
            </a:fld>
            <a:endParaRPr lang="en-GB"/>
          </a:p>
        </p:txBody>
      </p:sp>
    </p:spTree>
    <p:extLst>
      <p:ext uri="{BB962C8B-B14F-4D97-AF65-F5344CB8AC3E}">
        <p14:creationId xmlns:p14="http://schemas.microsoft.com/office/powerpoint/2010/main" val="2727662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not understand statistics as well as you: that will be something new for you when you get into your new job. You now might be one of the most knowledgeable person about stats/economics/other where you work at (except for seniors).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end goal is this. Not fancy models. Not LLMs. Not AI. Not idk what. Even though most data science courses are about complicated modelling.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Doing data science is useless if you can’t communicate your findings clearly</a:t>
            </a:r>
          </a:p>
          <a:p>
            <a:endParaRPr lang="en-GB" dirty="0"/>
          </a:p>
          <a:p>
            <a:r>
              <a:rPr lang="en-GB" dirty="0"/>
              <a:t>Not the analysis itself: unless you are doing research, of course. But usually, even research ends up being used for political decision making.</a:t>
            </a:r>
          </a:p>
        </p:txBody>
      </p:sp>
      <p:sp>
        <p:nvSpPr>
          <p:cNvPr id="4" name="Slide Number Placeholder 3"/>
          <p:cNvSpPr>
            <a:spLocks noGrp="1"/>
          </p:cNvSpPr>
          <p:nvPr>
            <p:ph type="sldNum" sz="quarter" idx="5"/>
          </p:nvPr>
        </p:nvSpPr>
        <p:spPr/>
        <p:txBody>
          <a:bodyPr/>
          <a:lstStyle/>
          <a:p>
            <a:fld id="{A62EC21E-A6F6-4C42-B0A9-7BADF486F0B3}" type="slidenum">
              <a:rPr lang="en-GB" smtClean="0"/>
              <a:t>28</a:t>
            </a:fld>
            <a:endParaRPr lang="en-GB"/>
          </a:p>
        </p:txBody>
      </p:sp>
    </p:spTree>
    <p:extLst>
      <p:ext uri="{BB962C8B-B14F-4D97-AF65-F5344CB8AC3E}">
        <p14:creationId xmlns:p14="http://schemas.microsoft.com/office/powerpoint/2010/main" val="3820062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B9750-8909-865C-0213-515D60656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F0D68-9918-3FA9-950C-3B7270FB5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2B512-3555-241F-DE09-9F57311FEC7F}"/>
              </a:ext>
            </a:extLst>
          </p:cNvPr>
          <p:cNvSpPr>
            <a:spLocks noGrp="1"/>
          </p:cNvSpPr>
          <p:nvPr>
            <p:ph type="body" idx="1"/>
          </p:nvPr>
        </p:nvSpPr>
        <p:spPr/>
        <p:txBody>
          <a:bodyPr/>
          <a:lstStyle/>
          <a:p>
            <a:pPr marL="228600" indent="-228600">
              <a:buAutoNum type="arabicParenR"/>
            </a:pPr>
            <a:r>
              <a:rPr lang="en-GB" dirty="0"/>
              <a:t>Yes </a:t>
            </a:r>
          </a:p>
        </p:txBody>
      </p:sp>
      <p:sp>
        <p:nvSpPr>
          <p:cNvPr id="4" name="Slide Number Placeholder 3">
            <a:extLst>
              <a:ext uri="{FF2B5EF4-FFF2-40B4-BE49-F238E27FC236}">
                <a16:creationId xmlns:a16="http://schemas.microsoft.com/office/drawing/2014/main" id="{62ED8942-F3A4-393A-50CC-FA093D87A785}"/>
              </a:ext>
            </a:extLst>
          </p:cNvPr>
          <p:cNvSpPr>
            <a:spLocks noGrp="1"/>
          </p:cNvSpPr>
          <p:nvPr>
            <p:ph type="sldNum" sz="quarter" idx="5"/>
          </p:nvPr>
        </p:nvSpPr>
        <p:spPr/>
        <p:txBody>
          <a:bodyPr/>
          <a:lstStyle/>
          <a:p>
            <a:fld id="{A62EC21E-A6F6-4C42-B0A9-7BADF486F0B3}" type="slidenum">
              <a:rPr lang="en-GB" smtClean="0"/>
              <a:t>29</a:t>
            </a:fld>
            <a:endParaRPr lang="en-GB"/>
          </a:p>
        </p:txBody>
      </p:sp>
    </p:spTree>
    <p:extLst>
      <p:ext uri="{BB962C8B-B14F-4D97-AF65-F5344CB8AC3E}">
        <p14:creationId xmlns:p14="http://schemas.microsoft.com/office/powerpoint/2010/main" val="1890232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DO YOU THINK DATA IS?</a:t>
            </a:r>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30</a:t>
            </a:fld>
            <a:endParaRPr lang="en-GB"/>
          </a:p>
        </p:txBody>
      </p:sp>
    </p:spTree>
    <p:extLst>
      <p:ext uri="{BB962C8B-B14F-4D97-AF65-F5344CB8AC3E}">
        <p14:creationId xmlns:p14="http://schemas.microsoft.com/office/powerpoint/2010/main" val="10097881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89F9-D854-1B35-2B27-79E446604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43463-7080-B259-1B02-5B9E8626B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ABD4C-8B1C-BDA7-3BE8-D271DE40B1C7}"/>
              </a:ext>
            </a:extLst>
          </p:cNvPr>
          <p:cNvSpPr>
            <a:spLocks noGrp="1"/>
          </p:cNvSpPr>
          <p:nvPr>
            <p:ph type="body" idx="1"/>
          </p:nvPr>
        </p:nvSpPr>
        <p:spPr/>
        <p:txBody>
          <a:bodyPr/>
          <a:lstStyle/>
          <a:p>
            <a:pPr marL="0" indent="0">
              <a:buNone/>
            </a:pPr>
            <a:r>
              <a:rPr lang="en-GB" dirty="0"/>
              <a:t>Ask if they know what a fact is?</a:t>
            </a:r>
          </a:p>
          <a:p>
            <a:pPr marL="0" indent="0">
              <a:buNone/>
            </a:pPr>
            <a:endParaRPr lang="en-GB" dirty="0"/>
          </a:p>
          <a:p>
            <a:pPr marL="0" indent="0">
              <a:buNone/>
            </a:pPr>
            <a:r>
              <a:rPr lang="en-GB" dirty="0"/>
              <a:t>A data is NOT a fact. Data can be a fact, but these are two distinct concepts.</a:t>
            </a:r>
          </a:p>
        </p:txBody>
      </p:sp>
      <p:sp>
        <p:nvSpPr>
          <p:cNvPr id="4" name="Slide Number Placeholder 3">
            <a:extLst>
              <a:ext uri="{FF2B5EF4-FFF2-40B4-BE49-F238E27FC236}">
                <a16:creationId xmlns:a16="http://schemas.microsoft.com/office/drawing/2014/main" id="{79E463D9-4399-BC88-19B2-5FACE51E77CF}"/>
              </a:ext>
            </a:extLst>
          </p:cNvPr>
          <p:cNvSpPr>
            <a:spLocks noGrp="1"/>
          </p:cNvSpPr>
          <p:nvPr>
            <p:ph type="sldNum" sz="quarter" idx="5"/>
          </p:nvPr>
        </p:nvSpPr>
        <p:spPr/>
        <p:txBody>
          <a:bodyPr/>
          <a:lstStyle/>
          <a:p>
            <a:fld id="{A62EC21E-A6F6-4C42-B0A9-7BADF486F0B3}" type="slidenum">
              <a:rPr lang="en-GB" smtClean="0"/>
              <a:t>31</a:t>
            </a:fld>
            <a:endParaRPr lang="en-GB"/>
          </a:p>
        </p:txBody>
      </p:sp>
    </p:spTree>
    <p:extLst>
      <p:ext uri="{BB962C8B-B14F-4D97-AF65-F5344CB8AC3E}">
        <p14:creationId xmlns:p14="http://schemas.microsoft.com/office/powerpoint/2010/main" val="2853370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2C678-E0A6-E416-9295-46FF2411F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E3259-C76D-F5B9-B114-1E4C20936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DB113-FB33-3278-9422-BF1EB2DBDB52}"/>
              </a:ext>
            </a:extLst>
          </p:cNvPr>
          <p:cNvSpPr>
            <a:spLocks noGrp="1"/>
          </p:cNvSpPr>
          <p:nvPr>
            <p:ph type="body" idx="1"/>
          </p:nvPr>
        </p:nvSpPr>
        <p:spPr/>
        <p:txBody>
          <a:bodyPr/>
          <a:lstStyle/>
          <a:p>
            <a:pPr marL="228600" indent="-228600">
              <a:buAutoNum type="arabicParenR"/>
            </a:pPr>
            <a:r>
              <a:rPr lang="en-GB" dirty="0"/>
              <a:t>It’s not “the” temperature of the body, but a recording at some point in time, in a specific location, whereas temperature is more of a continuous, dynamic process of the body, with different values throughout the body (probably)</a:t>
            </a:r>
          </a:p>
          <a:p>
            <a:pPr marL="228600" indent="-228600">
              <a:buAutoNum type="arabicParenR"/>
            </a:pPr>
            <a:endParaRPr lang="en-GB" dirty="0"/>
          </a:p>
        </p:txBody>
      </p:sp>
      <p:sp>
        <p:nvSpPr>
          <p:cNvPr id="4" name="Slide Number Placeholder 3">
            <a:extLst>
              <a:ext uri="{FF2B5EF4-FFF2-40B4-BE49-F238E27FC236}">
                <a16:creationId xmlns:a16="http://schemas.microsoft.com/office/drawing/2014/main" id="{329114A5-A292-86C7-5793-DCE94B85F241}"/>
              </a:ext>
            </a:extLst>
          </p:cNvPr>
          <p:cNvSpPr>
            <a:spLocks noGrp="1"/>
          </p:cNvSpPr>
          <p:nvPr>
            <p:ph type="sldNum" sz="quarter" idx="5"/>
          </p:nvPr>
        </p:nvSpPr>
        <p:spPr/>
        <p:txBody>
          <a:bodyPr/>
          <a:lstStyle/>
          <a:p>
            <a:fld id="{A62EC21E-A6F6-4C42-B0A9-7BADF486F0B3}" type="slidenum">
              <a:rPr lang="en-GB" smtClean="0"/>
              <a:t>32</a:t>
            </a:fld>
            <a:endParaRPr lang="en-GB"/>
          </a:p>
        </p:txBody>
      </p:sp>
    </p:spTree>
    <p:extLst>
      <p:ext uri="{BB962C8B-B14F-4D97-AF65-F5344CB8AC3E}">
        <p14:creationId xmlns:p14="http://schemas.microsoft.com/office/powerpoint/2010/main" val="2058974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6E6D7-1697-C2A7-AE85-91BE14DDE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59938-775A-C74E-835F-8977E8471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02542-9B85-8879-444A-22ABF4BAF06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8B736EE-CE02-E413-7B31-F2AA06E9B59F}"/>
              </a:ext>
            </a:extLst>
          </p:cNvPr>
          <p:cNvSpPr>
            <a:spLocks noGrp="1"/>
          </p:cNvSpPr>
          <p:nvPr>
            <p:ph type="sldNum" sz="quarter" idx="5"/>
          </p:nvPr>
        </p:nvSpPr>
        <p:spPr/>
        <p:txBody>
          <a:bodyPr/>
          <a:lstStyle/>
          <a:p>
            <a:fld id="{A62EC21E-A6F6-4C42-B0A9-7BADF486F0B3}" type="slidenum">
              <a:rPr lang="en-GB" smtClean="0"/>
              <a:t>33</a:t>
            </a:fld>
            <a:endParaRPr lang="en-GB"/>
          </a:p>
        </p:txBody>
      </p:sp>
    </p:spTree>
    <p:extLst>
      <p:ext uri="{BB962C8B-B14F-4D97-AF65-F5344CB8AC3E}">
        <p14:creationId xmlns:p14="http://schemas.microsoft.com/office/powerpoint/2010/main" val="4109529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56319-BB34-6D00-F4AE-F87828797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3822A-9105-B376-1AA7-1EDD5D43E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D4E16-ED20-7CE5-20FC-020C8D28ACE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C67396-434B-A400-3335-44E8812144C6}"/>
              </a:ext>
            </a:extLst>
          </p:cNvPr>
          <p:cNvSpPr>
            <a:spLocks noGrp="1"/>
          </p:cNvSpPr>
          <p:nvPr>
            <p:ph type="sldNum" sz="quarter" idx="5"/>
          </p:nvPr>
        </p:nvSpPr>
        <p:spPr/>
        <p:txBody>
          <a:bodyPr/>
          <a:lstStyle/>
          <a:p>
            <a:fld id="{A62EC21E-A6F6-4C42-B0A9-7BADF486F0B3}" type="slidenum">
              <a:rPr lang="en-GB" smtClean="0"/>
              <a:t>34</a:t>
            </a:fld>
            <a:endParaRPr lang="en-GB"/>
          </a:p>
        </p:txBody>
      </p:sp>
    </p:spTree>
    <p:extLst>
      <p:ext uri="{BB962C8B-B14F-4D97-AF65-F5344CB8AC3E}">
        <p14:creationId xmlns:p14="http://schemas.microsoft.com/office/powerpoint/2010/main" val="1884094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5E798-0F37-2D9B-D252-179D6EFE2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F332D-FA60-61A0-9C0E-77E532F70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CFB51-FEE3-3D0E-5A4E-EF97049E5D3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3E2725-DF5F-FA72-1A58-DC5D858AAFA4}"/>
              </a:ext>
            </a:extLst>
          </p:cNvPr>
          <p:cNvSpPr>
            <a:spLocks noGrp="1"/>
          </p:cNvSpPr>
          <p:nvPr>
            <p:ph type="sldNum" sz="quarter" idx="5"/>
          </p:nvPr>
        </p:nvSpPr>
        <p:spPr/>
        <p:txBody>
          <a:bodyPr/>
          <a:lstStyle/>
          <a:p>
            <a:fld id="{A62EC21E-A6F6-4C42-B0A9-7BADF486F0B3}" type="slidenum">
              <a:rPr lang="en-GB" smtClean="0"/>
              <a:t>35</a:t>
            </a:fld>
            <a:endParaRPr lang="en-GB"/>
          </a:p>
        </p:txBody>
      </p:sp>
    </p:spTree>
    <p:extLst>
      <p:ext uri="{BB962C8B-B14F-4D97-AF65-F5344CB8AC3E}">
        <p14:creationId xmlns:p14="http://schemas.microsoft.com/office/powerpoint/2010/main" val="1055923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FAE1-C64E-6C4B-5510-469CD4053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D737C-7DCE-FBA1-E717-2C563479F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0DF68-1080-073C-B2E5-36E50D5B312D}"/>
              </a:ext>
            </a:extLst>
          </p:cNvPr>
          <p:cNvSpPr>
            <a:spLocks noGrp="1"/>
          </p:cNvSpPr>
          <p:nvPr>
            <p:ph type="body" idx="1"/>
          </p:nvPr>
        </p:nvSpPr>
        <p:spPr/>
        <p:txBody>
          <a:bodyPr/>
          <a:lstStyle/>
          <a:p>
            <a:pPr marL="0" indent="0">
              <a:buNone/>
            </a:pPr>
            <a:r>
              <a:rPr lang="en-GB" dirty="0" err="1"/>
              <a:t>d,e</a:t>
            </a:r>
            <a:r>
              <a:rPr lang="en-GB" dirty="0"/>
              <a:t>) “Objective” = free from bias. This can be questionable. Can you really compare temperature taken at different locations? Can it vary? Plus, is the instrument properly calibrated? We have someone with a body temperature of 48.5 degrees. Plus, different definitions and ways of measuring temperatures (Celsius, kelvins, </a:t>
            </a:r>
            <a:r>
              <a:rPr lang="en-GB" dirty="0" err="1"/>
              <a:t>fahrenheit</a:t>
            </a:r>
            <a:r>
              <a:rPr lang="en-GB" dirty="0"/>
              <a:t>…). Perhaps different physical ways of measuring temperatures. </a:t>
            </a:r>
          </a:p>
          <a:p>
            <a:pPr marL="0" indent="0">
              <a:buNone/>
            </a:pPr>
            <a:endParaRPr lang="en-GB" dirty="0"/>
          </a:p>
          <a:p>
            <a:pPr marL="0" indent="0">
              <a:buNone/>
            </a:pPr>
            <a:r>
              <a:rPr lang="en-GB" dirty="0"/>
              <a:t>We tend to think measurement taken by machines or automated processes as more “objective” that other sources of data, but it can be very misleading.</a:t>
            </a:r>
          </a:p>
          <a:p>
            <a:pPr marL="228600" indent="-228600">
              <a:buAutoNum type="arabicParenR"/>
            </a:pPr>
            <a:endParaRPr lang="en-GB" dirty="0"/>
          </a:p>
        </p:txBody>
      </p:sp>
      <p:sp>
        <p:nvSpPr>
          <p:cNvPr id="4" name="Slide Number Placeholder 3">
            <a:extLst>
              <a:ext uri="{FF2B5EF4-FFF2-40B4-BE49-F238E27FC236}">
                <a16:creationId xmlns:a16="http://schemas.microsoft.com/office/drawing/2014/main" id="{071D1365-4606-6EB3-C857-27D97E0ACDC2}"/>
              </a:ext>
            </a:extLst>
          </p:cNvPr>
          <p:cNvSpPr>
            <a:spLocks noGrp="1"/>
          </p:cNvSpPr>
          <p:nvPr>
            <p:ph type="sldNum" sz="quarter" idx="5"/>
          </p:nvPr>
        </p:nvSpPr>
        <p:spPr/>
        <p:txBody>
          <a:bodyPr/>
          <a:lstStyle/>
          <a:p>
            <a:fld id="{A62EC21E-A6F6-4C42-B0A9-7BADF486F0B3}" type="slidenum">
              <a:rPr lang="en-GB" smtClean="0"/>
              <a:t>36</a:t>
            </a:fld>
            <a:endParaRPr lang="en-GB"/>
          </a:p>
        </p:txBody>
      </p:sp>
    </p:spTree>
    <p:extLst>
      <p:ext uri="{BB962C8B-B14F-4D97-AF65-F5344CB8AC3E}">
        <p14:creationId xmlns:p14="http://schemas.microsoft.com/office/powerpoint/2010/main" val="1922910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37</a:t>
            </a:fld>
            <a:endParaRPr lang="en-GB"/>
          </a:p>
        </p:txBody>
      </p:sp>
    </p:spTree>
    <p:extLst>
      <p:ext uri="{BB962C8B-B14F-4D97-AF65-F5344CB8AC3E}">
        <p14:creationId xmlns:p14="http://schemas.microsoft.com/office/powerpoint/2010/main" val="3364837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95995-A36E-79F1-62B7-E2F3E6610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C9BDF-9245-E51B-2DDD-D44C346EF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E84C5-3E38-60D2-AD49-6D80351A82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810F566-E293-859B-B52C-F1367299B9E2}"/>
              </a:ext>
            </a:extLst>
          </p:cNvPr>
          <p:cNvSpPr>
            <a:spLocks noGrp="1"/>
          </p:cNvSpPr>
          <p:nvPr>
            <p:ph type="sldNum" sz="quarter" idx="5"/>
          </p:nvPr>
        </p:nvSpPr>
        <p:spPr/>
        <p:txBody>
          <a:bodyPr/>
          <a:lstStyle/>
          <a:p>
            <a:fld id="{A62EC21E-A6F6-4C42-B0A9-7BADF486F0B3}" type="slidenum">
              <a:rPr lang="en-GB" smtClean="0"/>
              <a:t>38</a:t>
            </a:fld>
            <a:endParaRPr lang="en-GB"/>
          </a:p>
        </p:txBody>
      </p:sp>
    </p:spTree>
    <p:extLst>
      <p:ext uri="{BB962C8B-B14F-4D97-AF65-F5344CB8AC3E}">
        <p14:creationId xmlns:p14="http://schemas.microsoft.com/office/powerpoint/2010/main" val="23281067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1E93-0DFF-CB44-C04E-57F5A251E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7EF2B-9C59-AD6D-113D-21F3CA4BC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52C6E-60E5-383F-3DAF-0AD73DC8753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1F9D939-68E1-B0D2-BB41-386B202275CF}"/>
              </a:ext>
            </a:extLst>
          </p:cNvPr>
          <p:cNvSpPr>
            <a:spLocks noGrp="1"/>
          </p:cNvSpPr>
          <p:nvPr>
            <p:ph type="sldNum" sz="quarter" idx="5"/>
          </p:nvPr>
        </p:nvSpPr>
        <p:spPr/>
        <p:txBody>
          <a:bodyPr/>
          <a:lstStyle/>
          <a:p>
            <a:fld id="{A62EC21E-A6F6-4C42-B0A9-7BADF486F0B3}" type="slidenum">
              <a:rPr lang="en-GB" smtClean="0"/>
              <a:t>39</a:t>
            </a:fld>
            <a:endParaRPr lang="en-GB"/>
          </a:p>
        </p:txBody>
      </p:sp>
    </p:spTree>
    <p:extLst>
      <p:ext uri="{BB962C8B-B14F-4D97-AF65-F5344CB8AC3E}">
        <p14:creationId xmlns:p14="http://schemas.microsoft.com/office/powerpoint/2010/main" val="2595126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48552-7F54-4C1B-5190-2FB3BF81B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DF6DB-37BB-7221-2D3F-E0C7CA681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D3DE1-07E9-647E-73E9-0D26C9651B7B}"/>
              </a:ext>
            </a:extLst>
          </p:cNvPr>
          <p:cNvSpPr>
            <a:spLocks noGrp="1"/>
          </p:cNvSpPr>
          <p:nvPr>
            <p:ph type="body" idx="1"/>
          </p:nvPr>
        </p:nvSpPr>
        <p:spPr/>
        <p:txBody>
          <a:bodyPr/>
          <a:lstStyle/>
          <a:p>
            <a:r>
              <a:rPr lang="en-GB" dirty="0"/>
              <a:t>2003 photo, in Iraq. US soldier and a Iraqi prisoner.</a:t>
            </a:r>
          </a:p>
        </p:txBody>
      </p:sp>
      <p:sp>
        <p:nvSpPr>
          <p:cNvPr id="4" name="Slide Number Placeholder 3">
            <a:extLst>
              <a:ext uri="{FF2B5EF4-FFF2-40B4-BE49-F238E27FC236}">
                <a16:creationId xmlns:a16="http://schemas.microsoft.com/office/drawing/2014/main" id="{7513B4ED-B018-C5F7-5A41-22A82DEC40EC}"/>
              </a:ext>
            </a:extLst>
          </p:cNvPr>
          <p:cNvSpPr>
            <a:spLocks noGrp="1"/>
          </p:cNvSpPr>
          <p:nvPr>
            <p:ph type="sldNum" sz="quarter" idx="5"/>
          </p:nvPr>
        </p:nvSpPr>
        <p:spPr/>
        <p:txBody>
          <a:bodyPr/>
          <a:lstStyle/>
          <a:p>
            <a:fld id="{A62EC21E-A6F6-4C42-B0A9-7BADF486F0B3}" type="slidenum">
              <a:rPr lang="en-GB" smtClean="0"/>
              <a:t>40</a:t>
            </a:fld>
            <a:endParaRPr lang="en-GB"/>
          </a:p>
        </p:txBody>
      </p:sp>
    </p:spTree>
    <p:extLst>
      <p:ext uri="{BB962C8B-B14F-4D97-AF65-F5344CB8AC3E}">
        <p14:creationId xmlns:p14="http://schemas.microsoft.com/office/powerpoint/2010/main" val="4013688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861BE-D389-297E-6EA4-4AD10CAEA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38A8A-258F-AE23-2BD7-C57D87236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7C024-3CE7-1E9E-E50A-7CB9FB10989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75F30E6-E983-2AB1-CEFD-A7703BCCED3F}"/>
              </a:ext>
            </a:extLst>
          </p:cNvPr>
          <p:cNvSpPr>
            <a:spLocks noGrp="1"/>
          </p:cNvSpPr>
          <p:nvPr>
            <p:ph type="sldNum" sz="quarter" idx="5"/>
          </p:nvPr>
        </p:nvSpPr>
        <p:spPr/>
        <p:txBody>
          <a:bodyPr/>
          <a:lstStyle/>
          <a:p>
            <a:fld id="{A62EC21E-A6F6-4C42-B0A9-7BADF486F0B3}" type="slidenum">
              <a:rPr lang="en-GB" smtClean="0"/>
              <a:t>41</a:t>
            </a:fld>
            <a:endParaRPr lang="en-GB"/>
          </a:p>
        </p:txBody>
      </p:sp>
    </p:spTree>
    <p:extLst>
      <p:ext uri="{BB962C8B-B14F-4D97-AF65-F5344CB8AC3E}">
        <p14:creationId xmlns:p14="http://schemas.microsoft.com/office/powerpoint/2010/main" val="1708373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1547-16DC-022E-CE2C-5E9BE2B25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C10C2-CC72-3495-061A-DEE7D6720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A40D3-6EAD-A692-271B-195E4B99AD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err="1"/>
              <a:t>Complacency</a:t>
            </a:r>
            <a:r>
              <a:rPr lang="fr-FR" b="1" dirty="0"/>
              <a:t> and </a:t>
            </a:r>
            <a:r>
              <a:rPr lang="fr-FR" b="1" dirty="0" err="1"/>
              <a:t>bias</a:t>
            </a:r>
            <a:r>
              <a:rPr lang="fr-FR" b="1" dirty="0"/>
              <a:t> in </a:t>
            </a:r>
            <a:r>
              <a:rPr lang="fr-FR" b="1" dirty="0" err="1"/>
              <a:t>human</a:t>
            </a:r>
            <a:r>
              <a:rPr lang="fr-FR" b="1" dirty="0"/>
              <a:t> use of automation: an </a:t>
            </a:r>
            <a:r>
              <a:rPr lang="fr-FR" b="1" dirty="0" err="1"/>
              <a:t>attentional</a:t>
            </a:r>
            <a:r>
              <a:rPr lang="fr-FR" b="1" dirty="0"/>
              <a:t> </a:t>
            </a:r>
            <a:r>
              <a:rPr lang="fr-FR" b="1" dirty="0" err="1"/>
              <a:t>integration</a:t>
            </a:r>
            <a:r>
              <a:rPr lang="fr-FR" b="1" dirty="0"/>
              <a:t> </a:t>
            </a:r>
          </a:p>
          <a:p>
            <a:r>
              <a:rPr lang="en-GB" dirty="0"/>
              <a:t>https://pubmed.ncbi.nlm.nih.gov/21077562/</a:t>
            </a:r>
          </a:p>
        </p:txBody>
      </p:sp>
      <p:sp>
        <p:nvSpPr>
          <p:cNvPr id="4" name="Slide Number Placeholder 3">
            <a:extLst>
              <a:ext uri="{FF2B5EF4-FFF2-40B4-BE49-F238E27FC236}">
                <a16:creationId xmlns:a16="http://schemas.microsoft.com/office/drawing/2014/main" id="{608CC22F-E39E-FCEB-B0C7-733E08FEAEC2}"/>
              </a:ext>
            </a:extLst>
          </p:cNvPr>
          <p:cNvSpPr>
            <a:spLocks noGrp="1"/>
          </p:cNvSpPr>
          <p:nvPr>
            <p:ph type="sldNum" sz="quarter" idx="5"/>
          </p:nvPr>
        </p:nvSpPr>
        <p:spPr/>
        <p:txBody>
          <a:bodyPr/>
          <a:lstStyle/>
          <a:p>
            <a:fld id="{A62EC21E-A6F6-4C42-B0A9-7BADF486F0B3}" type="slidenum">
              <a:rPr lang="en-GB" smtClean="0"/>
              <a:t>42</a:t>
            </a:fld>
            <a:endParaRPr lang="en-GB"/>
          </a:p>
        </p:txBody>
      </p:sp>
    </p:spTree>
    <p:extLst>
      <p:ext uri="{BB962C8B-B14F-4D97-AF65-F5344CB8AC3E}">
        <p14:creationId xmlns:p14="http://schemas.microsoft.com/office/powerpoint/2010/main" val="5654531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CC7E-DE1B-3B4D-5C32-F9BC49D9D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EBF25-6087-9CAF-EB9F-A95D2F00CB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8FB5D-9B79-0A37-74FB-74E5B4C2CC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err="1"/>
              <a:t>Complacency</a:t>
            </a:r>
            <a:r>
              <a:rPr lang="fr-FR" b="1" dirty="0"/>
              <a:t> and </a:t>
            </a:r>
            <a:r>
              <a:rPr lang="fr-FR" b="1" dirty="0" err="1"/>
              <a:t>bias</a:t>
            </a:r>
            <a:r>
              <a:rPr lang="fr-FR" b="1" dirty="0"/>
              <a:t> in </a:t>
            </a:r>
            <a:r>
              <a:rPr lang="fr-FR" b="1" dirty="0" err="1"/>
              <a:t>human</a:t>
            </a:r>
            <a:r>
              <a:rPr lang="fr-FR" b="1" dirty="0"/>
              <a:t> use of automation: an </a:t>
            </a:r>
            <a:r>
              <a:rPr lang="fr-FR" b="1" dirty="0" err="1"/>
              <a:t>attentional</a:t>
            </a:r>
            <a:r>
              <a:rPr lang="fr-FR" b="1" dirty="0"/>
              <a:t> </a:t>
            </a:r>
            <a:r>
              <a:rPr lang="fr-FR" b="1" dirty="0" err="1"/>
              <a:t>integration</a:t>
            </a:r>
            <a:r>
              <a:rPr lang="fr-FR" b="1" dirty="0"/>
              <a:t> </a:t>
            </a:r>
          </a:p>
          <a:p>
            <a:r>
              <a:rPr lang="en-GB" dirty="0"/>
              <a:t>https://pubmed.ncbi.nlm.nih.gov/21077562/</a:t>
            </a:r>
          </a:p>
        </p:txBody>
      </p:sp>
      <p:sp>
        <p:nvSpPr>
          <p:cNvPr id="4" name="Slide Number Placeholder 3">
            <a:extLst>
              <a:ext uri="{FF2B5EF4-FFF2-40B4-BE49-F238E27FC236}">
                <a16:creationId xmlns:a16="http://schemas.microsoft.com/office/drawing/2014/main" id="{F5A2A187-38B8-4A3E-35F6-90FFE4A0A2E5}"/>
              </a:ext>
            </a:extLst>
          </p:cNvPr>
          <p:cNvSpPr>
            <a:spLocks noGrp="1"/>
          </p:cNvSpPr>
          <p:nvPr>
            <p:ph type="sldNum" sz="quarter" idx="5"/>
          </p:nvPr>
        </p:nvSpPr>
        <p:spPr/>
        <p:txBody>
          <a:bodyPr/>
          <a:lstStyle/>
          <a:p>
            <a:fld id="{A62EC21E-A6F6-4C42-B0A9-7BADF486F0B3}" type="slidenum">
              <a:rPr lang="en-GB" smtClean="0"/>
              <a:t>43</a:t>
            </a:fld>
            <a:endParaRPr lang="en-GB"/>
          </a:p>
        </p:txBody>
      </p:sp>
    </p:spTree>
    <p:extLst>
      <p:ext uri="{BB962C8B-B14F-4D97-AF65-F5344CB8AC3E}">
        <p14:creationId xmlns:p14="http://schemas.microsoft.com/office/powerpoint/2010/main" val="17636955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1DBDC-378C-E653-7AEA-935BBFCB0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1398B-B32E-6598-D8C6-78250E510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7399F-7BED-3E6A-072F-20FFBB4A94DB}"/>
              </a:ext>
            </a:extLst>
          </p:cNvPr>
          <p:cNvSpPr>
            <a:spLocks noGrp="1"/>
          </p:cNvSpPr>
          <p:nvPr>
            <p:ph type="body" idx="1"/>
          </p:nvPr>
        </p:nvSpPr>
        <p:spPr/>
        <p:txBody>
          <a:bodyPr/>
          <a:lstStyle/>
          <a:p>
            <a:r>
              <a:rPr lang="en-GB" dirty="0"/>
              <a:t>Missing data = relevant information!</a:t>
            </a:r>
          </a:p>
        </p:txBody>
      </p:sp>
      <p:sp>
        <p:nvSpPr>
          <p:cNvPr id="4" name="Slide Number Placeholder 3">
            <a:extLst>
              <a:ext uri="{FF2B5EF4-FFF2-40B4-BE49-F238E27FC236}">
                <a16:creationId xmlns:a16="http://schemas.microsoft.com/office/drawing/2014/main" id="{9DF5B085-FD6D-40EE-D602-DF8F85899607}"/>
              </a:ext>
            </a:extLst>
          </p:cNvPr>
          <p:cNvSpPr>
            <a:spLocks noGrp="1"/>
          </p:cNvSpPr>
          <p:nvPr>
            <p:ph type="sldNum" sz="quarter" idx="5"/>
          </p:nvPr>
        </p:nvSpPr>
        <p:spPr/>
        <p:txBody>
          <a:bodyPr/>
          <a:lstStyle/>
          <a:p>
            <a:fld id="{A62EC21E-A6F6-4C42-B0A9-7BADF486F0B3}" type="slidenum">
              <a:rPr lang="en-GB" smtClean="0"/>
              <a:t>44</a:t>
            </a:fld>
            <a:endParaRPr lang="en-GB"/>
          </a:p>
        </p:txBody>
      </p:sp>
    </p:spTree>
    <p:extLst>
      <p:ext uri="{BB962C8B-B14F-4D97-AF65-F5344CB8AC3E}">
        <p14:creationId xmlns:p14="http://schemas.microsoft.com/office/powerpoint/2010/main" val="754706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B8AD7-DCF1-BB70-E051-1130910D0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10EFB-B7B6-7329-A220-19FE3356E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71763-C1AC-038F-1A4B-218DCB718F5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D06BF2A-5F44-6493-D1E7-6059AC23CFA4}"/>
              </a:ext>
            </a:extLst>
          </p:cNvPr>
          <p:cNvSpPr>
            <a:spLocks noGrp="1"/>
          </p:cNvSpPr>
          <p:nvPr>
            <p:ph type="sldNum" sz="quarter" idx="5"/>
          </p:nvPr>
        </p:nvSpPr>
        <p:spPr/>
        <p:txBody>
          <a:bodyPr/>
          <a:lstStyle/>
          <a:p>
            <a:fld id="{A62EC21E-A6F6-4C42-B0A9-7BADF486F0B3}" type="slidenum">
              <a:rPr lang="en-GB" smtClean="0"/>
              <a:t>45</a:t>
            </a:fld>
            <a:endParaRPr lang="en-GB"/>
          </a:p>
        </p:txBody>
      </p:sp>
    </p:spTree>
    <p:extLst>
      <p:ext uri="{BB962C8B-B14F-4D97-AF65-F5344CB8AC3E}">
        <p14:creationId xmlns:p14="http://schemas.microsoft.com/office/powerpoint/2010/main" val="7704252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CCB5B-13A8-1DE8-080A-F07BCC3CF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4386B-E4A8-0F7E-021F-24DEC1457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9749F-1C09-85E7-4940-0CA10EC3872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61844B-930D-AEE0-A63A-FA0C5F5DF1CE}"/>
              </a:ext>
            </a:extLst>
          </p:cNvPr>
          <p:cNvSpPr>
            <a:spLocks noGrp="1"/>
          </p:cNvSpPr>
          <p:nvPr>
            <p:ph type="sldNum" sz="quarter" idx="5"/>
          </p:nvPr>
        </p:nvSpPr>
        <p:spPr/>
        <p:txBody>
          <a:bodyPr/>
          <a:lstStyle/>
          <a:p>
            <a:fld id="{A62EC21E-A6F6-4C42-B0A9-7BADF486F0B3}" type="slidenum">
              <a:rPr lang="en-GB" smtClean="0"/>
              <a:t>46</a:t>
            </a:fld>
            <a:endParaRPr lang="en-GB"/>
          </a:p>
        </p:txBody>
      </p:sp>
    </p:spTree>
    <p:extLst>
      <p:ext uri="{BB962C8B-B14F-4D97-AF65-F5344CB8AC3E}">
        <p14:creationId xmlns:p14="http://schemas.microsoft.com/office/powerpoint/2010/main" val="32454771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1F07-11BA-45F3-6E01-2D938E1D7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B29A8-55D9-75D8-F312-45CA2D954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C7CFD-C9CA-F5FB-9A94-A34E138D350A}"/>
              </a:ext>
            </a:extLst>
          </p:cNvPr>
          <p:cNvSpPr>
            <a:spLocks noGrp="1"/>
          </p:cNvSpPr>
          <p:nvPr>
            <p:ph type="body" idx="1"/>
          </p:nvPr>
        </p:nvSpPr>
        <p:spPr/>
        <p:txBody>
          <a:bodyPr/>
          <a:lstStyle/>
          <a:p>
            <a:pPr marL="0" indent="0">
              <a:buNone/>
            </a:pPr>
            <a:r>
              <a:rPr lang="en-GB" dirty="0"/>
              <a:t>All of these are questions I have had to ask myself.</a:t>
            </a:r>
          </a:p>
          <a:p>
            <a:pPr marL="228600" indent="-228600">
              <a:buAutoNum type="arabicParenR"/>
            </a:pPr>
            <a:r>
              <a:rPr lang="en-GB" dirty="0"/>
              <a:t>SNDS.</a:t>
            </a:r>
          </a:p>
          <a:p>
            <a:pPr marL="228600" indent="-228600">
              <a:buAutoNum type="arabicParenR"/>
            </a:pPr>
            <a:r>
              <a:rPr lang="en-GB" dirty="0"/>
              <a:t>Always happen. People that were too difficult to access. Variables too difficult to get. Or were out of scope, or initially deemed not relevant.</a:t>
            </a:r>
          </a:p>
          <a:p>
            <a:pPr marL="228600" indent="-228600">
              <a:buAutoNum type="arabicParenR"/>
            </a:pPr>
            <a:r>
              <a:rPr lang="en-GB" dirty="0"/>
              <a:t>Data quality. Sometimes the data collection is of poor quality. Or people just cant be bothered to do a good job.</a:t>
            </a:r>
          </a:p>
          <a:p>
            <a:pPr marL="228600" indent="-228600">
              <a:buAutoNum type="arabicParenR"/>
            </a:pPr>
            <a:r>
              <a:rPr lang="en-GB" dirty="0"/>
              <a:t>Very bad. Example of emergency services.</a:t>
            </a:r>
          </a:p>
          <a:p>
            <a:pPr marL="228600" indent="-228600">
              <a:buAutoNum type="arabicParenR"/>
            </a:pPr>
            <a:endParaRPr lang="en-GB" dirty="0"/>
          </a:p>
          <a:p>
            <a:pPr marL="0" indent="0">
              <a:buNone/>
            </a:pPr>
            <a:r>
              <a:rPr lang="en-GB" dirty="0"/>
              <a:t>ALL THIS INFORMATION IS NOT IN THE DATA. YOU NEED TO DO RESEARCH AND ASK PEOPLE.</a:t>
            </a:r>
          </a:p>
        </p:txBody>
      </p:sp>
      <p:sp>
        <p:nvSpPr>
          <p:cNvPr id="4" name="Slide Number Placeholder 3">
            <a:extLst>
              <a:ext uri="{FF2B5EF4-FFF2-40B4-BE49-F238E27FC236}">
                <a16:creationId xmlns:a16="http://schemas.microsoft.com/office/drawing/2014/main" id="{02FB9C7E-1390-41FA-588D-C054CDAA2104}"/>
              </a:ext>
            </a:extLst>
          </p:cNvPr>
          <p:cNvSpPr>
            <a:spLocks noGrp="1"/>
          </p:cNvSpPr>
          <p:nvPr>
            <p:ph type="sldNum" sz="quarter" idx="5"/>
          </p:nvPr>
        </p:nvSpPr>
        <p:spPr/>
        <p:txBody>
          <a:bodyPr/>
          <a:lstStyle/>
          <a:p>
            <a:fld id="{A62EC21E-A6F6-4C42-B0A9-7BADF486F0B3}" type="slidenum">
              <a:rPr lang="en-GB" smtClean="0"/>
              <a:t>47</a:t>
            </a:fld>
            <a:endParaRPr lang="en-GB"/>
          </a:p>
        </p:txBody>
      </p:sp>
    </p:spTree>
    <p:extLst>
      <p:ext uri="{BB962C8B-B14F-4D97-AF65-F5344CB8AC3E}">
        <p14:creationId xmlns:p14="http://schemas.microsoft.com/office/powerpoint/2010/main" val="19116079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does it mean? Data, as we usually think of it, does not and cannot exist. It is not something that exist in the world, that is a perfect representation of reality, and that you just take. It is something that you build, it is an interpretation because we choose what data (</a:t>
            </a:r>
            <a:r>
              <a:rPr lang="en-GB" dirty="0" err="1"/>
              <a:t>capta</a:t>
            </a:r>
            <a:r>
              <a:rPr lang="en-GB" dirty="0"/>
              <a:t>) to select, measure and record them. You imagine it first, before it exists.</a:t>
            </a:r>
          </a:p>
          <a:p>
            <a:endParaRPr lang="en-GB" dirty="0"/>
          </a:p>
          <a:p>
            <a:r>
              <a:rPr lang="en-GB" dirty="0"/>
              <a:t>Analysis of the classroom. Lot of information. If I wanted to do an analysis, I choose the research question, I choose what data to collect, what variables are relevant, and how to record them.</a:t>
            </a:r>
          </a:p>
          <a:p>
            <a:endParaRPr lang="en-GB" dirty="0"/>
          </a:p>
          <a:p>
            <a:r>
              <a:rPr lang="en-GB" dirty="0"/>
              <a:t>Drucker 2011: https://dhq.digitalhumanities.org/vol/5/1/000091/000091.html</a:t>
            </a:r>
          </a:p>
        </p:txBody>
      </p:sp>
      <p:sp>
        <p:nvSpPr>
          <p:cNvPr id="4" name="Slide Number Placeholder 3"/>
          <p:cNvSpPr>
            <a:spLocks noGrp="1"/>
          </p:cNvSpPr>
          <p:nvPr>
            <p:ph type="sldNum" sz="quarter" idx="5"/>
          </p:nvPr>
        </p:nvSpPr>
        <p:spPr/>
        <p:txBody>
          <a:bodyPr/>
          <a:lstStyle/>
          <a:p>
            <a:fld id="{A62EC21E-A6F6-4C42-B0A9-7BADF486F0B3}" type="slidenum">
              <a:rPr lang="en-GB" smtClean="0"/>
              <a:t>48</a:t>
            </a:fld>
            <a:endParaRPr lang="en-GB"/>
          </a:p>
        </p:txBody>
      </p:sp>
    </p:spTree>
    <p:extLst>
      <p:ext uri="{BB962C8B-B14F-4D97-AF65-F5344CB8AC3E}">
        <p14:creationId xmlns:p14="http://schemas.microsoft.com/office/powerpoint/2010/main" val="739992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84FB5-963E-3BE5-D7ED-11B6464CA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225D5-871B-924E-B49D-393AE48F5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8649B-60D2-D475-039B-C41AE51E4D8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AE25BB7-EF9A-98B7-DD7E-CA5B553B6DF9}"/>
              </a:ext>
            </a:extLst>
          </p:cNvPr>
          <p:cNvSpPr>
            <a:spLocks noGrp="1"/>
          </p:cNvSpPr>
          <p:nvPr>
            <p:ph type="sldNum" sz="quarter" idx="5"/>
          </p:nvPr>
        </p:nvSpPr>
        <p:spPr/>
        <p:txBody>
          <a:bodyPr/>
          <a:lstStyle/>
          <a:p>
            <a:fld id="{A62EC21E-A6F6-4C42-B0A9-7BADF486F0B3}" type="slidenum">
              <a:rPr lang="en-GB" smtClean="0"/>
              <a:t>49</a:t>
            </a:fld>
            <a:endParaRPr lang="en-GB"/>
          </a:p>
        </p:txBody>
      </p:sp>
    </p:spTree>
    <p:extLst>
      <p:ext uri="{BB962C8B-B14F-4D97-AF65-F5344CB8AC3E}">
        <p14:creationId xmlns:p14="http://schemas.microsoft.com/office/powerpoint/2010/main" val="23621964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51</a:t>
            </a:fld>
            <a:endParaRPr lang="en-GB"/>
          </a:p>
        </p:txBody>
      </p:sp>
    </p:spTree>
    <p:extLst>
      <p:ext uri="{BB962C8B-B14F-4D97-AF65-F5344CB8AC3E}">
        <p14:creationId xmlns:p14="http://schemas.microsoft.com/office/powerpoint/2010/main" val="4776951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I won’t give a specific layout for this, you do whatever you want. It’s just suggestions, and what I do personally</a:t>
            </a:r>
          </a:p>
        </p:txBody>
      </p:sp>
      <p:sp>
        <p:nvSpPr>
          <p:cNvPr id="4" name="Slide Number Placeholder 3"/>
          <p:cNvSpPr>
            <a:spLocks noGrp="1"/>
          </p:cNvSpPr>
          <p:nvPr>
            <p:ph type="sldNum" sz="quarter" idx="5"/>
          </p:nvPr>
        </p:nvSpPr>
        <p:spPr/>
        <p:txBody>
          <a:bodyPr/>
          <a:lstStyle/>
          <a:p>
            <a:fld id="{A62EC21E-A6F6-4C42-B0A9-7BADF486F0B3}" type="slidenum">
              <a:rPr lang="en-GB" smtClean="0"/>
              <a:t>52</a:t>
            </a:fld>
            <a:endParaRPr lang="en-GB"/>
          </a:p>
        </p:txBody>
      </p:sp>
    </p:spTree>
    <p:extLst>
      <p:ext uri="{BB962C8B-B14F-4D97-AF65-F5344CB8AC3E}">
        <p14:creationId xmlns:p14="http://schemas.microsoft.com/office/powerpoint/2010/main" val="3659793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it’s not a requirement, keep it simple</a:t>
            </a:r>
          </a:p>
        </p:txBody>
      </p:sp>
      <p:sp>
        <p:nvSpPr>
          <p:cNvPr id="4" name="Slide Number Placeholder 3"/>
          <p:cNvSpPr>
            <a:spLocks noGrp="1"/>
          </p:cNvSpPr>
          <p:nvPr>
            <p:ph type="sldNum" sz="quarter" idx="5"/>
          </p:nvPr>
        </p:nvSpPr>
        <p:spPr/>
        <p:txBody>
          <a:bodyPr/>
          <a:lstStyle/>
          <a:p>
            <a:fld id="{A62EC21E-A6F6-4C42-B0A9-7BADF486F0B3}" type="slidenum">
              <a:rPr lang="en-GB" smtClean="0"/>
              <a:t>53</a:t>
            </a:fld>
            <a:endParaRPr lang="en-GB"/>
          </a:p>
        </p:txBody>
      </p:sp>
    </p:spTree>
    <p:extLst>
      <p:ext uri="{BB962C8B-B14F-4D97-AF65-F5344CB8AC3E}">
        <p14:creationId xmlns:p14="http://schemas.microsoft.com/office/powerpoint/2010/main" val="5588477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9956-A29A-20EF-6D68-69902F7F7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62B6A-2868-A303-54F1-EC91B6D6F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EDD80-3967-DD48-6372-484E75276E0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11263CA-911F-952C-016C-7E675ED5477A}"/>
              </a:ext>
            </a:extLst>
          </p:cNvPr>
          <p:cNvSpPr>
            <a:spLocks noGrp="1"/>
          </p:cNvSpPr>
          <p:nvPr>
            <p:ph type="sldNum" sz="quarter" idx="5"/>
          </p:nvPr>
        </p:nvSpPr>
        <p:spPr/>
        <p:txBody>
          <a:bodyPr/>
          <a:lstStyle/>
          <a:p>
            <a:fld id="{A62EC21E-A6F6-4C42-B0A9-7BADF486F0B3}" type="slidenum">
              <a:rPr lang="en-GB" smtClean="0"/>
              <a:t>54</a:t>
            </a:fld>
            <a:endParaRPr lang="en-GB"/>
          </a:p>
        </p:txBody>
      </p:sp>
    </p:spTree>
    <p:extLst>
      <p:ext uri="{BB962C8B-B14F-4D97-AF65-F5344CB8AC3E}">
        <p14:creationId xmlns:p14="http://schemas.microsoft.com/office/powerpoint/2010/main" val="23651452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P-hacking can be:</a:t>
            </a:r>
          </a:p>
          <a:p>
            <a:pPr marL="171450" indent="-171450">
              <a:buFontTx/>
              <a:buChar char="-"/>
            </a:pPr>
            <a:r>
              <a:rPr lang="en-GB" dirty="0"/>
              <a:t>Taking subsets of the data to get significant results</a:t>
            </a:r>
          </a:p>
          <a:p>
            <a:pPr marL="171450" indent="-171450">
              <a:buFontTx/>
              <a:buChar char="-"/>
            </a:pPr>
            <a:r>
              <a:rPr lang="en-GB" dirty="0"/>
              <a:t>Only showing significant results</a:t>
            </a:r>
          </a:p>
          <a:p>
            <a:pPr marL="171450" indent="-171450">
              <a:buFontTx/>
              <a:buChar char="-"/>
            </a:pPr>
            <a:r>
              <a:rPr lang="en-GB" dirty="0"/>
              <a:t>Include covariates to get significant results</a:t>
            </a:r>
          </a:p>
          <a:p>
            <a:pPr marL="171450" indent="-171450">
              <a:buFontTx/>
              <a:buChar char="-"/>
            </a:pPr>
            <a:r>
              <a:rPr lang="en-GB" dirty="0"/>
              <a:t>Transforming the data to get significant results </a:t>
            </a:r>
          </a:p>
          <a:p>
            <a:pPr marL="171450" indent="-171450">
              <a:buFontTx/>
              <a:buChar char="-"/>
            </a:pPr>
            <a:endParaRPr lang="en-GB" dirty="0"/>
          </a:p>
          <a:p>
            <a:pPr marL="0" indent="0">
              <a:buFontTx/>
              <a:buNone/>
            </a:pPr>
            <a:r>
              <a:rPr lang="en-GB" dirty="0"/>
              <a:t>Graph : spurious </a:t>
            </a:r>
            <a:r>
              <a:rPr lang="en-GB"/>
              <a:t>correlations website: https://tylervigen.com/spurious-correlations</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55</a:t>
            </a:fld>
            <a:endParaRPr lang="en-GB"/>
          </a:p>
        </p:txBody>
      </p:sp>
    </p:spTree>
    <p:extLst>
      <p:ext uri="{BB962C8B-B14F-4D97-AF65-F5344CB8AC3E}">
        <p14:creationId xmlns:p14="http://schemas.microsoft.com/office/powerpoint/2010/main" val="4051414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2608E-B15B-8E10-8E9F-BF27A17FD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16390-D57C-420A-009E-B1E8C2E69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89C00-22AF-49C8-682C-E3CB6D381813}"/>
              </a:ext>
            </a:extLst>
          </p:cNvPr>
          <p:cNvSpPr>
            <a:spLocks noGrp="1"/>
          </p:cNvSpPr>
          <p:nvPr>
            <p:ph type="body" idx="1"/>
          </p:nvPr>
        </p:nvSpPr>
        <p:spPr/>
        <p:txBody>
          <a:bodyPr/>
          <a:lstStyle/>
          <a:p>
            <a:r>
              <a:rPr lang="en-GB" dirty="0"/>
              <a:t>P-hacking can be:</a:t>
            </a:r>
          </a:p>
          <a:p>
            <a:pPr marL="171450" indent="-171450">
              <a:buFontTx/>
              <a:buChar char="-"/>
            </a:pPr>
            <a:r>
              <a:rPr lang="en-GB" dirty="0"/>
              <a:t>Taking subsets of the data to get significant results</a:t>
            </a:r>
          </a:p>
          <a:p>
            <a:pPr marL="171450" indent="-171450">
              <a:buFontTx/>
              <a:buChar char="-"/>
            </a:pPr>
            <a:r>
              <a:rPr lang="en-GB" dirty="0"/>
              <a:t>Only showing significant results</a:t>
            </a:r>
          </a:p>
          <a:p>
            <a:pPr marL="171450" indent="-171450">
              <a:buFontTx/>
              <a:buChar char="-"/>
            </a:pPr>
            <a:r>
              <a:rPr lang="en-GB" dirty="0"/>
              <a:t>Include covariates to get significant results</a:t>
            </a:r>
          </a:p>
          <a:p>
            <a:pPr marL="171450" indent="-171450">
              <a:buFontTx/>
              <a:buChar char="-"/>
            </a:pPr>
            <a:r>
              <a:rPr lang="en-GB" dirty="0"/>
              <a:t>Transforming the data to get significant results </a:t>
            </a:r>
          </a:p>
          <a:p>
            <a:pPr marL="171450" indent="-171450">
              <a:buFontTx/>
              <a:buChar char="-"/>
            </a:pPr>
            <a:endParaRPr lang="en-GB" dirty="0"/>
          </a:p>
          <a:p>
            <a:pPr marL="0" indent="0">
              <a:buFontTx/>
              <a:buNone/>
            </a:pPr>
            <a:r>
              <a:rPr lang="en-GB" dirty="0"/>
              <a:t>Graph : spurious </a:t>
            </a:r>
            <a:r>
              <a:rPr lang="en-GB"/>
              <a:t>correlations website: https://tylervigen.com/spurious-correlations</a:t>
            </a:r>
            <a:endParaRPr lang="en-GB" dirty="0"/>
          </a:p>
        </p:txBody>
      </p:sp>
      <p:sp>
        <p:nvSpPr>
          <p:cNvPr id="4" name="Slide Number Placeholder 3">
            <a:extLst>
              <a:ext uri="{FF2B5EF4-FFF2-40B4-BE49-F238E27FC236}">
                <a16:creationId xmlns:a16="http://schemas.microsoft.com/office/drawing/2014/main" id="{7FCAC564-357F-D509-860F-A1F7F89591D1}"/>
              </a:ext>
            </a:extLst>
          </p:cNvPr>
          <p:cNvSpPr>
            <a:spLocks noGrp="1"/>
          </p:cNvSpPr>
          <p:nvPr>
            <p:ph type="sldNum" sz="quarter" idx="5"/>
          </p:nvPr>
        </p:nvSpPr>
        <p:spPr/>
        <p:txBody>
          <a:bodyPr/>
          <a:lstStyle/>
          <a:p>
            <a:fld id="{A62EC21E-A6F6-4C42-B0A9-7BADF486F0B3}" type="slidenum">
              <a:rPr lang="en-GB" smtClean="0"/>
              <a:t>56</a:t>
            </a:fld>
            <a:endParaRPr lang="en-GB"/>
          </a:p>
        </p:txBody>
      </p:sp>
    </p:spTree>
    <p:extLst>
      <p:ext uri="{BB962C8B-B14F-4D97-AF65-F5344CB8AC3E}">
        <p14:creationId xmlns:p14="http://schemas.microsoft.com/office/powerpoint/2010/main" val="3796111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6BB4-048D-A264-95B7-92C7EF199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0476F-C20A-9271-B073-1954843EB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79B46-8941-70D9-A32D-CEFC1693CD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Interpretability vs. flexibility tradeoff</a:t>
            </a:r>
            <a:r>
              <a:rPr lang="en-GB" dirty="0"/>
              <a:t>: do you know what it is</a:t>
            </a:r>
            <a:endParaRPr lang="en-US" dirty="0"/>
          </a:p>
        </p:txBody>
      </p:sp>
      <p:sp>
        <p:nvSpPr>
          <p:cNvPr id="4" name="Slide Number Placeholder 3">
            <a:extLst>
              <a:ext uri="{FF2B5EF4-FFF2-40B4-BE49-F238E27FC236}">
                <a16:creationId xmlns:a16="http://schemas.microsoft.com/office/drawing/2014/main" id="{D53DC999-2BD3-68FF-4E32-5A1C87DDA3B6}"/>
              </a:ext>
            </a:extLst>
          </p:cNvPr>
          <p:cNvSpPr>
            <a:spLocks noGrp="1"/>
          </p:cNvSpPr>
          <p:nvPr>
            <p:ph type="sldNum" sz="quarter" idx="5"/>
          </p:nvPr>
        </p:nvSpPr>
        <p:spPr/>
        <p:txBody>
          <a:bodyPr/>
          <a:lstStyle/>
          <a:p>
            <a:fld id="{A62EC21E-A6F6-4C42-B0A9-7BADF486F0B3}" type="slidenum">
              <a:rPr lang="en-GB" smtClean="0"/>
              <a:t>57</a:t>
            </a:fld>
            <a:endParaRPr lang="en-GB"/>
          </a:p>
        </p:txBody>
      </p:sp>
    </p:spTree>
    <p:extLst>
      <p:ext uri="{BB962C8B-B14F-4D97-AF65-F5344CB8AC3E}">
        <p14:creationId xmlns:p14="http://schemas.microsoft.com/office/powerpoint/2010/main" val="2561738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5E77-4667-302D-C1D9-EBB28679B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A98C1-40C6-FBC1-9248-502CA1941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69647-212E-5E3C-D752-385CB48CFB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11CA8E4-2902-0C25-77B3-56D36ABE50CA}"/>
              </a:ext>
            </a:extLst>
          </p:cNvPr>
          <p:cNvSpPr>
            <a:spLocks noGrp="1"/>
          </p:cNvSpPr>
          <p:nvPr>
            <p:ph type="sldNum" sz="quarter" idx="5"/>
          </p:nvPr>
        </p:nvSpPr>
        <p:spPr/>
        <p:txBody>
          <a:bodyPr/>
          <a:lstStyle/>
          <a:p>
            <a:fld id="{A62EC21E-A6F6-4C42-B0A9-7BADF486F0B3}" type="slidenum">
              <a:rPr lang="en-GB" smtClean="0"/>
              <a:t>58</a:t>
            </a:fld>
            <a:endParaRPr lang="en-GB"/>
          </a:p>
        </p:txBody>
      </p:sp>
    </p:spTree>
    <p:extLst>
      <p:ext uri="{BB962C8B-B14F-4D97-AF65-F5344CB8AC3E}">
        <p14:creationId xmlns:p14="http://schemas.microsoft.com/office/powerpoint/2010/main" val="31006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Talk about trust: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Important with decision makers, clients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Data analysis is very much rhetorical. People don’t know if what you are doing is right. You use data analysis to show a point or prove a fact.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People will trust your work better when they can understand or at least know why you get the results that you have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Sometimes it is not about having the most complicated model, but the one that is most likely to convince people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Paradoxically : people trust LLMs a lot.</a:t>
            </a:r>
          </a:p>
        </p:txBody>
      </p:sp>
      <p:sp>
        <p:nvSpPr>
          <p:cNvPr id="4" name="Slide Number Placeholder 3"/>
          <p:cNvSpPr>
            <a:spLocks noGrp="1"/>
          </p:cNvSpPr>
          <p:nvPr>
            <p:ph type="sldNum" sz="quarter" idx="5"/>
          </p:nvPr>
        </p:nvSpPr>
        <p:spPr/>
        <p:txBody>
          <a:bodyPr/>
          <a:lstStyle/>
          <a:p>
            <a:fld id="{A62EC21E-A6F6-4C42-B0A9-7BADF486F0B3}" type="slidenum">
              <a:rPr lang="en-GB" smtClean="0"/>
              <a:t>59</a:t>
            </a:fld>
            <a:endParaRPr lang="en-GB"/>
          </a:p>
        </p:txBody>
      </p:sp>
    </p:spTree>
    <p:extLst>
      <p:ext uri="{BB962C8B-B14F-4D97-AF65-F5344CB8AC3E}">
        <p14:creationId xmlns:p14="http://schemas.microsoft.com/office/powerpoint/2010/main" val="25125737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60</a:t>
            </a:fld>
            <a:endParaRPr lang="en-GB"/>
          </a:p>
        </p:txBody>
      </p:sp>
    </p:spTree>
    <p:extLst>
      <p:ext uri="{BB962C8B-B14F-4D97-AF65-F5344CB8AC3E}">
        <p14:creationId xmlns:p14="http://schemas.microsoft.com/office/powerpoint/2010/main" val="22026224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61</a:t>
            </a:fld>
            <a:endParaRPr lang="en-GB"/>
          </a:p>
        </p:txBody>
      </p:sp>
    </p:spTree>
    <p:extLst>
      <p:ext uri="{BB962C8B-B14F-4D97-AF65-F5344CB8AC3E}">
        <p14:creationId xmlns:p14="http://schemas.microsoft.com/office/powerpoint/2010/main" val="21441080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BCCFD-47B8-66B7-D131-E43922C55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79704-1D8C-9D99-042A-B565DEEF2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14CBF-D2EC-0FA4-3350-0014E2E727B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FE799B4-F61C-12C0-4F67-CB16F4BEB93E}"/>
              </a:ext>
            </a:extLst>
          </p:cNvPr>
          <p:cNvSpPr>
            <a:spLocks noGrp="1"/>
          </p:cNvSpPr>
          <p:nvPr>
            <p:ph type="sldNum" sz="quarter" idx="5"/>
          </p:nvPr>
        </p:nvSpPr>
        <p:spPr/>
        <p:txBody>
          <a:bodyPr/>
          <a:lstStyle/>
          <a:p>
            <a:fld id="{A62EC21E-A6F6-4C42-B0A9-7BADF486F0B3}" type="slidenum">
              <a:rPr lang="en-GB" smtClean="0"/>
              <a:t>62</a:t>
            </a:fld>
            <a:endParaRPr lang="en-GB"/>
          </a:p>
        </p:txBody>
      </p:sp>
    </p:spTree>
    <p:extLst>
      <p:ext uri="{BB962C8B-B14F-4D97-AF65-F5344CB8AC3E}">
        <p14:creationId xmlns:p14="http://schemas.microsoft.com/office/powerpoint/2010/main" val="27284617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here censoring is in the dependent variable.</a:t>
            </a:r>
            <a:br>
              <a:rPr lang="en-GB" dirty="0"/>
            </a:br>
            <a:r>
              <a:rPr lang="en-GB" dirty="0"/>
              <a:t>Censoring exists in survival analysis, but it refers to the observation window of participants in the study</a:t>
            </a:r>
          </a:p>
        </p:txBody>
      </p:sp>
      <p:sp>
        <p:nvSpPr>
          <p:cNvPr id="4" name="Slide Number Placeholder 3"/>
          <p:cNvSpPr>
            <a:spLocks noGrp="1"/>
          </p:cNvSpPr>
          <p:nvPr>
            <p:ph type="sldNum" sz="quarter" idx="5"/>
          </p:nvPr>
        </p:nvSpPr>
        <p:spPr/>
        <p:txBody>
          <a:bodyPr/>
          <a:lstStyle/>
          <a:p>
            <a:fld id="{A62EC21E-A6F6-4C42-B0A9-7BADF486F0B3}" type="slidenum">
              <a:rPr lang="en-GB" smtClean="0"/>
              <a:t>63</a:t>
            </a:fld>
            <a:endParaRPr lang="en-GB"/>
          </a:p>
        </p:txBody>
      </p:sp>
    </p:spTree>
    <p:extLst>
      <p:ext uri="{BB962C8B-B14F-4D97-AF65-F5344CB8AC3E}">
        <p14:creationId xmlns:p14="http://schemas.microsoft.com/office/powerpoint/2010/main" val="21038266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Model selection is also a choice. There may be not “best” model that represent what you are trying to understand.</a:t>
            </a:r>
          </a:p>
          <a:p>
            <a:r>
              <a:rPr lang="en-GB" dirty="0"/>
              <a:t>Maybe your selection will be based on some metric, minimising some loss function (RMSE, MAE…). But why? Is a model that minimises some error truly representative of the underlying phenomenon you wanted to measure in the first place?</a:t>
            </a:r>
          </a:p>
        </p:txBody>
      </p:sp>
      <p:sp>
        <p:nvSpPr>
          <p:cNvPr id="4" name="Slide Number Placeholder 3"/>
          <p:cNvSpPr>
            <a:spLocks noGrp="1"/>
          </p:cNvSpPr>
          <p:nvPr>
            <p:ph type="sldNum" sz="quarter" idx="5"/>
          </p:nvPr>
        </p:nvSpPr>
        <p:spPr/>
        <p:txBody>
          <a:bodyPr/>
          <a:lstStyle/>
          <a:p>
            <a:fld id="{A62EC21E-A6F6-4C42-B0A9-7BADF486F0B3}" type="slidenum">
              <a:rPr lang="en-GB" smtClean="0"/>
              <a:t>64</a:t>
            </a:fld>
            <a:endParaRPr lang="en-GB"/>
          </a:p>
        </p:txBody>
      </p:sp>
    </p:spTree>
    <p:extLst>
      <p:ext uri="{BB962C8B-B14F-4D97-AF65-F5344CB8AC3E}">
        <p14:creationId xmlns:p14="http://schemas.microsoft.com/office/powerpoint/2010/main" val="15832381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65</a:t>
            </a:fld>
            <a:endParaRPr lang="en-GB"/>
          </a:p>
        </p:txBody>
      </p:sp>
    </p:spTree>
    <p:extLst>
      <p:ext uri="{BB962C8B-B14F-4D97-AF65-F5344CB8AC3E}">
        <p14:creationId xmlns:p14="http://schemas.microsoft.com/office/powerpoint/2010/main" val="22935437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66</a:t>
            </a:fld>
            <a:endParaRPr lang="en-GB"/>
          </a:p>
        </p:txBody>
      </p:sp>
    </p:spTree>
    <p:extLst>
      <p:ext uri="{BB962C8B-B14F-4D97-AF65-F5344CB8AC3E}">
        <p14:creationId xmlns:p14="http://schemas.microsoft.com/office/powerpoint/2010/main" val="8953502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67</a:t>
            </a:fld>
            <a:endParaRPr lang="en-GB"/>
          </a:p>
        </p:txBody>
      </p:sp>
    </p:spTree>
    <p:extLst>
      <p:ext uri="{BB962C8B-B14F-4D97-AF65-F5344CB8AC3E}">
        <p14:creationId xmlns:p14="http://schemas.microsoft.com/office/powerpoint/2010/main" val="17819891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68</a:t>
            </a:fld>
            <a:endParaRPr lang="en-GB"/>
          </a:p>
        </p:txBody>
      </p:sp>
    </p:spTree>
    <p:extLst>
      <p:ext uri="{BB962C8B-B14F-4D97-AF65-F5344CB8AC3E}">
        <p14:creationId xmlns:p14="http://schemas.microsoft.com/office/powerpoint/2010/main" val="15535852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69</a:t>
            </a:fld>
            <a:endParaRPr lang="en-GB"/>
          </a:p>
        </p:txBody>
      </p:sp>
    </p:spTree>
    <p:extLst>
      <p:ext uri="{BB962C8B-B14F-4D97-AF65-F5344CB8AC3E}">
        <p14:creationId xmlns:p14="http://schemas.microsoft.com/office/powerpoint/2010/main" val="30685133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70</a:t>
            </a:fld>
            <a:endParaRPr lang="en-GB"/>
          </a:p>
        </p:txBody>
      </p:sp>
    </p:spTree>
    <p:extLst>
      <p:ext uri="{BB962C8B-B14F-4D97-AF65-F5344CB8AC3E}">
        <p14:creationId xmlns:p14="http://schemas.microsoft.com/office/powerpoint/2010/main" val="16437694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71</a:t>
            </a:fld>
            <a:endParaRPr lang="en-GB"/>
          </a:p>
        </p:txBody>
      </p:sp>
    </p:spTree>
    <p:extLst>
      <p:ext uri="{BB962C8B-B14F-4D97-AF65-F5344CB8AC3E}">
        <p14:creationId xmlns:p14="http://schemas.microsoft.com/office/powerpoint/2010/main" val="23461005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72</a:t>
            </a:fld>
            <a:endParaRPr lang="en-GB"/>
          </a:p>
        </p:txBody>
      </p:sp>
    </p:spTree>
    <p:extLst>
      <p:ext uri="{BB962C8B-B14F-4D97-AF65-F5344CB8AC3E}">
        <p14:creationId xmlns:p14="http://schemas.microsoft.com/office/powerpoint/2010/main" val="26648708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73</a:t>
            </a:fld>
            <a:endParaRPr lang="en-GB"/>
          </a:p>
        </p:txBody>
      </p:sp>
    </p:spTree>
    <p:extLst>
      <p:ext uri="{BB962C8B-B14F-4D97-AF65-F5344CB8AC3E}">
        <p14:creationId xmlns:p14="http://schemas.microsoft.com/office/powerpoint/2010/main" val="16099121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74</a:t>
            </a:fld>
            <a:endParaRPr lang="en-GB"/>
          </a:p>
        </p:txBody>
      </p:sp>
    </p:spTree>
    <p:extLst>
      <p:ext uri="{BB962C8B-B14F-4D97-AF65-F5344CB8AC3E}">
        <p14:creationId xmlns:p14="http://schemas.microsoft.com/office/powerpoint/2010/main" val="18711141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75</a:t>
            </a:fld>
            <a:endParaRPr lang="en-GB"/>
          </a:p>
        </p:txBody>
      </p:sp>
    </p:spTree>
    <p:extLst>
      <p:ext uri="{BB962C8B-B14F-4D97-AF65-F5344CB8AC3E}">
        <p14:creationId xmlns:p14="http://schemas.microsoft.com/office/powerpoint/2010/main" val="23928521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76</a:t>
            </a:fld>
            <a:endParaRPr lang="en-GB"/>
          </a:p>
        </p:txBody>
      </p:sp>
    </p:spTree>
    <p:extLst>
      <p:ext uri="{BB962C8B-B14F-4D97-AF65-F5344CB8AC3E}">
        <p14:creationId xmlns:p14="http://schemas.microsoft.com/office/powerpoint/2010/main" val="24186572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77</a:t>
            </a:fld>
            <a:endParaRPr lang="en-GB"/>
          </a:p>
        </p:txBody>
      </p:sp>
    </p:spTree>
    <p:extLst>
      <p:ext uri="{BB962C8B-B14F-4D97-AF65-F5344CB8AC3E}">
        <p14:creationId xmlns:p14="http://schemas.microsoft.com/office/powerpoint/2010/main" val="3669801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78</a:t>
            </a:fld>
            <a:endParaRPr lang="en-GB"/>
          </a:p>
        </p:txBody>
      </p:sp>
    </p:spTree>
    <p:extLst>
      <p:ext uri="{BB962C8B-B14F-4D97-AF65-F5344CB8AC3E}">
        <p14:creationId xmlns:p14="http://schemas.microsoft.com/office/powerpoint/2010/main" val="14000461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79</a:t>
            </a:fld>
            <a:endParaRPr lang="en-GB"/>
          </a:p>
        </p:txBody>
      </p:sp>
    </p:spTree>
    <p:extLst>
      <p:ext uri="{BB962C8B-B14F-4D97-AF65-F5344CB8AC3E}">
        <p14:creationId xmlns:p14="http://schemas.microsoft.com/office/powerpoint/2010/main" val="416595640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80</a:t>
            </a:fld>
            <a:endParaRPr lang="en-GB"/>
          </a:p>
        </p:txBody>
      </p:sp>
    </p:spTree>
    <p:extLst>
      <p:ext uri="{BB962C8B-B14F-4D97-AF65-F5344CB8AC3E}">
        <p14:creationId xmlns:p14="http://schemas.microsoft.com/office/powerpoint/2010/main" val="32864409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81</a:t>
            </a:fld>
            <a:endParaRPr lang="en-GB"/>
          </a:p>
        </p:txBody>
      </p:sp>
    </p:spTree>
    <p:extLst>
      <p:ext uri="{BB962C8B-B14F-4D97-AF65-F5344CB8AC3E}">
        <p14:creationId xmlns:p14="http://schemas.microsoft.com/office/powerpoint/2010/main" val="878022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DFBF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952B-B65F-C181-B0B8-7CEC9E85787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fr-FR" dirty="0"/>
          </a:p>
        </p:txBody>
      </p:sp>
      <p:sp>
        <p:nvSpPr>
          <p:cNvPr id="3" name="Subtitle 2">
            <a:extLst>
              <a:ext uri="{FF2B5EF4-FFF2-40B4-BE49-F238E27FC236}">
                <a16:creationId xmlns:a16="http://schemas.microsoft.com/office/drawing/2014/main" id="{D4E1C74B-DA1B-D684-A6CD-55B00D2621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fr-FR" dirty="0"/>
          </a:p>
        </p:txBody>
      </p:sp>
      <p:sp>
        <p:nvSpPr>
          <p:cNvPr id="4" name="Date Placeholder 3">
            <a:extLst>
              <a:ext uri="{FF2B5EF4-FFF2-40B4-BE49-F238E27FC236}">
                <a16:creationId xmlns:a16="http://schemas.microsoft.com/office/drawing/2014/main" id="{CCB523A0-1F5F-B72B-1FE1-7F3C33635F87}"/>
              </a:ext>
            </a:extLst>
          </p:cNvPr>
          <p:cNvSpPr>
            <a:spLocks noGrp="1"/>
          </p:cNvSpPr>
          <p:nvPr>
            <p:ph type="dt" sz="half" idx="10"/>
          </p:nvPr>
        </p:nvSpPr>
        <p:spPr/>
        <p:txBody>
          <a:bodyPr/>
          <a:lstStyle/>
          <a:p>
            <a:fld id="{DD55982A-B46D-4B79-92A5-28C8080B41FE}" type="datetime1">
              <a:rPr lang="fr-FR" smtClean="0"/>
              <a:t>26/09/2026</a:t>
            </a:fld>
            <a:endParaRPr lang="fr-FR"/>
          </a:p>
        </p:txBody>
      </p:sp>
      <p:sp>
        <p:nvSpPr>
          <p:cNvPr id="5" name="Footer Placeholder 4">
            <a:extLst>
              <a:ext uri="{FF2B5EF4-FFF2-40B4-BE49-F238E27FC236}">
                <a16:creationId xmlns:a16="http://schemas.microsoft.com/office/drawing/2014/main" id="{9F206F03-7A98-C65F-E301-7BF3A72DF89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C3BCF9A-27D7-05E0-4FD9-37C33CE714B2}"/>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405066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5886-FDCC-9D15-832C-813F40693A7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56304012-84AE-1C09-D3E4-2115D6E3439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E6CBF442-DC35-5813-C201-E3AF6D39F19A}"/>
              </a:ext>
            </a:extLst>
          </p:cNvPr>
          <p:cNvSpPr>
            <a:spLocks noGrp="1"/>
          </p:cNvSpPr>
          <p:nvPr>
            <p:ph type="dt" sz="half" idx="10"/>
          </p:nvPr>
        </p:nvSpPr>
        <p:spPr/>
        <p:txBody>
          <a:bodyPr/>
          <a:lstStyle/>
          <a:p>
            <a:fld id="{BE2CBEF4-C239-40F7-A999-90E5F43AC809}" type="datetime1">
              <a:rPr lang="fr-FR" smtClean="0"/>
              <a:t>26/09/2026</a:t>
            </a:fld>
            <a:endParaRPr lang="fr-FR"/>
          </a:p>
        </p:txBody>
      </p:sp>
      <p:sp>
        <p:nvSpPr>
          <p:cNvPr id="5" name="Footer Placeholder 4">
            <a:extLst>
              <a:ext uri="{FF2B5EF4-FFF2-40B4-BE49-F238E27FC236}">
                <a16:creationId xmlns:a16="http://schemas.microsoft.com/office/drawing/2014/main" id="{1090B420-196F-2A07-BEDD-F62021EFF7D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0E7721C-0C61-AD6A-98D9-3221F04DAB8F}"/>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479670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C9B6-C6BE-9B72-98CD-1FE21C370E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8B024A11-D011-02D2-A433-BB72E93AF1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AF74A-EB63-6785-7DC3-3105E4702516}"/>
              </a:ext>
            </a:extLst>
          </p:cNvPr>
          <p:cNvSpPr>
            <a:spLocks noGrp="1"/>
          </p:cNvSpPr>
          <p:nvPr>
            <p:ph type="dt" sz="half" idx="10"/>
          </p:nvPr>
        </p:nvSpPr>
        <p:spPr/>
        <p:txBody>
          <a:bodyPr/>
          <a:lstStyle/>
          <a:p>
            <a:fld id="{81CFA720-C544-4D9C-B752-65B437F6FA29}" type="datetime1">
              <a:rPr lang="fr-FR" smtClean="0"/>
              <a:t>26/09/2026</a:t>
            </a:fld>
            <a:endParaRPr lang="fr-FR"/>
          </a:p>
        </p:txBody>
      </p:sp>
      <p:sp>
        <p:nvSpPr>
          <p:cNvPr id="5" name="Footer Placeholder 4">
            <a:extLst>
              <a:ext uri="{FF2B5EF4-FFF2-40B4-BE49-F238E27FC236}">
                <a16:creationId xmlns:a16="http://schemas.microsoft.com/office/drawing/2014/main" id="{585DCCAA-749E-7354-8BEA-13E800D9515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3861417-3D92-D23F-A4C8-ADA0649B25F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610267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A46A-57E9-A7A6-BA12-E6FBD812F34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9B89646-18CD-8D96-BAAF-66101229C3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FCBFD94D-8BCA-82F3-E615-FF1CC4530C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F63FCDF3-136C-A9C6-BD68-02851B2ECB39}"/>
              </a:ext>
            </a:extLst>
          </p:cNvPr>
          <p:cNvSpPr>
            <a:spLocks noGrp="1"/>
          </p:cNvSpPr>
          <p:nvPr>
            <p:ph type="dt" sz="half" idx="10"/>
          </p:nvPr>
        </p:nvSpPr>
        <p:spPr/>
        <p:txBody>
          <a:bodyPr/>
          <a:lstStyle/>
          <a:p>
            <a:fld id="{F0C0EFCA-6D73-4B91-BB47-3D3E4F3A3BA5}" type="datetime1">
              <a:rPr lang="fr-FR" smtClean="0"/>
              <a:t>26/09/2026</a:t>
            </a:fld>
            <a:endParaRPr lang="fr-FR"/>
          </a:p>
        </p:txBody>
      </p:sp>
      <p:sp>
        <p:nvSpPr>
          <p:cNvPr id="6" name="Footer Placeholder 5">
            <a:extLst>
              <a:ext uri="{FF2B5EF4-FFF2-40B4-BE49-F238E27FC236}">
                <a16:creationId xmlns:a16="http://schemas.microsoft.com/office/drawing/2014/main" id="{FC9DA2DF-F005-F47E-81C0-576D5E5FD241}"/>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53893931-AF49-D4A8-C724-C75F49BFC2E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3020472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D4DF-0048-D44C-1607-1A4454F19F83}"/>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D8A3D27-B700-EC75-8CC0-1F71E9567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5DD83B-03DA-1BB9-8E55-7A93EC6BB8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217BF21F-231A-4EE0-BCDA-1E284B5E91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6C2828-0CEC-40E8-E76A-6B55B4908C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0AA18F6B-95B1-1D5F-8602-2E87F30823C8}"/>
              </a:ext>
            </a:extLst>
          </p:cNvPr>
          <p:cNvSpPr>
            <a:spLocks noGrp="1"/>
          </p:cNvSpPr>
          <p:nvPr>
            <p:ph type="dt" sz="half" idx="10"/>
          </p:nvPr>
        </p:nvSpPr>
        <p:spPr/>
        <p:txBody>
          <a:bodyPr/>
          <a:lstStyle/>
          <a:p>
            <a:fld id="{429D8261-CBCB-4C81-8677-71DA5E0876BA}" type="datetime1">
              <a:rPr lang="fr-FR" smtClean="0"/>
              <a:t>26/09/2026</a:t>
            </a:fld>
            <a:endParaRPr lang="fr-FR"/>
          </a:p>
        </p:txBody>
      </p:sp>
      <p:sp>
        <p:nvSpPr>
          <p:cNvPr id="8" name="Footer Placeholder 7">
            <a:extLst>
              <a:ext uri="{FF2B5EF4-FFF2-40B4-BE49-F238E27FC236}">
                <a16:creationId xmlns:a16="http://schemas.microsoft.com/office/drawing/2014/main" id="{FF72C63B-92D9-DD71-C490-AE6802160526}"/>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DD1FAB43-3CEA-C521-9730-077A4111D947}"/>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341615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5D900-124D-D7B8-85B8-82CABB25B006}"/>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5267DFC5-4557-6154-0737-7D2CC5B6514B}"/>
              </a:ext>
            </a:extLst>
          </p:cNvPr>
          <p:cNvSpPr>
            <a:spLocks noGrp="1"/>
          </p:cNvSpPr>
          <p:nvPr>
            <p:ph type="dt" sz="half" idx="10"/>
          </p:nvPr>
        </p:nvSpPr>
        <p:spPr/>
        <p:txBody>
          <a:bodyPr/>
          <a:lstStyle/>
          <a:p>
            <a:fld id="{28AC5D92-0BE7-49F3-97C9-3AC2AECE7A6C}" type="datetime1">
              <a:rPr lang="fr-FR" smtClean="0"/>
              <a:t>26/09/2026</a:t>
            </a:fld>
            <a:endParaRPr lang="fr-FR"/>
          </a:p>
        </p:txBody>
      </p:sp>
      <p:sp>
        <p:nvSpPr>
          <p:cNvPr id="4" name="Footer Placeholder 3">
            <a:extLst>
              <a:ext uri="{FF2B5EF4-FFF2-40B4-BE49-F238E27FC236}">
                <a16:creationId xmlns:a16="http://schemas.microsoft.com/office/drawing/2014/main" id="{B9E55C8C-0C96-3F9C-0305-FD1CD841CF60}"/>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27F522AB-0729-9AEB-21E1-4282FE9C5C72}"/>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85108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61412-A3B2-C765-244E-8D1AC82D9EDC}"/>
              </a:ext>
            </a:extLst>
          </p:cNvPr>
          <p:cNvSpPr>
            <a:spLocks noGrp="1"/>
          </p:cNvSpPr>
          <p:nvPr>
            <p:ph type="dt" sz="half" idx="10"/>
          </p:nvPr>
        </p:nvSpPr>
        <p:spPr/>
        <p:txBody>
          <a:bodyPr/>
          <a:lstStyle/>
          <a:p>
            <a:fld id="{CC05A49C-CBC3-4071-B85B-42BB4379BAE5}" type="datetime1">
              <a:rPr lang="fr-FR" smtClean="0"/>
              <a:t>26/09/2026</a:t>
            </a:fld>
            <a:endParaRPr lang="fr-FR"/>
          </a:p>
        </p:txBody>
      </p:sp>
      <p:sp>
        <p:nvSpPr>
          <p:cNvPr id="3" name="Footer Placeholder 2">
            <a:extLst>
              <a:ext uri="{FF2B5EF4-FFF2-40B4-BE49-F238E27FC236}">
                <a16:creationId xmlns:a16="http://schemas.microsoft.com/office/drawing/2014/main" id="{5A9FABBA-7530-6420-4076-CF24DC278FED}"/>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455B3DC6-FB12-883A-9926-C102F6D779F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02148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6E173-BE04-7773-F08A-A6ACD282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03A98002-047E-B5E9-1463-DCB621796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C94681FC-348A-CDE7-8331-75A6DCAED6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7CEE7-2B2B-82F7-8CF1-0071F7D1ED7A}"/>
              </a:ext>
            </a:extLst>
          </p:cNvPr>
          <p:cNvSpPr>
            <a:spLocks noGrp="1"/>
          </p:cNvSpPr>
          <p:nvPr>
            <p:ph type="dt" sz="half" idx="10"/>
          </p:nvPr>
        </p:nvSpPr>
        <p:spPr/>
        <p:txBody>
          <a:bodyPr/>
          <a:lstStyle/>
          <a:p>
            <a:fld id="{C4C3849D-8DCB-4F4B-8C29-F0E7887BF74A}" type="datetime1">
              <a:rPr lang="fr-FR" smtClean="0"/>
              <a:t>26/09/2026</a:t>
            </a:fld>
            <a:endParaRPr lang="fr-FR"/>
          </a:p>
        </p:txBody>
      </p:sp>
      <p:sp>
        <p:nvSpPr>
          <p:cNvPr id="6" name="Footer Placeholder 5">
            <a:extLst>
              <a:ext uri="{FF2B5EF4-FFF2-40B4-BE49-F238E27FC236}">
                <a16:creationId xmlns:a16="http://schemas.microsoft.com/office/drawing/2014/main" id="{1C570F16-136B-5B8B-D4C1-BF8CE861407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3B4C0FD-9376-44D2-FCD2-BEF8C2AC9171}"/>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418047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666-A503-80D8-1071-324AFEA855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B0DFA630-9B02-D5B7-4B05-A625177006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7ED27550-3FF7-4F56-2A40-B8FF10BD1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9A36A-06F0-66E4-B12C-6F2C5C54B6CD}"/>
              </a:ext>
            </a:extLst>
          </p:cNvPr>
          <p:cNvSpPr>
            <a:spLocks noGrp="1"/>
          </p:cNvSpPr>
          <p:nvPr>
            <p:ph type="dt" sz="half" idx="10"/>
          </p:nvPr>
        </p:nvSpPr>
        <p:spPr/>
        <p:txBody>
          <a:bodyPr/>
          <a:lstStyle/>
          <a:p>
            <a:fld id="{7CCEBC0A-DD03-4A68-85FC-F1BB2CFD030E}" type="datetime1">
              <a:rPr lang="fr-FR" smtClean="0"/>
              <a:t>26/09/2026</a:t>
            </a:fld>
            <a:endParaRPr lang="fr-FR"/>
          </a:p>
        </p:txBody>
      </p:sp>
      <p:sp>
        <p:nvSpPr>
          <p:cNvPr id="6" name="Footer Placeholder 5">
            <a:extLst>
              <a:ext uri="{FF2B5EF4-FFF2-40B4-BE49-F238E27FC236}">
                <a16:creationId xmlns:a16="http://schemas.microsoft.com/office/drawing/2014/main" id="{7DB730BF-1CE3-36AA-7A77-23E7C5E2A025}"/>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EB42599-03C7-4850-E5CA-DD6C4528F130}"/>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75720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6E32-9D65-D97E-4C57-E265E5E69F75}"/>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8C811A06-79BE-F6A7-0083-0F2061725B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E8EB93E-5EA4-D603-50A7-2E47CAD0C4BB}"/>
              </a:ext>
            </a:extLst>
          </p:cNvPr>
          <p:cNvSpPr>
            <a:spLocks noGrp="1"/>
          </p:cNvSpPr>
          <p:nvPr>
            <p:ph type="dt" sz="half" idx="10"/>
          </p:nvPr>
        </p:nvSpPr>
        <p:spPr/>
        <p:txBody>
          <a:bodyPr/>
          <a:lstStyle/>
          <a:p>
            <a:fld id="{B371F475-B24D-4175-8849-C8856A647410}" type="datetime1">
              <a:rPr lang="fr-FR" smtClean="0"/>
              <a:t>26/09/2026</a:t>
            </a:fld>
            <a:endParaRPr lang="fr-FR"/>
          </a:p>
        </p:txBody>
      </p:sp>
      <p:sp>
        <p:nvSpPr>
          <p:cNvPr id="5" name="Footer Placeholder 4">
            <a:extLst>
              <a:ext uri="{FF2B5EF4-FFF2-40B4-BE49-F238E27FC236}">
                <a16:creationId xmlns:a16="http://schemas.microsoft.com/office/drawing/2014/main" id="{30D7A609-23E6-F718-FDE5-D21086C5490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999DEA1-00DF-2F5A-D3A8-A19041921E2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401389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27A69-9A0A-723B-FE08-1B9F9898F6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6FF7BF40-24B7-6F2D-067F-775E10E08A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4E27F21-329B-B302-3B11-E4D76B1AB482}"/>
              </a:ext>
            </a:extLst>
          </p:cNvPr>
          <p:cNvSpPr>
            <a:spLocks noGrp="1"/>
          </p:cNvSpPr>
          <p:nvPr>
            <p:ph type="dt" sz="half" idx="10"/>
          </p:nvPr>
        </p:nvSpPr>
        <p:spPr/>
        <p:txBody>
          <a:bodyPr/>
          <a:lstStyle/>
          <a:p>
            <a:fld id="{FA9F7733-C85A-4513-8CE1-757613D9C817}" type="datetime1">
              <a:rPr lang="fr-FR" smtClean="0"/>
              <a:t>26/09/2026</a:t>
            </a:fld>
            <a:endParaRPr lang="fr-FR"/>
          </a:p>
        </p:txBody>
      </p:sp>
      <p:sp>
        <p:nvSpPr>
          <p:cNvPr id="5" name="Footer Placeholder 4">
            <a:extLst>
              <a:ext uri="{FF2B5EF4-FFF2-40B4-BE49-F238E27FC236}">
                <a16:creationId xmlns:a16="http://schemas.microsoft.com/office/drawing/2014/main" id="{AF43DD71-765A-3A0D-7027-669C887ABC6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4A3615C-B388-ACCB-16A6-21DA628F5DAF}"/>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798603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B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86CBED-8205-0C8D-EB36-23ADA19B79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fr-FR" dirty="0"/>
          </a:p>
        </p:txBody>
      </p:sp>
      <p:sp>
        <p:nvSpPr>
          <p:cNvPr id="3" name="Text Placeholder 2">
            <a:extLst>
              <a:ext uri="{FF2B5EF4-FFF2-40B4-BE49-F238E27FC236}">
                <a16:creationId xmlns:a16="http://schemas.microsoft.com/office/drawing/2014/main" id="{492D9D53-93DF-92DE-B449-0B3ED4D9F4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Date Placeholder 3">
            <a:extLst>
              <a:ext uri="{FF2B5EF4-FFF2-40B4-BE49-F238E27FC236}">
                <a16:creationId xmlns:a16="http://schemas.microsoft.com/office/drawing/2014/main" id="{4662B9F4-B18B-BB03-D130-D79EEA3003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98F25F-AECB-48AA-97FE-E7C5EA77181F}" type="datetime1">
              <a:rPr lang="fr-FR" smtClean="0"/>
              <a:t>26/09/2026</a:t>
            </a:fld>
            <a:endParaRPr lang="fr-FR"/>
          </a:p>
        </p:txBody>
      </p:sp>
      <p:sp>
        <p:nvSpPr>
          <p:cNvPr id="5" name="Footer Placeholder 4">
            <a:extLst>
              <a:ext uri="{FF2B5EF4-FFF2-40B4-BE49-F238E27FC236}">
                <a16:creationId xmlns:a16="http://schemas.microsoft.com/office/drawing/2014/main" id="{2BC19988-7D9F-3886-98AB-3D1EBF3108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AD46FBBE-CF43-190C-CD27-96A5A24BE1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3806FF-9E51-4331-BB90-F49EFA1FA4FC}" type="slidenum">
              <a:rPr lang="fr-FR" smtClean="0"/>
              <a:t>‹N°›</a:t>
            </a:fld>
            <a:endParaRPr lang="fr-FR"/>
          </a:p>
        </p:txBody>
      </p:sp>
    </p:spTree>
    <p:extLst>
      <p:ext uri="{BB962C8B-B14F-4D97-AF65-F5344CB8AC3E}">
        <p14:creationId xmlns:p14="http://schemas.microsoft.com/office/powerpoint/2010/main" val="427614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Dscronias/DS-Real-World-Pub/tree/main"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github.com/Dscronias/DS-Real-World-Pub/blob/main/Final%20assignment/Instructions.pdf"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sv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2.png"/><Relationship Id="rId5" Type="http://schemas.openxmlformats.org/officeDocument/2006/relationships/image" Target="../media/image1.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1.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org&amp;utm_campaign=imageinfo&amp;utm_content=origina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org&amp;utm_campaign=imageinfo&amp;utm_content=origina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30.jp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5.org&amp;utm_campaign=imageinfo&amp;utm_content=original"/><Relationship Id="rId4" Type="http://schemas.openxmlformats.org/officeDocument/2006/relationships/image" Target="../media/image30.jp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2.png"/><Relationship Id="rId5" Type="http://schemas.openxmlformats.org/officeDocument/2006/relationships/image" Target="../media/image1.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1.sv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jpe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jpe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hyperlink" Target="http://factominer.free.fr/index.html" TargetMode="External"/><Relationship Id="rId5" Type="http://schemas.openxmlformats.org/officeDocument/2006/relationships/hyperlink" Target="https://cicerocq.wordpress.com/wp-content/uploads/2019/05/cluster-analysis_5ed_everitt.pdf" TargetMode="External"/><Relationship Id="rId4" Type="http://schemas.openxmlformats.org/officeDocument/2006/relationships/hyperlink" Target="https://scikit-learn.org/stable/unsupervised_learning.html"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7.sv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360.png"/><Relationship Id="rId13" Type="http://schemas.openxmlformats.org/officeDocument/2006/relationships/customXml" Target="../ink/ink6.xml"/><Relationship Id="rId3" Type="http://schemas.openxmlformats.org/officeDocument/2006/relationships/image" Target="../media/image1.png"/><Relationship Id="rId7" Type="http://schemas.openxmlformats.org/officeDocument/2006/relationships/customXml" Target="../ink/ink3.xml"/><Relationship Id="rId12" Type="http://schemas.openxmlformats.org/officeDocument/2006/relationships/image" Target="../media/image380.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370.png"/><Relationship Id="rId4" Type="http://schemas.openxmlformats.org/officeDocument/2006/relationships/image" Target="../media/image49.png"/><Relationship Id="rId9" Type="http://schemas.openxmlformats.org/officeDocument/2006/relationships/customXml" Target="../ink/ink4.xml"/><Relationship Id="rId14" Type="http://schemas.openxmlformats.org/officeDocument/2006/relationships/image" Target="../media/image390.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hyperlink" Target="https://cookiecutter-data-science.drivendata.org/"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FBA8-49D0-5C27-74F1-6531DDD1E454}"/>
              </a:ext>
            </a:extLst>
          </p:cNvPr>
          <p:cNvSpPr>
            <a:spLocks noGrp="1"/>
          </p:cNvSpPr>
          <p:nvPr>
            <p:ph type="ctrTitle"/>
          </p:nvPr>
        </p:nvSpPr>
        <p:spPr>
          <a:xfrm>
            <a:off x="592346" y="1069166"/>
            <a:ext cx="9233140" cy="1721480"/>
          </a:xfrm>
        </p:spPr>
        <p:txBody>
          <a:bodyPr>
            <a:normAutofit fontScale="90000"/>
          </a:bodyPr>
          <a:lstStyle/>
          <a:p>
            <a:pPr algn="l"/>
            <a:r>
              <a:rPr lang="en-US" dirty="0" err="1"/>
              <a:t>Practising</a:t>
            </a:r>
            <a:r>
              <a:rPr lang="en-US" dirty="0"/>
              <a:t> </a:t>
            </a:r>
            <a:r>
              <a:rPr lang="en-US" dirty="0">
                <a:solidFill>
                  <a:srgbClr val="1891C3"/>
                </a:solidFill>
              </a:rPr>
              <a:t>data science </a:t>
            </a:r>
            <a:r>
              <a:rPr lang="en-US" dirty="0"/>
              <a:t>in the real world</a:t>
            </a:r>
          </a:p>
        </p:txBody>
      </p:sp>
      <p:sp>
        <p:nvSpPr>
          <p:cNvPr id="4" name="Title 1">
            <a:extLst>
              <a:ext uri="{FF2B5EF4-FFF2-40B4-BE49-F238E27FC236}">
                <a16:creationId xmlns:a16="http://schemas.microsoft.com/office/drawing/2014/main" id="{7639CE7A-2193-3944-85ED-DCAC999458B5}"/>
              </a:ext>
            </a:extLst>
          </p:cNvPr>
          <p:cNvSpPr txBox="1">
            <a:spLocks/>
          </p:cNvSpPr>
          <p:nvPr/>
        </p:nvSpPr>
        <p:spPr>
          <a:xfrm>
            <a:off x="592346" y="2765756"/>
            <a:ext cx="9233140" cy="66324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ontserrat" panose="00000500000000000000" pitchFamily="2" charset="0"/>
                <a:ea typeface="+mj-ea"/>
                <a:cs typeface="+mj-cs"/>
              </a:defRPr>
            </a:lvl1pPr>
          </a:lstStyle>
          <a:p>
            <a:pPr algn="l"/>
            <a:r>
              <a:rPr lang="fr-FR" sz="3600" dirty="0">
                <a:solidFill>
                  <a:schemeClr val="tx1">
                    <a:lumMod val="85000"/>
                    <a:lumOff val="15000"/>
                  </a:schemeClr>
                </a:solidFill>
              </a:rPr>
              <a:t>Limitations and challenges</a:t>
            </a:r>
          </a:p>
        </p:txBody>
      </p:sp>
      <p:sp>
        <p:nvSpPr>
          <p:cNvPr id="5" name="Title 1">
            <a:extLst>
              <a:ext uri="{FF2B5EF4-FFF2-40B4-BE49-F238E27FC236}">
                <a16:creationId xmlns:a16="http://schemas.microsoft.com/office/drawing/2014/main" id="{4D327680-D59A-1829-4F37-FD594062C0C7}"/>
              </a:ext>
            </a:extLst>
          </p:cNvPr>
          <p:cNvSpPr txBox="1">
            <a:spLocks/>
          </p:cNvSpPr>
          <p:nvPr/>
        </p:nvSpPr>
        <p:spPr>
          <a:xfrm>
            <a:off x="592346" y="5788834"/>
            <a:ext cx="9233140" cy="66324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ontserrat" panose="00000500000000000000" pitchFamily="2" charset="0"/>
                <a:ea typeface="+mj-ea"/>
                <a:cs typeface="+mj-cs"/>
              </a:defRPr>
            </a:lvl1pPr>
          </a:lstStyle>
          <a:p>
            <a:pPr algn="l"/>
            <a:r>
              <a:rPr lang="fr-FR" sz="2400" dirty="0">
                <a:solidFill>
                  <a:schemeClr val="tx1">
                    <a:lumMod val="85000"/>
                    <a:lumOff val="15000"/>
                  </a:schemeClr>
                </a:solidFill>
                <a:latin typeface="Source Sans Pro" panose="020B0503030403020204" pitchFamily="34" charset="0"/>
                <a:ea typeface="Source Sans Pro" panose="020B0503030403020204" pitchFamily="34" charset="0"/>
              </a:rPr>
              <a:t>Dimitri Scronias, ORS PACA</a:t>
            </a:r>
          </a:p>
        </p:txBody>
      </p:sp>
      <p:cxnSp>
        <p:nvCxnSpPr>
          <p:cNvPr id="7" name="Straight Connector 6">
            <a:extLst>
              <a:ext uri="{FF2B5EF4-FFF2-40B4-BE49-F238E27FC236}">
                <a16:creationId xmlns:a16="http://schemas.microsoft.com/office/drawing/2014/main" id="{E1A9D895-2CBC-D1D5-CD54-F6B0DB74487F}"/>
              </a:ext>
            </a:extLst>
          </p:cNvPr>
          <p:cNvCxnSpPr/>
          <p:nvPr/>
        </p:nvCxnSpPr>
        <p:spPr>
          <a:xfrm>
            <a:off x="744746" y="3597216"/>
            <a:ext cx="8928340" cy="0"/>
          </a:xfrm>
          <a:prstGeom prst="line">
            <a:avLst/>
          </a:prstGeom>
          <a:ln w="38100">
            <a:solidFill>
              <a:srgbClr val="7F7DB0"/>
            </a:solidFill>
          </a:ln>
        </p:spPr>
        <p:style>
          <a:lnRef idx="2">
            <a:schemeClr val="accent1"/>
          </a:lnRef>
          <a:fillRef idx="0">
            <a:schemeClr val="accent1"/>
          </a:fillRef>
          <a:effectRef idx="1">
            <a:schemeClr val="accent1"/>
          </a:effectRef>
          <a:fontRef idx="minor">
            <a:schemeClr val="tx1"/>
          </a:fontRef>
        </p:style>
      </p:cxnSp>
      <p:pic>
        <p:nvPicPr>
          <p:cNvPr id="3" name="Picture 2" descr="A blue and black background&#10;&#10;Description automatically generated">
            <a:extLst>
              <a:ext uri="{FF2B5EF4-FFF2-40B4-BE49-F238E27FC236}">
                <a16:creationId xmlns:a16="http://schemas.microsoft.com/office/drawing/2014/main" id="{BC847A3E-1BB3-678B-C086-19084DDF462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Espace réservé du numéro de diapositive 5">
            <a:extLst>
              <a:ext uri="{FF2B5EF4-FFF2-40B4-BE49-F238E27FC236}">
                <a16:creationId xmlns:a16="http://schemas.microsoft.com/office/drawing/2014/main" id="{A7AA57EC-277D-B415-B972-CC81FD362D62}"/>
              </a:ext>
            </a:extLst>
          </p:cNvPr>
          <p:cNvSpPr>
            <a:spLocks noGrp="1"/>
          </p:cNvSpPr>
          <p:nvPr>
            <p:ph type="sldNum" sz="quarter" idx="12"/>
          </p:nvPr>
        </p:nvSpPr>
        <p:spPr/>
        <p:txBody>
          <a:bodyPr/>
          <a:lstStyle/>
          <a:p>
            <a:fld id="{6F3806FF-9E51-4331-BB90-F49EFA1FA4FC}" type="slidenum">
              <a:rPr lang="fr-FR" smtClean="0"/>
              <a:t>1</a:t>
            </a:fld>
            <a:endParaRPr lang="fr-FR"/>
          </a:p>
        </p:txBody>
      </p:sp>
    </p:spTree>
    <p:extLst>
      <p:ext uri="{BB962C8B-B14F-4D97-AF65-F5344CB8AC3E}">
        <p14:creationId xmlns:p14="http://schemas.microsoft.com/office/powerpoint/2010/main" val="3437509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34A74-64CA-4689-9440-57450595CEEC}"/>
              </a:ext>
            </a:extLst>
          </p:cNvPr>
          <p:cNvSpPr>
            <a:spLocks noGrp="1"/>
          </p:cNvSpPr>
          <p:nvPr>
            <p:ph type="title"/>
          </p:nvPr>
        </p:nvSpPr>
        <p:spPr/>
        <p:txBody>
          <a:bodyPr/>
          <a:lstStyle/>
          <a:p>
            <a:r>
              <a:rPr lang="en-US"/>
              <a:t>What is this class about?</a:t>
            </a:r>
          </a:p>
        </p:txBody>
      </p:sp>
      <p:pic>
        <p:nvPicPr>
          <p:cNvPr id="8" name="Picture 7" descr="A blue and black background&#10;&#10;Description automatically generated">
            <a:extLst>
              <a:ext uri="{FF2B5EF4-FFF2-40B4-BE49-F238E27FC236}">
                <a16:creationId xmlns:a16="http://schemas.microsoft.com/office/drawing/2014/main" id="{D72DF58A-B902-84A7-AFEE-EE67197645C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3" name="Content Placeholder 5">
            <a:extLst>
              <a:ext uri="{FF2B5EF4-FFF2-40B4-BE49-F238E27FC236}">
                <a16:creationId xmlns:a16="http://schemas.microsoft.com/office/drawing/2014/main" id="{8C2F34D4-BBBF-E3A8-FA2E-2BB158F221E3}"/>
              </a:ext>
            </a:extLst>
          </p:cNvPr>
          <p:cNvSpPr>
            <a:spLocks noGrp="1"/>
          </p:cNvSpPr>
          <p:nvPr>
            <p:ph idx="1"/>
          </p:nvPr>
        </p:nvSpPr>
        <p:spPr>
          <a:xfrm>
            <a:off x="838199" y="1825625"/>
            <a:ext cx="10515599" cy="4351338"/>
          </a:xfrm>
        </p:spPr>
        <p:txBody>
          <a:bodyPr>
            <a:normAutofit/>
          </a:bodyPr>
          <a:lstStyle/>
          <a:p>
            <a:r>
              <a:rPr lang="en-US" dirty="0"/>
              <a:t>Make you think critically about data and statistical methods</a:t>
            </a:r>
          </a:p>
          <a:p>
            <a:r>
              <a:rPr lang="en-US" dirty="0"/>
              <a:t>Basics you should be able to do/think about as a statistician, data scientist, etc.</a:t>
            </a:r>
          </a:p>
          <a:p>
            <a:r>
              <a:rPr lang="en-US" dirty="0"/>
              <a:t>Issues and difficulties surrounding data you will encounter in your work</a:t>
            </a:r>
          </a:p>
          <a:p>
            <a:pPr lvl="1"/>
            <a:r>
              <a:rPr lang="en-US" dirty="0"/>
              <a:t>Mainly targeted to people working directly on raw data…</a:t>
            </a:r>
          </a:p>
          <a:p>
            <a:pPr lvl="1"/>
            <a:r>
              <a:rPr lang="en-US" dirty="0"/>
              <a:t>However, you can still benefit from it even if you won’t: everybody works using data at some point</a:t>
            </a:r>
          </a:p>
          <a:p>
            <a:r>
              <a:rPr lang="en-US" dirty="0"/>
              <a:t>Practical exercises using (mainly) dirty data</a:t>
            </a:r>
          </a:p>
        </p:txBody>
      </p:sp>
      <p:sp>
        <p:nvSpPr>
          <p:cNvPr id="4" name="Espace réservé du numéro de diapositive 3">
            <a:extLst>
              <a:ext uri="{FF2B5EF4-FFF2-40B4-BE49-F238E27FC236}">
                <a16:creationId xmlns:a16="http://schemas.microsoft.com/office/drawing/2014/main" id="{190E83C2-F38A-7B0B-B98D-79D364B5DD8A}"/>
              </a:ext>
            </a:extLst>
          </p:cNvPr>
          <p:cNvSpPr>
            <a:spLocks noGrp="1"/>
          </p:cNvSpPr>
          <p:nvPr>
            <p:ph type="sldNum" sz="quarter" idx="12"/>
          </p:nvPr>
        </p:nvSpPr>
        <p:spPr/>
        <p:txBody>
          <a:bodyPr/>
          <a:lstStyle/>
          <a:p>
            <a:fld id="{6F3806FF-9E51-4331-BB90-F49EFA1FA4FC}" type="slidenum">
              <a:rPr lang="fr-FR" smtClean="0"/>
              <a:t>2</a:t>
            </a:fld>
            <a:endParaRPr lang="fr-FR"/>
          </a:p>
        </p:txBody>
      </p:sp>
    </p:spTree>
    <p:extLst>
      <p:ext uri="{BB962C8B-B14F-4D97-AF65-F5344CB8AC3E}">
        <p14:creationId xmlns:p14="http://schemas.microsoft.com/office/powerpoint/2010/main" val="286789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34A74-64CA-4689-9440-57450595CEEC}"/>
              </a:ext>
            </a:extLst>
          </p:cNvPr>
          <p:cNvSpPr>
            <a:spLocks noGrp="1"/>
          </p:cNvSpPr>
          <p:nvPr>
            <p:ph type="title"/>
          </p:nvPr>
        </p:nvSpPr>
        <p:spPr/>
        <p:txBody>
          <a:bodyPr/>
          <a:lstStyle/>
          <a:p>
            <a:r>
              <a:rPr lang="en-US" dirty="0"/>
              <a:t>How I made this class</a:t>
            </a:r>
          </a:p>
        </p:txBody>
      </p:sp>
      <p:pic>
        <p:nvPicPr>
          <p:cNvPr id="8" name="Picture 7" descr="A blue and black background&#10;&#10;Description automatically generated">
            <a:extLst>
              <a:ext uri="{FF2B5EF4-FFF2-40B4-BE49-F238E27FC236}">
                <a16:creationId xmlns:a16="http://schemas.microsoft.com/office/drawing/2014/main" id="{D72DF58A-B902-84A7-AFEE-EE67197645C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3" name="Content Placeholder 5">
            <a:extLst>
              <a:ext uri="{FF2B5EF4-FFF2-40B4-BE49-F238E27FC236}">
                <a16:creationId xmlns:a16="http://schemas.microsoft.com/office/drawing/2014/main" id="{7D0963FB-8348-92D3-7A5A-532300DB859E}"/>
              </a:ext>
            </a:extLst>
          </p:cNvPr>
          <p:cNvSpPr>
            <a:spLocks noGrp="1"/>
          </p:cNvSpPr>
          <p:nvPr>
            <p:ph idx="1"/>
          </p:nvPr>
        </p:nvSpPr>
        <p:spPr>
          <a:xfrm>
            <a:off x="838199" y="1825625"/>
            <a:ext cx="10515599" cy="4895850"/>
          </a:xfrm>
        </p:spPr>
        <p:txBody>
          <a:bodyPr>
            <a:normAutofit/>
          </a:bodyPr>
          <a:lstStyle/>
          <a:p>
            <a:r>
              <a:rPr lang="en-US" dirty="0">
                <a:solidFill>
                  <a:srgbClr val="7F7DB0"/>
                </a:solidFill>
              </a:rPr>
              <a:t>Multiple books</a:t>
            </a:r>
            <a:r>
              <a:rPr lang="en-US" dirty="0"/>
              <a:t>, which I reference throughout the course (have a look at them!)</a:t>
            </a:r>
          </a:p>
          <a:p>
            <a:r>
              <a:rPr lang="en-US" dirty="0"/>
              <a:t>My personal experience, stuff I wish I knew when I started working</a:t>
            </a:r>
          </a:p>
          <a:p>
            <a:r>
              <a:rPr lang="en-US" dirty="0"/>
              <a:t>Issues/problems I think you should be aware about as a DS/stat</a:t>
            </a:r>
          </a:p>
          <a:p>
            <a:pPr lvl="1"/>
            <a:r>
              <a:rPr lang="en-US" dirty="0"/>
              <a:t>Though nobody will expect you to be experts on these subjects!</a:t>
            </a:r>
          </a:p>
          <a:p>
            <a:r>
              <a:rPr lang="en-US" dirty="0"/>
              <a:t>What I would like you to know if I were to interview you for a stat/DS position</a:t>
            </a:r>
          </a:p>
          <a:p>
            <a:r>
              <a:rPr lang="en-US" dirty="0"/>
              <a:t>Also, my goal is mainly to make you employable as a stat/DS, and give you a rundown of common challenges, possible solutions and good resources in a condensed format</a:t>
            </a:r>
          </a:p>
        </p:txBody>
      </p:sp>
      <p:sp>
        <p:nvSpPr>
          <p:cNvPr id="4" name="Espace réservé du numéro de diapositive 3">
            <a:extLst>
              <a:ext uri="{FF2B5EF4-FFF2-40B4-BE49-F238E27FC236}">
                <a16:creationId xmlns:a16="http://schemas.microsoft.com/office/drawing/2014/main" id="{3664BB18-5A99-D75B-779D-4855592BAB64}"/>
              </a:ext>
            </a:extLst>
          </p:cNvPr>
          <p:cNvSpPr>
            <a:spLocks noGrp="1"/>
          </p:cNvSpPr>
          <p:nvPr>
            <p:ph type="sldNum" sz="quarter" idx="12"/>
          </p:nvPr>
        </p:nvSpPr>
        <p:spPr/>
        <p:txBody>
          <a:bodyPr/>
          <a:lstStyle/>
          <a:p>
            <a:fld id="{6F3806FF-9E51-4331-BB90-F49EFA1FA4FC}" type="slidenum">
              <a:rPr lang="fr-FR" smtClean="0"/>
              <a:t>3</a:t>
            </a:fld>
            <a:endParaRPr lang="fr-FR"/>
          </a:p>
        </p:txBody>
      </p:sp>
    </p:spTree>
    <p:extLst>
      <p:ext uri="{BB962C8B-B14F-4D97-AF65-F5344CB8AC3E}">
        <p14:creationId xmlns:p14="http://schemas.microsoft.com/office/powerpoint/2010/main" val="145612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8BFED-7C0B-B5E2-649D-84E0B0EAED8D}"/>
            </a:ext>
          </a:extLst>
        </p:cNvPr>
        <p:cNvGrpSpPr/>
        <p:nvPr/>
      </p:nvGrpSpPr>
      <p:grpSpPr>
        <a:xfrm>
          <a:off x="0" y="0"/>
          <a:ext cx="0" cy="0"/>
          <a:chOff x="0" y="0"/>
          <a:chExt cx="0" cy="0"/>
        </a:xfrm>
      </p:grpSpPr>
      <p:pic>
        <p:nvPicPr>
          <p:cNvPr id="8" name="Picture 7" descr="A blue and black background&#10;&#10;Description automatically generated">
            <a:extLst>
              <a:ext uri="{FF2B5EF4-FFF2-40B4-BE49-F238E27FC236}">
                <a16:creationId xmlns:a16="http://schemas.microsoft.com/office/drawing/2014/main" id="{7C981D46-216B-FBE2-BD54-29B4F633F66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2A398854-4952-20DF-299E-CC5CCE627366}"/>
              </a:ext>
            </a:extLst>
          </p:cNvPr>
          <p:cNvSpPr>
            <a:spLocks noGrp="1"/>
          </p:cNvSpPr>
          <p:nvPr>
            <p:ph type="title"/>
          </p:nvPr>
        </p:nvSpPr>
        <p:spPr/>
        <p:txBody>
          <a:bodyPr/>
          <a:lstStyle/>
          <a:p>
            <a:r>
              <a:rPr lang="en-US" dirty="0"/>
              <a:t>On the matter of books</a:t>
            </a:r>
          </a:p>
        </p:txBody>
      </p:sp>
      <p:sp>
        <p:nvSpPr>
          <p:cNvPr id="3" name="Content Placeholder 5">
            <a:extLst>
              <a:ext uri="{FF2B5EF4-FFF2-40B4-BE49-F238E27FC236}">
                <a16:creationId xmlns:a16="http://schemas.microsoft.com/office/drawing/2014/main" id="{8185E0C6-BB53-7B90-EE38-C5AA8CC9E0AE}"/>
              </a:ext>
            </a:extLst>
          </p:cNvPr>
          <p:cNvSpPr>
            <a:spLocks noGrp="1"/>
          </p:cNvSpPr>
          <p:nvPr>
            <p:ph idx="1"/>
          </p:nvPr>
        </p:nvSpPr>
        <p:spPr>
          <a:xfrm>
            <a:off x="838199" y="1825625"/>
            <a:ext cx="10515599" cy="2029047"/>
          </a:xfrm>
        </p:spPr>
        <p:txBody>
          <a:bodyPr>
            <a:normAutofit/>
          </a:bodyPr>
          <a:lstStyle/>
          <a:p>
            <a:r>
              <a:rPr lang="en-US" dirty="0"/>
              <a:t>Whenever I can, I try to reference </a:t>
            </a:r>
            <a:r>
              <a:rPr lang="en-US" dirty="0">
                <a:solidFill>
                  <a:srgbClr val="7F7DB0"/>
                </a:solidFill>
              </a:rPr>
              <a:t>free books </a:t>
            </a:r>
            <a:r>
              <a:rPr lang="en-US" dirty="0"/>
              <a:t>that you can find online</a:t>
            </a:r>
          </a:p>
          <a:p>
            <a:r>
              <a:rPr lang="en-US" dirty="0"/>
              <a:t>Some of these are </a:t>
            </a:r>
            <a:r>
              <a:rPr lang="en-US" dirty="0">
                <a:solidFill>
                  <a:srgbClr val="7F7DB0"/>
                </a:solidFill>
              </a:rPr>
              <a:t>paid</a:t>
            </a:r>
          </a:p>
          <a:p>
            <a:r>
              <a:rPr lang="en-US" dirty="0"/>
              <a:t>Check this </a:t>
            </a:r>
            <a:r>
              <a:rPr lang="en-US" i="1" dirty="0"/>
              <a:t>Le Monde </a:t>
            </a:r>
            <a:r>
              <a:rPr lang="en-US" dirty="0"/>
              <a:t>article</a:t>
            </a:r>
            <a:endParaRPr lang="en-US" i="1" dirty="0"/>
          </a:p>
          <a:p>
            <a:pPr lvl="1"/>
            <a:r>
              <a:rPr lang="en-US" dirty="0"/>
              <a:t>I’m not suggesting nor condoning anything</a:t>
            </a:r>
            <a:endParaRPr lang="en-US" i="1" dirty="0">
              <a:solidFill>
                <a:srgbClr val="7F7DB0"/>
              </a:solidFill>
            </a:endParaRPr>
          </a:p>
          <a:p>
            <a:endParaRPr lang="en-US" dirty="0">
              <a:solidFill>
                <a:srgbClr val="7F7DB0"/>
              </a:solidFill>
            </a:endParaRPr>
          </a:p>
        </p:txBody>
      </p:sp>
      <p:sp>
        <p:nvSpPr>
          <p:cNvPr id="4" name="Espace réservé du numéro de diapositive 3">
            <a:extLst>
              <a:ext uri="{FF2B5EF4-FFF2-40B4-BE49-F238E27FC236}">
                <a16:creationId xmlns:a16="http://schemas.microsoft.com/office/drawing/2014/main" id="{E2490904-6FD0-37A5-28F1-EA4070BF7D53}"/>
              </a:ext>
            </a:extLst>
          </p:cNvPr>
          <p:cNvSpPr>
            <a:spLocks noGrp="1"/>
          </p:cNvSpPr>
          <p:nvPr>
            <p:ph type="sldNum" sz="quarter" idx="12"/>
          </p:nvPr>
        </p:nvSpPr>
        <p:spPr/>
        <p:txBody>
          <a:bodyPr/>
          <a:lstStyle/>
          <a:p>
            <a:fld id="{6F3806FF-9E51-4331-BB90-F49EFA1FA4FC}" type="slidenum">
              <a:rPr lang="fr-FR" smtClean="0"/>
              <a:t>4</a:t>
            </a:fld>
            <a:endParaRPr lang="fr-FR"/>
          </a:p>
        </p:txBody>
      </p:sp>
      <p:grpSp>
        <p:nvGrpSpPr>
          <p:cNvPr id="13" name="Groupe 12">
            <a:extLst>
              <a:ext uri="{FF2B5EF4-FFF2-40B4-BE49-F238E27FC236}">
                <a16:creationId xmlns:a16="http://schemas.microsoft.com/office/drawing/2014/main" id="{1A97E77F-7239-716A-B664-DABCE44E0243}"/>
              </a:ext>
            </a:extLst>
          </p:cNvPr>
          <p:cNvGrpSpPr/>
          <p:nvPr/>
        </p:nvGrpSpPr>
        <p:grpSpPr>
          <a:xfrm>
            <a:off x="838199" y="3922141"/>
            <a:ext cx="8810247" cy="2799334"/>
            <a:chOff x="882392" y="3557016"/>
            <a:chExt cx="8810247" cy="2799334"/>
          </a:xfrm>
        </p:grpSpPr>
        <p:sp>
          <p:nvSpPr>
            <p:cNvPr id="12" name="Rectangle 11">
              <a:extLst>
                <a:ext uri="{FF2B5EF4-FFF2-40B4-BE49-F238E27FC236}">
                  <a16:creationId xmlns:a16="http://schemas.microsoft.com/office/drawing/2014/main" id="{0595E8E4-40B2-83ED-9E6D-E0CC8AF7C94B}"/>
                </a:ext>
              </a:extLst>
            </p:cNvPr>
            <p:cNvSpPr/>
            <p:nvPr/>
          </p:nvSpPr>
          <p:spPr>
            <a:xfrm>
              <a:off x="882392" y="3557016"/>
              <a:ext cx="8810247" cy="2799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658DEA8D-BEC4-D90E-BAAB-6A71E4CD2962}"/>
                </a:ext>
              </a:extLst>
            </p:cNvPr>
            <p:cNvPicPr>
              <a:picLocks noChangeAspect="1"/>
            </p:cNvPicPr>
            <p:nvPr/>
          </p:nvPicPr>
          <p:blipFill>
            <a:blip r:embed="rId4"/>
            <a:srcRect t="18638"/>
            <a:stretch>
              <a:fillRect/>
            </a:stretch>
          </p:blipFill>
          <p:spPr>
            <a:xfrm>
              <a:off x="920493" y="4240688"/>
              <a:ext cx="8763000" cy="2115662"/>
            </a:xfrm>
            <a:prstGeom prst="rect">
              <a:avLst/>
            </a:prstGeom>
          </p:spPr>
        </p:pic>
        <p:pic>
          <p:nvPicPr>
            <p:cNvPr id="11" name="Image 10">
              <a:extLst>
                <a:ext uri="{FF2B5EF4-FFF2-40B4-BE49-F238E27FC236}">
                  <a16:creationId xmlns:a16="http://schemas.microsoft.com/office/drawing/2014/main" id="{F6744B8F-723F-898F-4618-C24E6F7F465D}"/>
                </a:ext>
              </a:extLst>
            </p:cNvPr>
            <p:cNvPicPr>
              <a:picLocks noChangeAspect="1"/>
            </p:cNvPicPr>
            <p:nvPr/>
          </p:nvPicPr>
          <p:blipFill>
            <a:blip r:embed="rId5"/>
            <a:stretch>
              <a:fillRect/>
            </a:stretch>
          </p:blipFill>
          <p:spPr>
            <a:xfrm>
              <a:off x="1039172" y="3592194"/>
              <a:ext cx="2762250" cy="581025"/>
            </a:xfrm>
            <a:prstGeom prst="rect">
              <a:avLst/>
            </a:prstGeom>
          </p:spPr>
        </p:pic>
      </p:grpSp>
    </p:spTree>
    <p:extLst>
      <p:ext uri="{BB962C8B-B14F-4D97-AF65-F5344CB8AC3E}">
        <p14:creationId xmlns:p14="http://schemas.microsoft.com/office/powerpoint/2010/main" val="402363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blue and black background&#10;&#10;Description automatically generated">
            <a:extLst>
              <a:ext uri="{FF2B5EF4-FFF2-40B4-BE49-F238E27FC236}">
                <a16:creationId xmlns:a16="http://schemas.microsoft.com/office/drawing/2014/main" id="{EE73EC2C-F8B7-85F8-14D1-13363427C82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cxnSp>
        <p:nvCxnSpPr>
          <p:cNvPr id="16" name="Straight Connector 15">
            <a:extLst>
              <a:ext uri="{FF2B5EF4-FFF2-40B4-BE49-F238E27FC236}">
                <a16:creationId xmlns:a16="http://schemas.microsoft.com/office/drawing/2014/main" id="{2A1FBCAD-72C3-ED3B-364E-019A0064F488}"/>
              </a:ext>
            </a:extLst>
          </p:cNvPr>
          <p:cNvCxnSpPr>
            <a:cxnSpLocks/>
            <a:endCxn id="6" idx="4"/>
          </p:cNvCxnSpPr>
          <p:nvPr/>
        </p:nvCxnSpPr>
        <p:spPr>
          <a:xfrm>
            <a:off x="1269968" y="2544521"/>
            <a:ext cx="0" cy="3482151"/>
          </a:xfrm>
          <a:prstGeom prst="line">
            <a:avLst/>
          </a:prstGeom>
          <a:ln w="38100">
            <a:solidFill>
              <a:srgbClr val="7F7DB0"/>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DEF34A74-64CA-4689-9440-57450595CEEC}"/>
              </a:ext>
            </a:extLst>
          </p:cNvPr>
          <p:cNvSpPr>
            <a:spLocks noGrp="1"/>
          </p:cNvSpPr>
          <p:nvPr>
            <p:ph type="title"/>
          </p:nvPr>
        </p:nvSpPr>
        <p:spPr/>
        <p:txBody>
          <a:bodyPr/>
          <a:lstStyle/>
          <a:p>
            <a:r>
              <a:rPr lang="en-GB" dirty="0"/>
              <a:t>Who am I?</a:t>
            </a:r>
          </a:p>
        </p:txBody>
      </p:sp>
      <p:grpSp>
        <p:nvGrpSpPr>
          <p:cNvPr id="13" name="Group 12">
            <a:extLst>
              <a:ext uri="{FF2B5EF4-FFF2-40B4-BE49-F238E27FC236}">
                <a16:creationId xmlns:a16="http://schemas.microsoft.com/office/drawing/2014/main" id="{08058C5E-C9A3-E6B8-AD0E-E86E5A6C760B}"/>
              </a:ext>
            </a:extLst>
          </p:cNvPr>
          <p:cNvGrpSpPr/>
          <p:nvPr/>
        </p:nvGrpSpPr>
        <p:grpSpPr>
          <a:xfrm>
            <a:off x="840829" y="2824481"/>
            <a:ext cx="858278" cy="858278"/>
            <a:chOff x="840829" y="2631907"/>
            <a:chExt cx="858278" cy="858278"/>
          </a:xfrm>
        </p:grpSpPr>
        <p:sp>
          <p:nvSpPr>
            <p:cNvPr id="3" name="Oval 2">
              <a:extLst>
                <a:ext uri="{FF2B5EF4-FFF2-40B4-BE49-F238E27FC236}">
                  <a16:creationId xmlns:a16="http://schemas.microsoft.com/office/drawing/2014/main" id="{0C351499-2A73-2784-E379-4C7743DBA761}"/>
                </a:ext>
              </a:extLst>
            </p:cNvPr>
            <p:cNvSpPr/>
            <p:nvPr/>
          </p:nvSpPr>
          <p:spPr>
            <a:xfrm>
              <a:off x="840829" y="2631907"/>
              <a:ext cx="858278" cy="858278"/>
            </a:xfrm>
            <a:prstGeom prst="ellipse">
              <a:avLst/>
            </a:prstGeom>
            <a:solidFill>
              <a:srgbClr val="7F7D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descr="Briefcase with solid fill">
              <a:extLst>
                <a:ext uri="{FF2B5EF4-FFF2-40B4-BE49-F238E27FC236}">
                  <a16:creationId xmlns:a16="http://schemas.microsoft.com/office/drawing/2014/main" id="{9D78E848-A9D0-A37A-C480-C2BB9DC4D6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512" y="2690152"/>
              <a:ext cx="736969" cy="736969"/>
            </a:xfrm>
            <a:prstGeom prst="rect">
              <a:avLst/>
            </a:prstGeom>
          </p:spPr>
        </p:pic>
      </p:grpSp>
      <p:grpSp>
        <p:nvGrpSpPr>
          <p:cNvPr id="14" name="Group 13">
            <a:extLst>
              <a:ext uri="{FF2B5EF4-FFF2-40B4-BE49-F238E27FC236}">
                <a16:creationId xmlns:a16="http://schemas.microsoft.com/office/drawing/2014/main" id="{755E7122-35EC-453A-2212-FAED72883D0C}"/>
              </a:ext>
            </a:extLst>
          </p:cNvPr>
          <p:cNvGrpSpPr/>
          <p:nvPr/>
        </p:nvGrpSpPr>
        <p:grpSpPr>
          <a:xfrm>
            <a:off x="840829" y="5168394"/>
            <a:ext cx="858278" cy="858278"/>
            <a:chOff x="840829" y="4832092"/>
            <a:chExt cx="858278" cy="858278"/>
          </a:xfrm>
        </p:grpSpPr>
        <p:sp>
          <p:nvSpPr>
            <p:cNvPr id="6" name="Oval 5">
              <a:extLst>
                <a:ext uri="{FF2B5EF4-FFF2-40B4-BE49-F238E27FC236}">
                  <a16:creationId xmlns:a16="http://schemas.microsoft.com/office/drawing/2014/main" id="{ADCBF2A0-89C7-FBAA-738C-98B1CF49ACC1}"/>
                </a:ext>
              </a:extLst>
            </p:cNvPr>
            <p:cNvSpPr/>
            <p:nvPr/>
          </p:nvSpPr>
          <p:spPr>
            <a:xfrm>
              <a:off x="840829" y="4832092"/>
              <a:ext cx="858278" cy="858278"/>
            </a:xfrm>
            <a:prstGeom prst="ellipse">
              <a:avLst/>
            </a:prstGeom>
            <a:solidFill>
              <a:srgbClr val="7F7D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descr="Graduation cap with solid fill">
              <a:extLst>
                <a:ext uri="{FF2B5EF4-FFF2-40B4-BE49-F238E27FC236}">
                  <a16:creationId xmlns:a16="http://schemas.microsoft.com/office/drawing/2014/main" id="{07856C37-028E-1766-E7EF-70A34C9A1B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0968" y="4890337"/>
              <a:ext cx="738000" cy="738000"/>
            </a:xfrm>
            <a:prstGeom prst="rect">
              <a:avLst/>
            </a:prstGeom>
          </p:spPr>
        </p:pic>
      </p:grpSp>
      <p:sp>
        <p:nvSpPr>
          <p:cNvPr id="18" name="Content Placeholder 2">
            <a:extLst>
              <a:ext uri="{FF2B5EF4-FFF2-40B4-BE49-F238E27FC236}">
                <a16:creationId xmlns:a16="http://schemas.microsoft.com/office/drawing/2014/main" id="{DF566759-EA5B-1C6B-4BF1-12DFEFC44AFD}"/>
              </a:ext>
            </a:extLst>
          </p:cNvPr>
          <p:cNvSpPr>
            <a:spLocks noGrp="1"/>
          </p:cNvSpPr>
          <p:nvPr>
            <p:ph idx="1"/>
          </p:nvPr>
        </p:nvSpPr>
        <p:spPr>
          <a:xfrm>
            <a:off x="1867440" y="3032443"/>
            <a:ext cx="9829260" cy="1620837"/>
          </a:xfrm>
        </p:spPr>
        <p:txBody>
          <a:bodyPr/>
          <a:lstStyle/>
          <a:p>
            <a:pPr marL="0" indent="0" defTabSz="717550">
              <a:buNone/>
            </a:pPr>
            <a:r>
              <a:rPr lang="fr-FR" dirty="0"/>
              <a:t>2021–26 	Assistance Publique – Hôpitaux de Marseille, ORS PACA</a:t>
            </a:r>
          </a:p>
          <a:p>
            <a:pPr marL="514350" indent="-514350" defTabSz="717550">
              <a:buAutoNum type="arabicPlain" startAt="2021"/>
            </a:pPr>
            <a:r>
              <a:rPr lang="fr-FR" dirty="0"/>
              <a:t> 	</a:t>
            </a:r>
            <a:r>
              <a:rPr lang="fr-FR" dirty="0" err="1"/>
              <a:t>Soladis</a:t>
            </a:r>
            <a:r>
              <a:rPr lang="fr-FR" dirty="0"/>
              <a:t> Group, ATIH</a:t>
            </a:r>
          </a:p>
          <a:p>
            <a:pPr marL="0" indent="0" defTabSz="717550">
              <a:buNone/>
            </a:pPr>
            <a:r>
              <a:rPr lang="fr-FR" dirty="0"/>
              <a:t>2019–21 	Assistance Publique – Hôpitaux de Paris, ORS PACA</a:t>
            </a:r>
          </a:p>
          <a:p>
            <a:pPr marL="514350" indent="-514350" defTabSz="717550">
              <a:buAutoNum type="arabicPlain" startAt="2021"/>
            </a:pPr>
            <a:endParaRPr lang="fr-FR" dirty="0"/>
          </a:p>
          <a:p>
            <a:pPr marL="0" indent="0">
              <a:buNone/>
            </a:pPr>
            <a:endParaRPr lang="en-GB" dirty="0"/>
          </a:p>
        </p:txBody>
      </p:sp>
      <p:sp>
        <p:nvSpPr>
          <p:cNvPr id="19" name="Content Placeholder 2">
            <a:extLst>
              <a:ext uri="{FF2B5EF4-FFF2-40B4-BE49-F238E27FC236}">
                <a16:creationId xmlns:a16="http://schemas.microsoft.com/office/drawing/2014/main" id="{41379F29-FCAB-8C8A-2EE9-BE1DA2DED362}"/>
              </a:ext>
            </a:extLst>
          </p:cNvPr>
          <p:cNvSpPr txBox="1">
            <a:spLocks/>
          </p:cNvSpPr>
          <p:nvPr/>
        </p:nvSpPr>
        <p:spPr>
          <a:xfrm>
            <a:off x="1867440" y="5369242"/>
            <a:ext cx="9829260" cy="1620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17550">
              <a:buFont typeface="Arial" panose="020B0604020202020204" pitchFamily="34" charset="0"/>
              <a:buNone/>
            </a:pPr>
            <a:r>
              <a:rPr lang="fr-FR" dirty="0"/>
              <a:t>2021 	DESU Data Science, AMSE</a:t>
            </a:r>
          </a:p>
          <a:p>
            <a:pPr marL="0" indent="0" defTabSz="717550">
              <a:buNone/>
            </a:pPr>
            <a:r>
              <a:rPr lang="fr-FR" dirty="0"/>
              <a:t>2019 	M2 </a:t>
            </a:r>
            <a:r>
              <a:rPr lang="fr-FR" dirty="0" err="1"/>
              <a:t>Economics</a:t>
            </a:r>
            <a:r>
              <a:rPr lang="fr-FR" dirty="0"/>
              <a:t> – </a:t>
            </a:r>
            <a:r>
              <a:rPr lang="fr-FR" dirty="0" err="1"/>
              <a:t>Economic</a:t>
            </a:r>
            <a:r>
              <a:rPr lang="fr-FR" dirty="0"/>
              <a:t> </a:t>
            </a:r>
            <a:r>
              <a:rPr lang="fr-FR" dirty="0" err="1"/>
              <a:t>Policies</a:t>
            </a:r>
            <a:r>
              <a:rPr lang="fr-FR" dirty="0"/>
              <a:t> </a:t>
            </a:r>
            <a:r>
              <a:rPr lang="fr-FR" dirty="0" err="1"/>
              <a:t>Analysis</a:t>
            </a:r>
            <a:r>
              <a:rPr lang="fr-FR" dirty="0"/>
              <a:t>, AMSE</a:t>
            </a:r>
          </a:p>
          <a:p>
            <a:pPr marL="0" indent="0">
              <a:buFont typeface="Arial" panose="020B0604020202020204" pitchFamily="34" charset="0"/>
              <a:buNone/>
            </a:pPr>
            <a:endParaRPr lang="en-GB" dirty="0"/>
          </a:p>
        </p:txBody>
      </p:sp>
      <p:sp>
        <p:nvSpPr>
          <p:cNvPr id="4" name="Espace réservé du numéro de diapositive 3">
            <a:extLst>
              <a:ext uri="{FF2B5EF4-FFF2-40B4-BE49-F238E27FC236}">
                <a16:creationId xmlns:a16="http://schemas.microsoft.com/office/drawing/2014/main" id="{0D102A25-F2F5-F7E0-A947-BEBEE5179007}"/>
              </a:ext>
            </a:extLst>
          </p:cNvPr>
          <p:cNvSpPr>
            <a:spLocks noGrp="1"/>
          </p:cNvSpPr>
          <p:nvPr>
            <p:ph type="sldNum" sz="quarter" idx="12"/>
          </p:nvPr>
        </p:nvSpPr>
        <p:spPr/>
        <p:txBody>
          <a:bodyPr/>
          <a:lstStyle/>
          <a:p>
            <a:fld id="{6F3806FF-9E51-4331-BB90-F49EFA1FA4FC}" type="slidenum">
              <a:rPr lang="fr-FR" smtClean="0"/>
              <a:t>5</a:t>
            </a:fld>
            <a:endParaRPr lang="fr-FR"/>
          </a:p>
        </p:txBody>
      </p:sp>
      <p:pic>
        <p:nvPicPr>
          <p:cNvPr id="11" name="Image 10" descr="Une image contenant Visage humain, étagère, livre, bibliothèque&#10;&#10;Le contenu généré par l’IA peut être incorrect.">
            <a:extLst>
              <a:ext uri="{FF2B5EF4-FFF2-40B4-BE49-F238E27FC236}">
                <a16:creationId xmlns:a16="http://schemas.microsoft.com/office/drawing/2014/main" id="{12FC25C9-5D52-9651-CAEB-B6694055E605}"/>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2496" y="1391967"/>
            <a:ext cx="1194944" cy="1313404"/>
          </a:xfrm>
          <a:prstGeom prst="rect">
            <a:avLst/>
          </a:prstGeom>
        </p:spPr>
      </p:pic>
    </p:spTree>
    <p:extLst>
      <p:ext uri="{BB962C8B-B14F-4D97-AF65-F5344CB8AC3E}">
        <p14:creationId xmlns:p14="http://schemas.microsoft.com/office/powerpoint/2010/main" val="2145127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blue and black background&#10;&#10;Description automatically generated">
            <a:extLst>
              <a:ext uri="{FF2B5EF4-FFF2-40B4-BE49-F238E27FC236}">
                <a16:creationId xmlns:a16="http://schemas.microsoft.com/office/drawing/2014/main" id="{EE73EC2C-F8B7-85F8-14D1-13363427C82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DEF34A74-64CA-4689-9440-57450595CEEC}"/>
              </a:ext>
            </a:extLst>
          </p:cNvPr>
          <p:cNvSpPr>
            <a:spLocks noGrp="1"/>
          </p:cNvSpPr>
          <p:nvPr>
            <p:ph type="title"/>
          </p:nvPr>
        </p:nvSpPr>
        <p:spPr/>
        <p:txBody>
          <a:bodyPr/>
          <a:lstStyle/>
          <a:p>
            <a:r>
              <a:rPr lang="en-GB" dirty="0"/>
              <a:t>Stuff I have worked on</a:t>
            </a:r>
          </a:p>
        </p:txBody>
      </p:sp>
      <p:sp>
        <p:nvSpPr>
          <p:cNvPr id="8" name="Content Placeholder 7">
            <a:extLst>
              <a:ext uri="{FF2B5EF4-FFF2-40B4-BE49-F238E27FC236}">
                <a16:creationId xmlns:a16="http://schemas.microsoft.com/office/drawing/2014/main" id="{39061C6E-665D-B871-386E-A74A6A05C72A}"/>
              </a:ext>
            </a:extLst>
          </p:cNvPr>
          <p:cNvSpPr>
            <a:spLocks noGrp="1"/>
          </p:cNvSpPr>
          <p:nvPr>
            <p:ph idx="1"/>
          </p:nvPr>
        </p:nvSpPr>
        <p:spPr>
          <a:xfrm>
            <a:off x="838200" y="1825624"/>
            <a:ext cx="10934700" cy="4784725"/>
          </a:xfrm>
        </p:spPr>
        <p:txBody>
          <a:bodyPr>
            <a:normAutofit/>
          </a:bodyPr>
          <a:lstStyle/>
          <a:p>
            <a:r>
              <a:rPr lang="fr-FR" dirty="0">
                <a:solidFill>
                  <a:srgbClr val="1891C3"/>
                </a:solidFill>
              </a:rPr>
              <a:t>Vaccination</a:t>
            </a:r>
          </a:p>
          <a:p>
            <a:pPr lvl="1"/>
            <a:r>
              <a:rPr lang="en-GB" dirty="0"/>
              <a:t>Opinions and practices of healthcare workers </a:t>
            </a:r>
            <a:br>
              <a:rPr lang="en-GB" dirty="0"/>
            </a:br>
            <a:r>
              <a:rPr lang="en-GB" dirty="0"/>
              <a:t>(general practitioners, nurses, specialists) </a:t>
            </a:r>
            <a:r>
              <a:rPr lang="en-GB" dirty="0" err="1"/>
              <a:t>w.r.t.</a:t>
            </a:r>
            <a:r>
              <a:rPr lang="en-GB" dirty="0"/>
              <a:t> </a:t>
            </a:r>
            <a:br>
              <a:rPr lang="en-GB" dirty="0"/>
            </a:br>
            <a:r>
              <a:rPr lang="en-GB" dirty="0"/>
              <a:t>vaccination</a:t>
            </a:r>
          </a:p>
          <a:p>
            <a:pPr lvl="1"/>
            <a:r>
              <a:rPr lang="en-GB" dirty="0"/>
              <a:t>GPs’ recommendations practices of COVID-19</a:t>
            </a:r>
            <a:br>
              <a:rPr lang="en-GB" dirty="0"/>
            </a:br>
            <a:r>
              <a:rPr lang="en-GB" dirty="0"/>
              <a:t>vaccines</a:t>
            </a:r>
          </a:p>
          <a:p>
            <a:pPr lvl="1"/>
            <a:r>
              <a:rPr lang="en-GB" dirty="0"/>
              <a:t>Vaccine coverage and delays among French </a:t>
            </a:r>
            <a:br>
              <a:rPr lang="en-GB" dirty="0"/>
            </a:br>
            <a:r>
              <a:rPr lang="en-GB" dirty="0"/>
              <a:t>children</a:t>
            </a:r>
          </a:p>
          <a:p>
            <a:r>
              <a:rPr lang="en-GB" dirty="0">
                <a:solidFill>
                  <a:srgbClr val="1891C3"/>
                </a:solidFill>
              </a:rPr>
              <a:t>Emergency services’</a:t>
            </a:r>
            <a:r>
              <a:rPr lang="en-GB" dirty="0"/>
              <a:t> quality of care, pressure, classification of diseases</a:t>
            </a:r>
          </a:p>
          <a:p>
            <a:r>
              <a:rPr lang="en-GB" dirty="0"/>
              <a:t>Current big thing: </a:t>
            </a:r>
            <a:r>
              <a:rPr lang="en-GB" dirty="0" err="1">
                <a:solidFill>
                  <a:srgbClr val="1891C3"/>
                </a:solidFill>
              </a:rPr>
              <a:t>soins</a:t>
            </a:r>
            <a:r>
              <a:rPr lang="en-GB" dirty="0">
                <a:solidFill>
                  <a:srgbClr val="1891C3"/>
                </a:solidFill>
              </a:rPr>
              <a:t> non-</a:t>
            </a:r>
            <a:r>
              <a:rPr lang="en-GB" dirty="0" err="1">
                <a:solidFill>
                  <a:srgbClr val="1891C3"/>
                </a:solidFill>
              </a:rPr>
              <a:t>programmés</a:t>
            </a:r>
            <a:r>
              <a:rPr lang="en-GB" dirty="0"/>
              <a:t> (unscheduled care)</a:t>
            </a:r>
          </a:p>
          <a:p>
            <a:endParaRPr lang="en-GB" dirty="0"/>
          </a:p>
        </p:txBody>
      </p:sp>
      <p:sp>
        <p:nvSpPr>
          <p:cNvPr id="3" name="Espace réservé du numéro de diapositive 2">
            <a:extLst>
              <a:ext uri="{FF2B5EF4-FFF2-40B4-BE49-F238E27FC236}">
                <a16:creationId xmlns:a16="http://schemas.microsoft.com/office/drawing/2014/main" id="{4D70A565-DE59-2476-5891-E0DF356E16A8}"/>
              </a:ext>
            </a:extLst>
          </p:cNvPr>
          <p:cNvSpPr>
            <a:spLocks noGrp="1"/>
          </p:cNvSpPr>
          <p:nvPr>
            <p:ph type="sldNum" sz="quarter" idx="12"/>
          </p:nvPr>
        </p:nvSpPr>
        <p:spPr/>
        <p:txBody>
          <a:bodyPr/>
          <a:lstStyle/>
          <a:p>
            <a:fld id="{6F3806FF-9E51-4331-BB90-F49EFA1FA4FC}" type="slidenum">
              <a:rPr lang="fr-FR" smtClean="0"/>
              <a:t>6</a:t>
            </a:fld>
            <a:endParaRPr lang="fr-FR"/>
          </a:p>
        </p:txBody>
      </p:sp>
      <p:grpSp>
        <p:nvGrpSpPr>
          <p:cNvPr id="18" name="Groupe 17">
            <a:extLst>
              <a:ext uri="{FF2B5EF4-FFF2-40B4-BE49-F238E27FC236}">
                <a16:creationId xmlns:a16="http://schemas.microsoft.com/office/drawing/2014/main" id="{CB450A55-6502-3FA3-A45D-6C3A4126CB44}"/>
              </a:ext>
            </a:extLst>
          </p:cNvPr>
          <p:cNvGrpSpPr/>
          <p:nvPr/>
        </p:nvGrpSpPr>
        <p:grpSpPr>
          <a:xfrm>
            <a:off x="7799843" y="1925698"/>
            <a:ext cx="4246107" cy="2685988"/>
            <a:chOff x="7736343" y="1531998"/>
            <a:chExt cx="4246107" cy="2685988"/>
          </a:xfrm>
        </p:grpSpPr>
        <p:sp>
          <p:nvSpPr>
            <p:cNvPr id="17" name="Rectangle 16">
              <a:extLst>
                <a:ext uri="{FF2B5EF4-FFF2-40B4-BE49-F238E27FC236}">
                  <a16:creationId xmlns:a16="http://schemas.microsoft.com/office/drawing/2014/main" id="{4FCC8B28-4ED2-3D8A-9164-6C147FB0445C}"/>
                </a:ext>
              </a:extLst>
            </p:cNvPr>
            <p:cNvSpPr/>
            <p:nvPr/>
          </p:nvSpPr>
          <p:spPr>
            <a:xfrm>
              <a:off x="7736343" y="1531998"/>
              <a:ext cx="4246107" cy="804801"/>
            </a:xfrm>
            <a:prstGeom prst="rect">
              <a:avLst/>
            </a:prstGeom>
            <a:solidFill>
              <a:srgbClr val="3391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CC07492E-A058-9B80-20DB-28B01971A10B}"/>
                </a:ext>
              </a:extLst>
            </p:cNvPr>
            <p:cNvPicPr>
              <a:picLocks noChangeAspect="1"/>
            </p:cNvPicPr>
            <p:nvPr/>
          </p:nvPicPr>
          <p:blipFill>
            <a:blip r:embed="rId4"/>
            <a:stretch>
              <a:fillRect/>
            </a:stretch>
          </p:blipFill>
          <p:spPr>
            <a:xfrm>
              <a:off x="7736343" y="2336799"/>
              <a:ext cx="4246107" cy="1881187"/>
            </a:xfrm>
            <a:prstGeom prst="rect">
              <a:avLst/>
            </a:prstGeom>
          </p:spPr>
        </p:pic>
        <p:pic>
          <p:nvPicPr>
            <p:cNvPr id="16" name="Image 15" descr="Une image contenant Police, Graphique, logo, graphisme&#10;&#10;Le contenu généré par l’IA peut être incorrect.">
              <a:extLst>
                <a:ext uri="{FF2B5EF4-FFF2-40B4-BE49-F238E27FC236}">
                  <a16:creationId xmlns:a16="http://schemas.microsoft.com/office/drawing/2014/main" id="{DF39F44C-7049-69A9-4AFD-8E1C28AC6B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5456" y="1597850"/>
              <a:ext cx="3038475" cy="619125"/>
            </a:xfrm>
            <a:prstGeom prst="rect">
              <a:avLst/>
            </a:prstGeom>
          </p:spPr>
        </p:pic>
      </p:grpSp>
    </p:spTree>
    <p:extLst>
      <p:ext uri="{BB962C8B-B14F-4D97-AF65-F5344CB8AC3E}">
        <p14:creationId xmlns:p14="http://schemas.microsoft.com/office/powerpoint/2010/main" val="1454360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63EF-CCC5-BA61-5C0D-5EBCED919E14}"/>
            </a:ext>
          </a:extLst>
        </p:cNvPr>
        <p:cNvGrpSpPr/>
        <p:nvPr/>
      </p:nvGrpSpPr>
      <p:grpSpPr>
        <a:xfrm>
          <a:off x="0" y="0"/>
          <a:ext cx="0" cy="0"/>
          <a:chOff x="0" y="0"/>
          <a:chExt cx="0" cy="0"/>
        </a:xfrm>
      </p:grpSpPr>
      <p:pic>
        <p:nvPicPr>
          <p:cNvPr id="10" name="Picture 9" descr="A blue and black background&#10;&#10;Description automatically generated">
            <a:extLst>
              <a:ext uri="{FF2B5EF4-FFF2-40B4-BE49-F238E27FC236}">
                <a16:creationId xmlns:a16="http://schemas.microsoft.com/office/drawing/2014/main" id="{9266475C-0E71-0139-C12C-42FB7CF3EE2F}"/>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C9935FBB-1311-019A-C934-389908ACFAA1}"/>
              </a:ext>
            </a:extLst>
          </p:cNvPr>
          <p:cNvSpPr>
            <a:spLocks noGrp="1"/>
          </p:cNvSpPr>
          <p:nvPr>
            <p:ph type="title"/>
          </p:nvPr>
        </p:nvSpPr>
        <p:spPr/>
        <p:txBody>
          <a:bodyPr/>
          <a:lstStyle/>
          <a:p>
            <a:r>
              <a:rPr lang="en-GB" dirty="0"/>
              <a:t>Stuff I have worked on</a:t>
            </a:r>
          </a:p>
        </p:txBody>
      </p:sp>
      <p:sp>
        <p:nvSpPr>
          <p:cNvPr id="3" name="Espace réservé du numéro de diapositive 2">
            <a:extLst>
              <a:ext uri="{FF2B5EF4-FFF2-40B4-BE49-F238E27FC236}">
                <a16:creationId xmlns:a16="http://schemas.microsoft.com/office/drawing/2014/main" id="{5D2C0A15-8557-5BD6-A06A-99DBD7A8B86D}"/>
              </a:ext>
            </a:extLst>
          </p:cNvPr>
          <p:cNvSpPr>
            <a:spLocks noGrp="1"/>
          </p:cNvSpPr>
          <p:nvPr>
            <p:ph type="sldNum" sz="quarter" idx="12"/>
          </p:nvPr>
        </p:nvSpPr>
        <p:spPr/>
        <p:txBody>
          <a:bodyPr/>
          <a:lstStyle/>
          <a:p>
            <a:fld id="{6F3806FF-9E51-4331-BB90-F49EFA1FA4FC}" type="slidenum">
              <a:rPr lang="fr-FR" smtClean="0"/>
              <a:t>7</a:t>
            </a:fld>
            <a:endParaRPr lang="fr-FR"/>
          </a:p>
        </p:txBody>
      </p:sp>
      <p:pic>
        <p:nvPicPr>
          <p:cNvPr id="7" name="Espace réservé du contenu 6" descr="Une image contenant Police, texte, logo, Graphique&#10;&#10;Le contenu généré par l’IA peut être incorrect.">
            <a:extLst>
              <a:ext uri="{FF2B5EF4-FFF2-40B4-BE49-F238E27FC236}">
                <a16:creationId xmlns:a16="http://schemas.microsoft.com/office/drawing/2014/main" id="{574F8539-02B2-022F-8F87-E97BBBF54676}"/>
              </a:ext>
            </a:extLst>
          </p:cNvPr>
          <p:cNvPicPr>
            <a:picLocks noGrp="1" noChangeAspect="1"/>
          </p:cNvPicPr>
          <p:nvPr>
            <p:ph idx="1"/>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11836" y="365125"/>
            <a:ext cx="3241964" cy="1440873"/>
          </a:xfrm>
        </p:spPr>
      </p:pic>
      <p:sp>
        <p:nvSpPr>
          <p:cNvPr id="9" name="Content Placeholder 7">
            <a:extLst>
              <a:ext uri="{FF2B5EF4-FFF2-40B4-BE49-F238E27FC236}">
                <a16:creationId xmlns:a16="http://schemas.microsoft.com/office/drawing/2014/main" id="{69248DBB-5B9E-25C6-4CE7-9005131AEADB}"/>
              </a:ext>
            </a:extLst>
          </p:cNvPr>
          <p:cNvSpPr txBox="1">
            <a:spLocks/>
          </p:cNvSpPr>
          <p:nvPr/>
        </p:nvSpPr>
        <p:spPr>
          <a:xfrm>
            <a:off x="838200" y="1825624"/>
            <a:ext cx="10934700"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noProof="0" dirty="0">
                <a:solidFill>
                  <a:srgbClr val="1891C3"/>
                </a:solidFill>
              </a:rPr>
              <a:t>Big databases:</a:t>
            </a:r>
          </a:p>
          <a:p>
            <a:pPr lvl="1"/>
            <a:r>
              <a:rPr lang="en-GB" noProof="0" dirty="0"/>
              <a:t>RPU + PMSI: all hospital and emergency stays in France</a:t>
            </a:r>
          </a:p>
          <a:p>
            <a:pPr lvl="1"/>
            <a:r>
              <a:rPr lang="en-GB" noProof="0" dirty="0"/>
              <a:t>SNDS: biggest healthcare database in France (possibly Europe), it contains all medical reimbursements, patient and physician data (+ other things) in the country. Some tables easily get billions of new rows every year</a:t>
            </a:r>
          </a:p>
        </p:txBody>
      </p:sp>
    </p:spTree>
    <p:extLst>
      <p:ext uri="{BB962C8B-B14F-4D97-AF65-F5344CB8AC3E}">
        <p14:creationId xmlns:p14="http://schemas.microsoft.com/office/powerpoint/2010/main" val="2201618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10BB4-E7B2-7DC9-2538-B5B2F3699179}"/>
            </a:ext>
          </a:extLst>
        </p:cNvPr>
        <p:cNvGrpSpPr/>
        <p:nvPr/>
      </p:nvGrpSpPr>
      <p:grpSpPr>
        <a:xfrm>
          <a:off x="0" y="0"/>
          <a:ext cx="0" cy="0"/>
          <a:chOff x="0" y="0"/>
          <a:chExt cx="0" cy="0"/>
        </a:xfrm>
      </p:grpSpPr>
      <p:pic>
        <p:nvPicPr>
          <p:cNvPr id="10" name="Picture 9" descr="A blue and black background&#10;&#10;Description automatically generated">
            <a:extLst>
              <a:ext uri="{FF2B5EF4-FFF2-40B4-BE49-F238E27FC236}">
                <a16:creationId xmlns:a16="http://schemas.microsoft.com/office/drawing/2014/main" id="{C9126DA4-8BCC-1843-F6CC-A157D2BF223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0931C25A-11C0-8726-5096-8A2A50A2C24F}"/>
              </a:ext>
            </a:extLst>
          </p:cNvPr>
          <p:cNvSpPr>
            <a:spLocks noGrp="1"/>
          </p:cNvSpPr>
          <p:nvPr>
            <p:ph type="title"/>
          </p:nvPr>
        </p:nvSpPr>
        <p:spPr/>
        <p:txBody>
          <a:bodyPr/>
          <a:lstStyle/>
          <a:p>
            <a:r>
              <a:rPr lang="en-GB" dirty="0"/>
              <a:t>Internships (1)</a:t>
            </a:r>
          </a:p>
        </p:txBody>
      </p:sp>
      <p:sp>
        <p:nvSpPr>
          <p:cNvPr id="8" name="Content Placeholder 7">
            <a:extLst>
              <a:ext uri="{FF2B5EF4-FFF2-40B4-BE49-F238E27FC236}">
                <a16:creationId xmlns:a16="http://schemas.microsoft.com/office/drawing/2014/main" id="{D8E8A902-EB8E-1291-B61F-C97F34486294}"/>
              </a:ext>
            </a:extLst>
          </p:cNvPr>
          <p:cNvSpPr>
            <a:spLocks noGrp="1"/>
          </p:cNvSpPr>
          <p:nvPr>
            <p:ph idx="1"/>
          </p:nvPr>
        </p:nvSpPr>
        <p:spPr>
          <a:xfrm>
            <a:off x="838200" y="1825624"/>
            <a:ext cx="10934700" cy="4784725"/>
          </a:xfrm>
        </p:spPr>
        <p:txBody>
          <a:bodyPr>
            <a:normAutofit/>
          </a:bodyPr>
          <a:lstStyle/>
          <a:p>
            <a:r>
              <a:rPr lang="en-GB" noProof="0" dirty="0">
                <a:solidFill>
                  <a:schemeClr val="tx1"/>
                </a:solidFill>
              </a:rPr>
              <a:t>I try to hire interns every year at the ORS:</a:t>
            </a:r>
          </a:p>
          <a:p>
            <a:pPr lvl="1"/>
            <a:r>
              <a:rPr lang="en-GB" noProof="0" dirty="0">
                <a:solidFill>
                  <a:schemeClr val="tx1"/>
                </a:solidFill>
              </a:rPr>
              <a:t>2024: 1 student from M2 MASS POP, for 6 months. Worked on an imputation methodology for the national emergency service datasets (RPU, ~20 million stays each year in France)</a:t>
            </a:r>
          </a:p>
          <a:p>
            <a:pPr lvl="1"/>
            <a:r>
              <a:rPr lang="en-GB" noProof="0" dirty="0">
                <a:solidFill>
                  <a:schemeClr val="tx1"/>
                </a:solidFill>
              </a:rPr>
              <a:t>2025: 2 DADEE students, for 6 and 3 months.</a:t>
            </a:r>
          </a:p>
          <a:p>
            <a:pPr lvl="2"/>
            <a:r>
              <a:rPr lang="en-GB" noProof="0" dirty="0">
                <a:solidFill>
                  <a:schemeClr val="tx1"/>
                </a:solidFill>
              </a:rPr>
              <a:t>One worked on writing a paper about a novel complexity scale for emergency stays based on ICD-10 diagnostics</a:t>
            </a:r>
          </a:p>
          <a:p>
            <a:pPr lvl="2"/>
            <a:r>
              <a:rPr lang="en-GB" dirty="0">
                <a:solidFill>
                  <a:schemeClr val="tx1"/>
                </a:solidFill>
              </a:rPr>
              <a:t>The other worked on the validation of an adequacy indicator for emergency stays using survey data among physicians in emergency services</a:t>
            </a:r>
          </a:p>
          <a:p>
            <a:pPr lvl="1"/>
            <a:r>
              <a:rPr lang="en-GB" dirty="0">
                <a:solidFill>
                  <a:schemeClr val="tx1"/>
                </a:solidFill>
              </a:rPr>
              <a:t>2026: nothing this year (too busy)</a:t>
            </a:r>
          </a:p>
          <a:p>
            <a:r>
              <a:rPr lang="en-GB" dirty="0">
                <a:solidFill>
                  <a:schemeClr val="tx1"/>
                </a:solidFill>
              </a:rPr>
              <a:t>The internships always involve statistical work</a:t>
            </a:r>
          </a:p>
        </p:txBody>
      </p:sp>
      <p:sp>
        <p:nvSpPr>
          <p:cNvPr id="3" name="Espace réservé du numéro de diapositive 2">
            <a:extLst>
              <a:ext uri="{FF2B5EF4-FFF2-40B4-BE49-F238E27FC236}">
                <a16:creationId xmlns:a16="http://schemas.microsoft.com/office/drawing/2014/main" id="{6B2F9DAE-50E3-9A74-6DFE-ED90917EC43F}"/>
              </a:ext>
            </a:extLst>
          </p:cNvPr>
          <p:cNvSpPr>
            <a:spLocks noGrp="1"/>
          </p:cNvSpPr>
          <p:nvPr>
            <p:ph type="sldNum" sz="quarter" idx="12"/>
          </p:nvPr>
        </p:nvSpPr>
        <p:spPr/>
        <p:txBody>
          <a:bodyPr/>
          <a:lstStyle/>
          <a:p>
            <a:fld id="{6F3806FF-9E51-4331-BB90-F49EFA1FA4FC}" type="slidenum">
              <a:rPr lang="fr-FR" smtClean="0"/>
              <a:t>8</a:t>
            </a:fld>
            <a:endParaRPr lang="fr-FR"/>
          </a:p>
        </p:txBody>
      </p:sp>
      <p:pic>
        <p:nvPicPr>
          <p:cNvPr id="7" name="Image 6">
            <a:extLst>
              <a:ext uri="{FF2B5EF4-FFF2-40B4-BE49-F238E27FC236}">
                <a16:creationId xmlns:a16="http://schemas.microsoft.com/office/drawing/2014/main" id="{9B4090B2-89C3-A75C-FEB4-A99CAD16070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545952" y="523875"/>
            <a:ext cx="1807848" cy="1165224"/>
          </a:xfrm>
          <a:prstGeom prst="rect">
            <a:avLst/>
          </a:prstGeom>
        </p:spPr>
      </p:pic>
    </p:spTree>
    <p:extLst>
      <p:ext uri="{BB962C8B-B14F-4D97-AF65-F5344CB8AC3E}">
        <p14:creationId xmlns:p14="http://schemas.microsoft.com/office/powerpoint/2010/main" val="682305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4BEB-5E5C-49D8-7137-B2F58D09A4DE}"/>
            </a:ext>
          </a:extLst>
        </p:cNvPr>
        <p:cNvGrpSpPr/>
        <p:nvPr/>
      </p:nvGrpSpPr>
      <p:grpSpPr>
        <a:xfrm>
          <a:off x="0" y="0"/>
          <a:ext cx="0" cy="0"/>
          <a:chOff x="0" y="0"/>
          <a:chExt cx="0" cy="0"/>
        </a:xfrm>
      </p:grpSpPr>
      <p:pic>
        <p:nvPicPr>
          <p:cNvPr id="10" name="Picture 9" descr="A blue and black background&#10;&#10;Description automatically generated">
            <a:extLst>
              <a:ext uri="{FF2B5EF4-FFF2-40B4-BE49-F238E27FC236}">
                <a16:creationId xmlns:a16="http://schemas.microsoft.com/office/drawing/2014/main" id="{C38D4E4C-235B-0281-1B03-2742D15DB4E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F729C94D-05C6-BEE2-2E67-B82543200336}"/>
              </a:ext>
            </a:extLst>
          </p:cNvPr>
          <p:cNvSpPr>
            <a:spLocks noGrp="1"/>
          </p:cNvSpPr>
          <p:nvPr>
            <p:ph type="title"/>
          </p:nvPr>
        </p:nvSpPr>
        <p:spPr/>
        <p:txBody>
          <a:bodyPr/>
          <a:lstStyle/>
          <a:p>
            <a:r>
              <a:rPr lang="en-GB" dirty="0"/>
              <a:t>Internships (2)</a:t>
            </a:r>
          </a:p>
        </p:txBody>
      </p:sp>
      <p:sp>
        <p:nvSpPr>
          <p:cNvPr id="8" name="Content Placeholder 7">
            <a:extLst>
              <a:ext uri="{FF2B5EF4-FFF2-40B4-BE49-F238E27FC236}">
                <a16:creationId xmlns:a16="http://schemas.microsoft.com/office/drawing/2014/main" id="{1A062E1F-7E3F-DD02-E785-EF2F34E440AA}"/>
              </a:ext>
            </a:extLst>
          </p:cNvPr>
          <p:cNvSpPr>
            <a:spLocks noGrp="1"/>
          </p:cNvSpPr>
          <p:nvPr>
            <p:ph idx="1"/>
          </p:nvPr>
        </p:nvSpPr>
        <p:spPr>
          <a:xfrm>
            <a:off x="838200" y="1825624"/>
            <a:ext cx="10934700" cy="5032376"/>
          </a:xfrm>
        </p:spPr>
        <p:txBody>
          <a:bodyPr>
            <a:normAutofit/>
          </a:bodyPr>
          <a:lstStyle/>
          <a:p>
            <a:r>
              <a:rPr lang="en-GB" dirty="0">
                <a:solidFill>
                  <a:schemeClr val="tx1"/>
                </a:solidFill>
              </a:rPr>
              <a:t>Stats will be done </a:t>
            </a:r>
            <a:r>
              <a:rPr lang="en-GB" dirty="0">
                <a:solidFill>
                  <a:srgbClr val="3391B0"/>
                </a:solidFill>
              </a:rPr>
              <a:t>using R </a:t>
            </a:r>
            <a:r>
              <a:rPr lang="en-GB" dirty="0"/>
              <a:t>(+ maybe a bit of SAS)</a:t>
            </a:r>
          </a:p>
          <a:p>
            <a:pPr lvl="1"/>
            <a:r>
              <a:rPr lang="en-GB" dirty="0"/>
              <a:t>This is non-negotiable (:</a:t>
            </a:r>
          </a:p>
          <a:p>
            <a:r>
              <a:rPr lang="en-GB" dirty="0"/>
              <a:t>The complexity of the statistical work will vary</a:t>
            </a:r>
          </a:p>
          <a:p>
            <a:pPr lvl="1"/>
            <a:r>
              <a:rPr lang="en-GB" dirty="0"/>
              <a:t>It is very unlikely to involve heavy Machine Learning or Big Data</a:t>
            </a:r>
          </a:p>
          <a:p>
            <a:pPr lvl="1"/>
            <a:r>
              <a:rPr lang="en-GB" dirty="0"/>
              <a:t>Good opportunity to get a foothold in research</a:t>
            </a:r>
          </a:p>
          <a:p>
            <a:r>
              <a:rPr lang="en-GB" dirty="0"/>
              <a:t>Other info: </a:t>
            </a:r>
          </a:p>
          <a:p>
            <a:pPr lvl="1"/>
            <a:r>
              <a:rPr lang="en-GB" dirty="0"/>
              <a:t>The pay is the legal minimum in France (~600€ a month?)</a:t>
            </a:r>
          </a:p>
          <a:p>
            <a:pPr lvl="1"/>
            <a:r>
              <a:rPr lang="en-GB" dirty="0">
                <a:solidFill>
                  <a:schemeClr val="tx1"/>
                </a:solidFill>
              </a:rPr>
              <a:t>It is very unlikely we will hire you after the internship (because no 💸)</a:t>
            </a:r>
          </a:p>
          <a:p>
            <a:pPr lvl="1"/>
            <a:r>
              <a:rPr lang="en-GB" dirty="0">
                <a:solidFill>
                  <a:schemeClr val="tx1"/>
                </a:solidFill>
              </a:rPr>
              <a:t>35h/week</a:t>
            </a:r>
          </a:p>
          <a:p>
            <a:pPr lvl="1"/>
            <a:r>
              <a:rPr lang="en-GB" dirty="0">
                <a:solidFill>
                  <a:schemeClr val="tx1"/>
                </a:solidFill>
              </a:rPr>
              <a:t>English is fine (it’s a plus if you can speak French so you can get along with the other colleagues)</a:t>
            </a:r>
          </a:p>
          <a:p>
            <a:pPr lvl="1"/>
            <a:r>
              <a:rPr lang="en-GB" dirty="0">
                <a:solidFill>
                  <a:schemeClr val="tx1"/>
                </a:solidFill>
              </a:rPr>
              <a:t>Location: Faculté de </a:t>
            </a:r>
            <a:r>
              <a:rPr lang="en-GB" dirty="0" err="1">
                <a:solidFill>
                  <a:schemeClr val="tx1"/>
                </a:solidFill>
              </a:rPr>
              <a:t>Médecine</a:t>
            </a:r>
            <a:r>
              <a:rPr lang="en-GB" dirty="0">
                <a:solidFill>
                  <a:schemeClr val="tx1"/>
                </a:solidFill>
              </a:rPr>
              <a:t> de la Timone, in Marseille</a:t>
            </a:r>
          </a:p>
        </p:txBody>
      </p:sp>
      <p:sp>
        <p:nvSpPr>
          <p:cNvPr id="3" name="Espace réservé du numéro de diapositive 2">
            <a:extLst>
              <a:ext uri="{FF2B5EF4-FFF2-40B4-BE49-F238E27FC236}">
                <a16:creationId xmlns:a16="http://schemas.microsoft.com/office/drawing/2014/main" id="{3D5E1C89-2F5F-EE83-FAE3-E0FC899D3AB1}"/>
              </a:ext>
            </a:extLst>
          </p:cNvPr>
          <p:cNvSpPr>
            <a:spLocks noGrp="1"/>
          </p:cNvSpPr>
          <p:nvPr>
            <p:ph type="sldNum" sz="quarter" idx="12"/>
          </p:nvPr>
        </p:nvSpPr>
        <p:spPr/>
        <p:txBody>
          <a:bodyPr/>
          <a:lstStyle/>
          <a:p>
            <a:fld id="{6F3806FF-9E51-4331-BB90-F49EFA1FA4FC}" type="slidenum">
              <a:rPr lang="fr-FR" smtClean="0"/>
              <a:t>9</a:t>
            </a:fld>
            <a:endParaRPr lang="fr-FR"/>
          </a:p>
        </p:txBody>
      </p:sp>
    </p:spTree>
    <p:extLst>
      <p:ext uri="{BB962C8B-B14F-4D97-AF65-F5344CB8AC3E}">
        <p14:creationId xmlns:p14="http://schemas.microsoft.com/office/powerpoint/2010/main" val="284091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5"/>
            <a:ext cx="10515599" cy="4351338"/>
          </a:xfrm>
        </p:spPr>
        <p:txBody>
          <a:bodyPr>
            <a:normAutofit/>
          </a:bodyPr>
          <a:lstStyle/>
          <a:p>
            <a:r>
              <a:rPr lang="en-US" dirty="0"/>
              <a:t>Centered on:</a:t>
            </a:r>
          </a:p>
          <a:p>
            <a:pPr lvl="1"/>
            <a:r>
              <a:rPr lang="en-US" dirty="0"/>
              <a:t>Tabular data</a:t>
            </a:r>
          </a:p>
          <a:p>
            <a:pPr lvl="1"/>
            <a:r>
              <a:rPr lang="en-US" dirty="0"/>
              <a:t>Public health (with individuals as objects of analysis, mostly)</a:t>
            </a:r>
          </a:p>
          <a:p>
            <a:r>
              <a:rPr lang="en-US" dirty="0"/>
              <a:t>We’ll alternate between classes and labs where you’ll have to work on data</a:t>
            </a:r>
          </a:p>
          <a:p>
            <a:r>
              <a:rPr lang="en-US" dirty="0"/>
              <a:t>This class was supposed to have parts about data privacy, regulatory and legal constraints, </a:t>
            </a:r>
            <a:r>
              <a:rPr lang="en-US" dirty="0" err="1"/>
              <a:t>etc</a:t>
            </a:r>
            <a:r>
              <a:rPr lang="en-US" dirty="0"/>
              <a:t>…</a:t>
            </a:r>
          </a:p>
          <a:p>
            <a:pPr lvl="1"/>
            <a:r>
              <a:rPr lang="en-US" dirty="0"/>
              <a:t>I don’t know anything about it, and I have no interest in that subject, so you’ll have programming exercises instead </a:t>
            </a:r>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365125"/>
            <a:ext cx="10515600" cy="1325563"/>
          </a:xfrm>
        </p:spPr>
        <p:txBody>
          <a:bodyPr/>
          <a:lstStyle/>
          <a:p>
            <a:r>
              <a:rPr lang="en-US" dirty="0"/>
              <a:t>Additional info on the course</a:t>
            </a:r>
          </a:p>
        </p:txBody>
      </p:sp>
      <p:sp>
        <p:nvSpPr>
          <p:cNvPr id="2" name="Espace réservé du numéro de diapositive 1">
            <a:extLst>
              <a:ext uri="{FF2B5EF4-FFF2-40B4-BE49-F238E27FC236}">
                <a16:creationId xmlns:a16="http://schemas.microsoft.com/office/drawing/2014/main" id="{DF56F5C0-8252-C0FA-B2E6-C704955FCF89}"/>
              </a:ext>
            </a:extLst>
          </p:cNvPr>
          <p:cNvSpPr>
            <a:spLocks noGrp="1"/>
          </p:cNvSpPr>
          <p:nvPr>
            <p:ph type="sldNum" sz="quarter" idx="12"/>
          </p:nvPr>
        </p:nvSpPr>
        <p:spPr/>
        <p:txBody>
          <a:bodyPr/>
          <a:lstStyle/>
          <a:p>
            <a:fld id="{6F3806FF-9E51-4331-BB90-F49EFA1FA4FC}" type="slidenum">
              <a:rPr lang="fr-FR" smtClean="0"/>
              <a:t>10</a:t>
            </a:fld>
            <a:endParaRPr lang="fr-FR"/>
          </a:p>
        </p:txBody>
      </p:sp>
    </p:spTree>
    <p:extLst>
      <p:ext uri="{BB962C8B-B14F-4D97-AF65-F5344CB8AC3E}">
        <p14:creationId xmlns:p14="http://schemas.microsoft.com/office/powerpoint/2010/main" val="3226672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4"/>
            <a:ext cx="10515599" cy="4946111"/>
          </a:xfrm>
        </p:spPr>
        <p:txBody>
          <a:bodyPr>
            <a:normAutofit/>
          </a:bodyPr>
          <a:lstStyle/>
          <a:p>
            <a:r>
              <a:rPr lang="en-US" dirty="0"/>
              <a:t>There is a GitHub </a:t>
            </a:r>
            <a:r>
              <a:rPr lang="en-US" dirty="0">
                <a:hlinkClick r:id="rId3"/>
              </a:rPr>
              <a:t>here</a:t>
            </a:r>
            <a:endParaRPr lang="en-US" dirty="0"/>
          </a:p>
          <a:p>
            <a:pPr lvl="1"/>
            <a:r>
              <a:rPr lang="en-US" dirty="0"/>
              <a:t>It contains all the class material, exercises, and some other material (like my resume in LaTeX if you want to reuse the code)</a:t>
            </a:r>
          </a:p>
          <a:p>
            <a:pPr lvl="1"/>
            <a:r>
              <a:rPr lang="en-US" dirty="0"/>
              <a:t>I am likely to update a few things in the course content, </a:t>
            </a:r>
            <a:r>
              <a:rPr lang="en-US" b="1" dirty="0"/>
              <a:t>check sometimes that what you have downloaded is up-to-date</a:t>
            </a:r>
          </a:p>
          <a:p>
            <a:r>
              <a:rPr lang="en-US" dirty="0"/>
              <a:t>Also, it contains the final assignment</a:t>
            </a:r>
          </a:p>
          <a:p>
            <a:pPr lvl="1"/>
            <a:r>
              <a:rPr lang="en-US" dirty="0"/>
              <a:t>It’s a written report (code + report)</a:t>
            </a:r>
          </a:p>
          <a:p>
            <a:pPr lvl="1"/>
            <a:r>
              <a:rPr lang="en-US" dirty="0"/>
              <a:t>+ an oral exam</a:t>
            </a:r>
          </a:p>
          <a:p>
            <a:pPr lvl="2"/>
            <a:r>
              <a:rPr lang="en-US" dirty="0"/>
              <a:t>I don’t have the time to actually see the 30 or so groups, I’ll just ask you to record yourselves</a:t>
            </a:r>
          </a:p>
          <a:p>
            <a:pPr lvl="1"/>
            <a:r>
              <a:rPr lang="en-US" dirty="0"/>
              <a:t>Be sure to frequently check </a:t>
            </a:r>
            <a:r>
              <a:rPr lang="en-US" dirty="0">
                <a:hlinkClick r:id="rId4"/>
              </a:rPr>
              <a:t>this document</a:t>
            </a:r>
            <a:r>
              <a:rPr lang="en-US" dirty="0"/>
              <a:t>, I will add more information to it</a:t>
            </a:r>
          </a:p>
          <a:p>
            <a:pPr lvl="1"/>
            <a:endParaRPr lang="en-US" dirty="0"/>
          </a:p>
          <a:p>
            <a:pPr lvl="1"/>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365125"/>
            <a:ext cx="10515600" cy="1325563"/>
          </a:xfrm>
        </p:spPr>
        <p:txBody>
          <a:bodyPr/>
          <a:lstStyle/>
          <a:p>
            <a:r>
              <a:rPr lang="en-US" dirty="0" err="1"/>
              <a:t>Github</a:t>
            </a:r>
            <a:r>
              <a:rPr lang="en-US" dirty="0"/>
              <a:t>/Final assignment</a:t>
            </a:r>
          </a:p>
        </p:txBody>
      </p:sp>
      <p:sp>
        <p:nvSpPr>
          <p:cNvPr id="2" name="Espace réservé du numéro de diapositive 1">
            <a:extLst>
              <a:ext uri="{FF2B5EF4-FFF2-40B4-BE49-F238E27FC236}">
                <a16:creationId xmlns:a16="http://schemas.microsoft.com/office/drawing/2014/main" id="{D4897094-0404-B61C-E940-61F56F02C965}"/>
              </a:ext>
            </a:extLst>
          </p:cNvPr>
          <p:cNvSpPr>
            <a:spLocks noGrp="1"/>
          </p:cNvSpPr>
          <p:nvPr>
            <p:ph type="sldNum" sz="quarter" idx="12"/>
          </p:nvPr>
        </p:nvSpPr>
        <p:spPr/>
        <p:txBody>
          <a:bodyPr/>
          <a:lstStyle/>
          <a:p>
            <a:fld id="{6F3806FF-9E51-4331-BB90-F49EFA1FA4FC}" type="slidenum">
              <a:rPr lang="fr-FR" smtClean="0"/>
              <a:t>11</a:t>
            </a:fld>
            <a:endParaRPr lang="fr-FR"/>
          </a:p>
        </p:txBody>
      </p:sp>
    </p:spTree>
    <p:extLst>
      <p:ext uri="{BB962C8B-B14F-4D97-AF65-F5344CB8AC3E}">
        <p14:creationId xmlns:p14="http://schemas.microsoft.com/office/powerpoint/2010/main" val="2269565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02FC-9444-0791-4C8B-B069427476E5}"/>
            </a:ext>
          </a:extLst>
        </p:cNvPr>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776EC805-DB3C-BB7E-A3E7-F0A13DD00039}"/>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3558B5C0-6129-0619-C6C2-F246F8EF115A}"/>
              </a:ext>
            </a:extLst>
          </p:cNvPr>
          <p:cNvSpPr>
            <a:spLocks noGrp="1"/>
          </p:cNvSpPr>
          <p:nvPr>
            <p:ph idx="1"/>
          </p:nvPr>
        </p:nvSpPr>
        <p:spPr>
          <a:xfrm>
            <a:off x="838199" y="1825625"/>
            <a:ext cx="10515599" cy="5032376"/>
          </a:xfrm>
        </p:spPr>
        <p:txBody>
          <a:bodyPr>
            <a:normAutofit/>
          </a:bodyPr>
          <a:lstStyle/>
          <a:p>
            <a:r>
              <a:rPr lang="en-US" dirty="0"/>
              <a:t>Final assignment (15 points)</a:t>
            </a:r>
          </a:p>
          <a:p>
            <a:pPr lvl="1"/>
            <a:r>
              <a:rPr lang="en-US" dirty="0">
                <a:solidFill>
                  <a:srgbClr val="7F7DB0"/>
                </a:solidFill>
              </a:rPr>
              <a:t>Written report </a:t>
            </a:r>
            <a:r>
              <a:rPr lang="en-US" dirty="0"/>
              <a:t>+ </a:t>
            </a:r>
            <a:r>
              <a:rPr lang="en-US" dirty="0">
                <a:solidFill>
                  <a:srgbClr val="7F7DB0"/>
                </a:solidFill>
              </a:rPr>
              <a:t>oral exam</a:t>
            </a:r>
            <a:endParaRPr lang="en-US" dirty="0"/>
          </a:p>
          <a:p>
            <a:r>
              <a:rPr lang="en-US" dirty="0"/>
              <a:t>In-class labs (5 points)</a:t>
            </a:r>
          </a:p>
          <a:p>
            <a:pPr lvl="1"/>
            <a:r>
              <a:rPr lang="en-US" dirty="0"/>
              <a:t>Lab 1 is just training</a:t>
            </a:r>
          </a:p>
          <a:p>
            <a:pPr lvl="1"/>
            <a:r>
              <a:rPr lang="en-US" dirty="0">
                <a:solidFill>
                  <a:srgbClr val="7F7DB0"/>
                </a:solidFill>
              </a:rPr>
              <a:t>Labs 2, 3, 4</a:t>
            </a:r>
            <a:r>
              <a:rPr lang="en-US" dirty="0"/>
              <a:t> are harder exercises: just send me </a:t>
            </a:r>
            <a:r>
              <a:rPr lang="en-US" sz="3200" dirty="0">
                <a:solidFill>
                  <a:srgbClr val="7F7DB0"/>
                </a:solidFill>
              </a:rPr>
              <a:t>two of them</a:t>
            </a:r>
            <a:r>
              <a:rPr lang="en-US" dirty="0"/>
              <a:t>, they will be graded out of 5</a:t>
            </a:r>
          </a:p>
        </p:txBody>
      </p:sp>
      <p:sp>
        <p:nvSpPr>
          <p:cNvPr id="7" name="Title 1">
            <a:extLst>
              <a:ext uri="{FF2B5EF4-FFF2-40B4-BE49-F238E27FC236}">
                <a16:creationId xmlns:a16="http://schemas.microsoft.com/office/drawing/2014/main" id="{0276B14B-1A4E-4860-D4BD-5F97D5E25A8C}"/>
              </a:ext>
            </a:extLst>
          </p:cNvPr>
          <p:cNvSpPr>
            <a:spLocks noGrp="1"/>
          </p:cNvSpPr>
          <p:nvPr>
            <p:ph type="title"/>
          </p:nvPr>
        </p:nvSpPr>
        <p:spPr>
          <a:xfrm>
            <a:off x="838200" y="365125"/>
            <a:ext cx="10515600" cy="1325563"/>
          </a:xfrm>
        </p:spPr>
        <p:txBody>
          <a:bodyPr/>
          <a:lstStyle/>
          <a:p>
            <a:r>
              <a:rPr lang="en-US" dirty="0"/>
              <a:t>Grading</a:t>
            </a:r>
          </a:p>
        </p:txBody>
      </p:sp>
      <p:sp>
        <p:nvSpPr>
          <p:cNvPr id="2" name="Espace réservé du numéro de diapositive 1">
            <a:extLst>
              <a:ext uri="{FF2B5EF4-FFF2-40B4-BE49-F238E27FC236}">
                <a16:creationId xmlns:a16="http://schemas.microsoft.com/office/drawing/2014/main" id="{6FB254DE-049A-FF4C-7726-726E825278A6}"/>
              </a:ext>
            </a:extLst>
          </p:cNvPr>
          <p:cNvSpPr>
            <a:spLocks noGrp="1"/>
          </p:cNvSpPr>
          <p:nvPr>
            <p:ph type="sldNum" sz="quarter" idx="12"/>
          </p:nvPr>
        </p:nvSpPr>
        <p:spPr/>
        <p:txBody>
          <a:bodyPr/>
          <a:lstStyle/>
          <a:p>
            <a:fld id="{6F3806FF-9E51-4331-BB90-F49EFA1FA4FC}" type="slidenum">
              <a:rPr lang="fr-FR" smtClean="0"/>
              <a:t>12</a:t>
            </a:fld>
            <a:endParaRPr lang="fr-FR"/>
          </a:p>
        </p:txBody>
      </p:sp>
    </p:spTree>
    <p:extLst>
      <p:ext uri="{BB962C8B-B14F-4D97-AF65-F5344CB8AC3E}">
        <p14:creationId xmlns:p14="http://schemas.microsoft.com/office/powerpoint/2010/main" val="374876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5"/>
            <a:ext cx="10515599" cy="5032376"/>
          </a:xfrm>
        </p:spPr>
        <p:txBody>
          <a:bodyPr>
            <a:normAutofit/>
          </a:bodyPr>
          <a:lstStyle/>
          <a:p>
            <a:r>
              <a:rPr lang="en-US" dirty="0"/>
              <a:t>In a nutshell, I want you to: find a messy dataset, find some business/research question, clean your data, create new variables, discuss potential biases in your data/model, present results</a:t>
            </a:r>
          </a:p>
          <a:p>
            <a:r>
              <a:rPr lang="en-US" dirty="0"/>
              <a:t>I am not very interested in complex ML methodologies, just:</a:t>
            </a:r>
          </a:p>
          <a:p>
            <a:pPr lvl="1"/>
            <a:r>
              <a:rPr lang="en-US" dirty="0"/>
              <a:t>Critically think about what you are doing when you are cleaning your data (e.g. what might deleting data imply?)</a:t>
            </a:r>
          </a:p>
          <a:p>
            <a:pPr lvl="1"/>
            <a:r>
              <a:rPr lang="en-US" dirty="0"/>
              <a:t>Try new things: different methodologies, models, see how your results vary</a:t>
            </a:r>
          </a:p>
          <a:p>
            <a:r>
              <a:rPr lang="en-US" dirty="0"/>
              <a:t>Ideally, I see this as a work you can show to potential recruiters</a:t>
            </a:r>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365125"/>
            <a:ext cx="10515600" cy="1325563"/>
          </a:xfrm>
        </p:spPr>
        <p:txBody>
          <a:bodyPr/>
          <a:lstStyle/>
          <a:p>
            <a:r>
              <a:rPr lang="en-US" dirty="0"/>
              <a:t>Final assignment</a:t>
            </a:r>
          </a:p>
        </p:txBody>
      </p:sp>
      <p:sp>
        <p:nvSpPr>
          <p:cNvPr id="2" name="Espace réservé du numéro de diapositive 1">
            <a:extLst>
              <a:ext uri="{FF2B5EF4-FFF2-40B4-BE49-F238E27FC236}">
                <a16:creationId xmlns:a16="http://schemas.microsoft.com/office/drawing/2014/main" id="{6C4BA686-21D0-EADC-BF45-6974B7C6B8AF}"/>
              </a:ext>
            </a:extLst>
          </p:cNvPr>
          <p:cNvSpPr>
            <a:spLocks noGrp="1"/>
          </p:cNvSpPr>
          <p:nvPr>
            <p:ph type="sldNum" sz="quarter" idx="12"/>
          </p:nvPr>
        </p:nvSpPr>
        <p:spPr/>
        <p:txBody>
          <a:bodyPr/>
          <a:lstStyle/>
          <a:p>
            <a:fld id="{6F3806FF-9E51-4331-BB90-F49EFA1FA4FC}" type="slidenum">
              <a:rPr lang="fr-FR" smtClean="0"/>
              <a:t>13</a:t>
            </a:fld>
            <a:endParaRPr lang="fr-FR"/>
          </a:p>
        </p:txBody>
      </p:sp>
    </p:spTree>
    <p:extLst>
      <p:ext uri="{BB962C8B-B14F-4D97-AF65-F5344CB8AC3E}">
        <p14:creationId xmlns:p14="http://schemas.microsoft.com/office/powerpoint/2010/main" val="3014542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69FF3-BD61-9C07-E338-1D4327D68107}"/>
            </a:ext>
          </a:extLst>
        </p:cNvPr>
        <p:cNvGrpSpPr/>
        <p:nvPr/>
      </p:nvGrpSpPr>
      <p:grpSpPr>
        <a:xfrm>
          <a:off x="0" y="0"/>
          <a:ext cx="0" cy="0"/>
          <a:chOff x="0" y="0"/>
          <a:chExt cx="0" cy="0"/>
        </a:xfrm>
      </p:grpSpPr>
      <p:pic>
        <p:nvPicPr>
          <p:cNvPr id="2" name="Picture 1" descr="A blue and black background&#10;&#10;Description automatically generated">
            <a:extLst>
              <a:ext uri="{FF2B5EF4-FFF2-40B4-BE49-F238E27FC236}">
                <a16:creationId xmlns:a16="http://schemas.microsoft.com/office/drawing/2014/main" id="{12463CD4-50FF-119A-F3E8-407A377D33C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pic>
        <p:nvPicPr>
          <p:cNvPr id="7" name="Graphic 6" descr="Lightbulb outline">
            <a:extLst>
              <a:ext uri="{FF2B5EF4-FFF2-40B4-BE49-F238E27FC236}">
                <a16:creationId xmlns:a16="http://schemas.microsoft.com/office/drawing/2014/main" id="{D8572822-F015-6C84-A832-773728A9D5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694896"/>
            <a:ext cx="425886" cy="425886"/>
          </a:xfrm>
          <a:prstGeom prst="rect">
            <a:avLst/>
          </a:prstGeom>
        </p:spPr>
      </p:pic>
      <p:sp>
        <p:nvSpPr>
          <p:cNvPr id="3" name="Title 1">
            <a:extLst>
              <a:ext uri="{FF2B5EF4-FFF2-40B4-BE49-F238E27FC236}">
                <a16:creationId xmlns:a16="http://schemas.microsoft.com/office/drawing/2014/main" id="{AE052FD5-ED5B-8057-14F9-D30F0AD51977}"/>
              </a:ext>
            </a:extLst>
          </p:cNvPr>
          <p:cNvSpPr>
            <a:spLocks noGrp="1"/>
          </p:cNvSpPr>
          <p:nvPr>
            <p:ph type="title"/>
          </p:nvPr>
        </p:nvSpPr>
        <p:spPr>
          <a:xfrm>
            <a:off x="838200" y="365125"/>
            <a:ext cx="10515600" cy="1325563"/>
          </a:xfrm>
        </p:spPr>
        <p:txBody>
          <a:bodyPr/>
          <a:lstStyle/>
          <a:p>
            <a:r>
              <a:rPr lang="fr-FR" dirty="0" err="1"/>
              <a:t>LLMs</a:t>
            </a:r>
            <a:r>
              <a:rPr lang="fr-FR" dirty="0"/>
              <a:t>: </a:t>
            </a:r>
            <a:r>
              <a:rPr lang="fr-FR" dirty="0" err="1"/>
              <a:t>my</a:t>
            </a:r>
            <a:r>
              <a:rPr lang="fr-FR" dirty="0"/>
              <a:t> stance</a:t>
            </a:r>
            <a:endParaRPr lang="en-GB" dirty="0">
              <a:solidFill>
                <a:srgbClr val="7F7DB0"/>
              </a:solidFill>
            </a:endParaRPr>
          </a:p>
        </p:txBody>
      </p:sp>
      <p:sp>
        <p:nvSpPr>
          <p:cNvPr id="4" name="Content Placeholder 2">
            <a:extLst>
              <a:ext uri="{FF2B5EF4-FFF2-40B4-BE49-F238E27FC236}">
                <a16:creationId xmlns:a16="http://schemas.microsoft.com/office/drawing/2014/main" id="{7C8A7B34-5140-BF30-6A35-FDF344F7E348}"/>
              </a:ext>
            </a:extLst>
          </p:cNvPr>
          <p:cNvSpPr txBox="1">
            <a:spLocks/>
          </p:cNvSpPr>
          <p:nvPr/>
        </p:nvSpPr>
        <p:spPr>
          <a:xfrm>
            <a:off x="838200" y="1690688"/>
            <a:ext cx="10515600" cy="5167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3391B0"/>
                </a:solidFill>
              </a:rPr>
              <a:t>For writing</a:t>
            </a:r>
          </a:p>
          <a:p>
            <a:r>
              <a:rPr lang="en-GB" dirty="0"/>
              <a:t>I did not care about it and viewed it positively as long as it was used as an assistant</a:t>
            </a:r>
          </a:p>
          <a:p>
            <a:pPr lvl="1"/>
            <a:r>
              <a:rPr lang="en-GB" dirty="0"/>
              <a:t>Up until last year final reports and internship reports</a:t>
            </a:r>
          </a:p>
          <a:p>
            <a:r>
              <a:rPr lang="en-GB" dirty="0"/>
              <a:t>There are telltale signs of AI writing: if you use LLMs to a point where I can’t be sure you have written your reports yourself or were totally freewheeling using Claude Max, it’s going to be a problem for me</a:t>
            </a:r>
          </a:p>
          <a:p>
            <a:r>
              <a:rPr lang="en-GB" dirty="0"/>
              <a:t>For grading, I haven’t received any guidelines about what to do in case of overuse of AI in reports</a:t>
            </a:r>
          </a:p>
          <a:p>
            <a:pPr lvl="1"/>
            <a:endParaRPr lang="en-GB" dirty="0"/>
          </a:p>
          <a:p>
            <a:endParaRPr lang="en-GB" dirty="0"/>
          </a:p>
          <a:p>
            <a:endParaRPr lang="en-GB" dirty="0"/>
          </a:p>
        </p:txBody>
      </p:sp>
      <p:sp>
        <p:nvSpPr>
          <p:cNvPr id="5" name="Espace réservé du numéro de diapositive 4">
            <a:extLst>
              <a:ext uri="{FF2B5EF4-FFF2-40B4-BE49-F238E27FC236}">
                <a16:creationId xmlns:a16="http://schemas.microsoft.com/office/drawing/2014/main" id="{0C800DF0-E7E1-4117-9067-CFD91DC41486}"/>
              </a:ext>
            </a:extLst>
          </p:cNvPr>
          <p:cNvSpPr>
            <a:spLocks noGrp="1"/>
          </p:cNvSpPr>
          <p:nvPr>
            <p:ph type="sldNum" sz="quarter" idx="12"/>
          </p:nvPr>
        </p:nvSpPr>
        <p:spPr/>
        <p:txBody>
          <a:bodyPr/>
          <a:lstStyle/>
          <a:p>
            <a:fld id="{6F3806FF-9E51-4331-BB90-F49EFA1FA4FC}" type="slidenum">
              <a:rPr lang="fr-FR" smtClean="0"/>
              <a:t>14</a:t>
            </a:fld>
            <a:endParaRPr lang="fr-FR"/>
          </a:p>
        </p:txBody>
      </p:sp>
      <p:grpSp>
        <p:nvGrpSpPr>
          <p:cNvPr id="21" name="Groupe 20">
            <a:extLst>
              <a:ext uri="{FF2B5EF4-FFF2-40B4-BE49-F238E27FC236}">
                <a16:creationId xmlns:a16="http://schemas.microsoft.com/office/drawing/2014/main" id="{A91E7625-57E3-1098-E8A4-AFCACDF5E7BF}"/>
              </a:ext>
            </a:extLst>
          </p:cNvPr>
          <p:cNvGrpSpPr/>
          <p:nvPr/>
        </p:nvGrpSpPr>
        <p:grpSpPr>
          <a:xfrm>
            <a:off x="9033187" y="267942"/>
            <a:ext cx="2447427" cy="1448145"/>
            <a:chOff x="9033187" y="267942"/>
            <a:chExt cx="2447427" cy="1448145"/>
          </a:xfrm>
        </p:grpSpPr>
        <p:pic>
          <p:nvPicPr>
            <p:cNvPr id="9" name="Image 8" descr="Une image contenant symbole, logo, Police, Graphique&#10;&#10;Le contenu généré par l’IA peut être incorrect.">
              <a:extLst>
                <a:ext uri="{FF2B5EF4-FFF2-40B4-BE49-F238E27FC236}">
                  <a16:creationId xmlns:a16="http://schemas.microsoft.com/office/drawing/2014/main" id="{143AB9AA-EBA7-EAE9-88E7-01DC00E82A86}"/>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33187" y="608475"/>
              <a:ext cx="708659" cy="708659"/>
            </a:xfrm>
            <a:prstGeom prst="rect">
              <a:avLst/>
            </a:prstGeom>
          </p:spPr>
        </p:pic>
        <p:pic>
          <p:nvPicPr>
            <p:cNvPr id="11" name="Image 10" descr="Une image contenant Caractère coloré, créativité&#10;&#10;Le contenu généré par l’IA peut être incorrect.">
              <a:extLst>
                <a:ext uri="{FF2B5EF4-FFF2-40B4-BE49-F238E27FC236}">
                  <a16:creationId xmlns:a16="http://schemas.microsoft.com/office/drawing/2014/main" id="{4FAD9F6E-D266-A565-A8AA-5E39790CA1A6}"/>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16745" y="785178"/>
              <a:ext cx="930909" cy="930909"/>
            </a:xfrm>
            <a:prstGeom prst="rect">
              <a:avLst/>
            </a:prstGeom>
          </p:spPr>
        </p:pic>
        <p:pic>
          <p:nvPicPr>
            <p:cNvPr id="13" name="Image 12" descr="Une image contenant Graphique, conception, illustration&#10;&#10;Le contenu généré par l’IA peut être incorrect.">
              <a:extLst>
                <a:ext uri="{FF2B5EF4-FFF2-40B4-BE49-F238E27FC236}">
                  <a16:creationId xmlns:a16="http://schemas.microsoft.com/office/drawing/2014/main" id="{A8D9E78C-5344-210D-92E2-88471CDD9A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23581" y="267942"/>
              <a:ext cx="517236" cy="517236"/>
            </a:xfrm>
            <a:prstGeom prst="rect">
              <a:avLst/>
            </a:prstGeom>
          </p:spPr>
        </p:pic>
        <p:pic>
          <p:nvPicPr>
            <p:cNvPr id="15" name="Image 14" descr="Une image contenant texte, Graphique, Police, graphisme&#10;&#10;Le contenu généré par l’IA peut être incorrect.">
              <a:extLst>
                <a:ext uri="{FF2B5EF4-FFF2-40B4-BE49-F238E27FC236}">
                  <a16:creationId xmlns:a16="http://schemas.microsoft.com/office/drawing/2014/main" id="{727E8E86-3009-652A-1B94-EAE1BAEE99C8}"/>
                </a:ext>
              </a:extLst>
            </p:cNvPr>
            <p:cNvPicPr>
              <a:picLocks noChangeAspect="1"/>
            </p:cNvPicPr>
            <p:nvPr/>
          </p:nvPicPr>
          <p:blipFill>
            <a:blip r:embed="rId8">
              <a:extLst>
                <a:ext uri="{28A0092B-C50C-407E-A947-70E740481C1C}">
                  <a14:useLocalDpi xmlns:a14="http://schemas.microsoft.com/office/drawing/2010/main" val="0"/>
                </a:ext>
              </a:extLst>
            </a:blip>
            <a:srcRect l="15161" t="29130" r="13198" b="30015"/>
            <a:stretch>
              <a:fillRect/>
            </a:stretch>
          </p:blipFill>
          <p:spPr>
            <a:xfrm rot="875908">
              <a:off x="10372250" y="997419"/>
              <a:ext cx="1108364" cy="632057"/>
            </a:xfrm>
            <a:prstGeom prst="rect">
              <a:avLst/>
            </a:prstGeom>
          </p:spPr>
        </p:pic>
        <p:pic>
          <p:nvPicPr>
            <p:cNvPr id="19" name="Graphique 18">
              <a:extLst>
                <a:ext uri="{FF2B5EF4-FFF2-40B4-BE49-F238E27FC236}">
                  <a16:creationId xmlns:a16="http://schemas.microsoft.com/office/drawing/2014/main" id="{64407D1A-F1D6-22B9-E808-23AAF222EDE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69296" y="373874"/>
              <a:ext cx="935736" cy="494069"/>
            </a:xfrm>
            <a:prstGeom prst="rect">
              <a:avLst/>
            </a:prstGeom>
          </p:spPr>
        </p:pic>
      </p:grpSp>
      <p:pic>
        <p:nvPicPr>
          <p:cNvPr id="8" name="Image 7">
            <a:extLst>
              <a:ext uri="{FF2B5EF4-FFF2-40B4-BE49-F238E27FC236}">
                <a16:creationId xmlns:a16="http://schemas.microsoft.com/office/drawing/2014/main" id="{71182172-C0CD-F9E3-04F1-F61360ED8C8C}"/>
              </a:ext>
            </a:extLst>
          </p:cNvPr>
          <p:cNvPicPr>
            <a:picLocks noChangeAspect="1"/>
          </p:cNvPicPr>
          <p:nvPr/>
        </p:nvPicPr>
        <p:blipFill>
          <a:blip r:embed="rId10"/>
          <a:stretch>
            <a:fillRect/>
          </a:stretch>
        </p:blipFill>
        <p:spPr>
          <a:xfrm rot="20245336">
            <a:off x="7736389" y="198407"/>
            <a:ext cx="1198123" cy="1431441"/>
          </a:xfrm>
          <a:prstGeom prst="rect">
            <a:avLst/>
          </a:prstGeom>
        </p:spPr>
      </p:pic>
    </p:spTree>
    <p:extLst>
      <p:ext uri="{BB962C8B-B14F-4D97-AF65-F5344CB8AC3E}">
        <p14:creationId xmlns:p14="http://schemas.microsoft.com/office/powerpoint/2010/main" val="1999145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53E58-7558-567A-93B0-8D60241BFB56}"/>
            </a:ext>
          </a:extLst>
        </p:cNvPr>
        <p:cNvGrpSpPr/>
        <p:nvPr/>
      </p:nvGrpSpPr>
      <p:grpSpPr>
        <a:xfrm>
          <a:off x="0" y="0"/>
          <a:ext cx="0" cy="0"/>
          <a:chOff x="0" y="0"/>
          <a:chExt cx="0" cy="0"/>
        </a:xfrm>
      </p:grpSpPr>
      <p:pic>
        <p:nvPicPr>
          <p:cNvPr id="2" name="Picture 1" descr="A blue and black background&#10;&#10;Description automatically generated">
            <a:extLst>
              <a:ext uri="{FF2B5EF4-FFF2-40B4-BE49-F238E27FC236}">
                <a16:creationId xmlns:a16="http://schemas.microsoft.com/office/drawing/2014/main" id="{39C0EF2F-4140-0FA9-3B86-ECBECECA03A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pic>
        <p:nvPicPr>
          <p:cNvPr id="7" name="Graphic 6" descr="Lightbulb outline">
            <a:extLst>
              <a:ext uri="{FF2B5EF4-FFF2-40B4-BE49-F238E27FC236}">
                <a16:creationId xmlns:a16="http://schemas.microsoft.com/office/drawing/2014/main" id="{5714FF94-9387-EE6B-2E3F-308D884497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694896"/>
            <a:ext cx="425886" cy="425886"/>
          </a:xfrm>
          <a:prstGeom prst="rect">
            <a:avLst/>
          </a:prstGeom>
        </p:spPr>
      </p:pic>
      <p:sp>
        <p:nvSpPr>
          <p:cNvPr id="3" name="Title 1">
            <a:extLst>
              <a:ext uri="{FF2B5EF4-FFF2-40B4-BE49-F238E27FC236}">
                <a16:creationId xmlns:a16="http://schemas.microsoft.com/office/drawing/2014/main" id="{72070DE0-5E5D-E394-D687-13B691F0EB31}"/>
              </a:ext>
            </a:extLst>
          </p:cNvPr>
          <p:cNvSpPr>
            <a:spLocks noGrp="1"/>
          </p:cNvSpPr>
          <p:nvPr>
            <p:ph type="title"/>
          </p:nvPr>
        </p:nvSpPr>
        <p:spPr>
          <a:xfrm>
            <a:off x="838200" y="365125"/>
            <a:ext cx="10515600" cy="1325563"/>
          </a:xfrm>
        </p:spPr>
        <p:txBody>
          <a:bodyPr/>
          <a:lstStyle/>
          <a:p>
            <a:r>
              <a:rPr lang="fr-FR" dirty="0" err="1"/>
              <a:t>LLMs</a:t>
            </a:r>
            <a:r>
              <a:rPr lang="fr-FR" dirty="0"/>
              <a:t>: </a:t>
            </a:r>
            <a:r>
              <a:rPr lang="fr-FR" dirty="0" err="1"/>
              <a:t>my</a:t>
            </a:r>
            <a:r>
              <a:rPr lang="fr-FR" dirty="0"/>
              <a:t> stance</a:t>
            </a:r>
            <a:endParaRPr lang="en-GB" dirty="0">
              <a:solidFill>
                <a:srgbClr val="7F7DB0"/>
              </a:solidFill>
            </a:endParaRPr>
          </a:p>
        </p:txBody>
      </p:sp>
      <p:sp>
        <p:nvSpPr>
          <p:cNvPr id="4" name="Content Placeholder 2">
            <a:extLst>
              <a:ext uri="{FF2B5EF4-FFF2-40B4-BE49-F238E27FC236}">
                <a16:creationId xmlns:a16="http://schemas.microsoft.com/office/drawing/2014/main" id="{C4475ADB-58D7-6135-28A6-C943A6E24485}"/>
              </a:ext>
            </a:extLst>
          </p:cNvPr>
          <p:cNvSpPr txBox="1">
            <a:spLocks/>
          </p:cNvSpPr>
          <p:nvPr/>
        </p:nvSpPr>
        <p:spPr>
          <a:xfrm>
            <a:off x="838200" y="1690688"/>
            <a:ext cx="10515600" cy="5167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3391B0"/>
                </a:solidFill>
              </a:rPr>
              <a:t>For coding</a:t>
            </a:r>
          </a:p>
          <a:p>
            <a:r>
              <a:rPr lang="en-GB" dirty="0"/>
              <a:t>I am nicer about it, but I still notice in your work:</a:t>
            </a:r>
          </a:p>
          <a:p>
            <a:pPr lvl="1"/>
            <a:r>
              <a:rPr lang="en-GB" dirty="0"/>
              <a:t>Useless code with no purpose whatsoever</a:t>
            </a:r>
          </a:p>
          <a:p>
            <a:pPr lvl="1"/>
            <a:r>
              <a:rPr lang="en-GB" dirty="0"/>
              <a:t>Code too convoluted and needlessly complex to be actually written entirely by you (or by any human)</a:t>
            </a:r>
          </a:p>
          <a:p>
            <a:r>
              <a:rPr lang="en-GB" dirty="0"/>
              <a:t>The worst case is when you copy code you don’t understand</a:t>
            </a:r>
          </a:p>
          <a:p>
            <a:r>
              <a:rPr lang="en-GB" dirty="0"/>
              <a:t>Just know that, if I suspect most of your work in my class is generated using an LLM:</a:t>
            </a:r>
          </a:p>
          <a:p>
            <a:pPr lvl="1"/>
            <a:r>
              <a:rPr lang="en-GB" dirty="0"/>
              <a:t>I won’t recommend you</a:t>
            </a:r>
          </a:p>
          <a:p>
            <a:pPr lvl="1"/>
            <a:r>
              <a:rPr lang="en-GB" dirty="0"/>
              <a:t>I won’t consider you for an application</a:t>
            </a:r>
          </a:p>
          <a:p>
            <a:endParaRPr lang="en-GB" dirty="0"/>
          </a:p>
        </p:txBody>
      </p:sp>
      <p:sp>
        <p:nvSpPr>
          <p:cNvPr id="5" name="Espace réservé du numéro de diapositive 4">
            <a:extLst>
              <a:ext uri="{FF2B5EF4-FFF2-40B4-BE49-F238E27FC236}">
                <a16:creationId xmlns:a16="http://schemas.microsoft.com/office/drawing/2014/main" id="{3A2E1F1E-2D7C-E381-BF16-65E9E05975AF}"/>
              </a:ext>
            </a:extLst>
          </p:cNvPr>
          <p:cNvSpPr>
            <a:spLocks noGrp="1"/>
          </p:cNvSpPr>
          <p:nvPr>
            <p:ph type="sldNum" sz="quarter" idx="12"/>
          </p:nvPr>
        </p:nvSpPr>
        <p:spPr/>
        <p:txBody>
          <a:bodyPr/>
          <a:lstStyle/>
          <a:p>
            <a:fld id="{6F3806FF-9E51-4331-BB90-F49EFA1FA4FC}" type="slidenum">
              <a:rPr lang="fr-FR" smtClean="0"/>
              <a:t>15</a:t>
            </a:fld>
            <a:endParaRPr lang="fr-FR"/>
          </a:p>
        </p:txBody>
      </p:sp>
      <p:grpSp>
        <p:nvGrpSpPr>
          <p:cNvPr id="21" name="Groupe 20">
            <a:extLst>
              <a:ext uri="{FF2B5EF4-FFF2-40B4-BE49-F238E27FC236}">
                <a16:creationId xmlns:a16="http://schemas.microsoft.com/office/drawing/2014/main" id="{AE55AD4A-E4EF-8542-4240-5BCC41C3C7ED}"/>
              </a:ext>
            </a:extLst>
          </p:cNvPr>
          <p:cNvGrpSpPr/>
          <p:nvPr/>
        </p:nvGrpSpPr>
        <p:grpSpPr>
          <a:xfrm>
            <a:off x="9033187" y="267942"/>
            <a:ext cx="2447427" cy="1448145"/>
            <a:chOff x="9033187" y="267942"/>
            <a:chExt cx="2447427" cy="1448145"/>
          </a:xfrm>
        </p:grpSpPr>
        <p:pic>
          <p:nvPicPr>
            <p:cNvPr id="9" name="Image 8" descr="Une image contenant symbole, logo, Police, Graphique&#10;&#10;Le contenu généré par l’IA peut être incorrect.">
              <a:extLst>
                <a:ext uri="{FF2B5EF4-FFF2-40B4-BE49-F238E27FC236}">
                  <a16:creationId xmlns:a16="http://schemas.microsoft.com/office/drawing/2014/main" id="{5F2BA73F-E7CB-A130-E90E-D3DBD498322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33187" y="608475"/>
              <a:ext cx="708659" cy="708659"/>
            </a:xfrm>
            <a:prstGeom prst="rect">
              <a:avLst/>
            </a:prstGeom>
          </p:spPr>
        </p:pic>
        <p:pic>
          <p:nvPicPr>
            <p:cNvPr id="11" name="Image 10" descr="Une image contenant Caractère coloré, créativité&#10;&#10;Le contenu généré par l’IA peut être incorrect.">
              <a:extLst>
                <a:ext uri="{FF2B5EF4-FFF2-40B4-BE49-F238E27FC236}">
                  <a16:creationId xmlns:a16="http://schemas.microsoft.com/office/drawing/2014/main" id="{70C4545A-BEB6-51EB-6EF5-50BA5C1618F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16745" y="785178"/>
              <a:ext cx="930909" cy="930909"/>
            </a:xfrm>
            <a:prstGeom prst="rect">
              <a:avLst/>
            </a:prstGeom>
          </p:spPr>
        </p:pic>
        <p:pic>
          <p:nvPicPr>
            <p:cNvPr id="13" name="Image 12" descr="Une image contenant Graphique, conception, illustration&#10;&#10;Le contenu généré par l’IA peut être incorrect.">
              <a:extLst>
                <a:ext uri="{FF2B5EF4-FFF2-40B4-BE49-F238E27FC236}">
                  <a16:creationId xmlns:a16="http://schemas.microsoft.com/office/drawing/2014/main" id="{8895B7F1-FF96-D917-C36C-03214E4BB3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23581" y="267942"/>
              <a:ext cx="517236" cy="517236"/>
            </a:xfrm>
            <a:prstGeom prst="rect">
              <a:avLst/>
            </a:prstGeom>
          </p:spPr>
        </p:pic>
        <p:pic>
          <p:nvPicPr>
            <p:cNvPr id="15" name="Image 14" descr="Une image contenant texte, Graphique, Police, graphisme&#10;&#10;Le contenu généré par l’IA peut être incorrect.">
              <a:extLst>
                <a:ext uri="{FF2B5EF4-FFF2-40B4-BE49-F238E27FC236}">
                  <a16:creationId xmlns:a16="http://schemas.microsoft.com/office/drawing/2014/main" id="{4DA8A4E5-197F-271F-B46E-AFF3DC6569A7}"/>
                </a:ext>
              </a:extLst>
            </p:cNvPr>
            <p:cNvPicPr>
              <a:picLocks noChangeAspect="1"/>
            </p:cNvPicPr>
            <p:nvPr/>
          </p:nvPicPr>
          <p:blipFill>
            <a:blip r:embed="rId8">
              <a:extLst>
                <a:ext uri="{28A0092B-C50C-407E-A947-70E740481C1C}">
                  <a14:useLocalDpi xmlns:a14="http://schemas.microsoft.com/office/drawing/2010/main" val="0"/>
                </a:ext>
              </a:extLst>
            </a:blip>
            <a:srcRect l="15161" t="29130" r="13198" b="30015"/>
            <a:stretch>
              <a:fillRect/>
            </a:stretch>
          </p:blipFill>
          <p:spPr>
            <a:xfrm rot="875908">
              <a:off x="10372250" y="997419"/>
              <a:ext cx="1108364" cy="632057"/>
            </a:xfrm>
            <a:prstGeom prst="rect">
              <a:avLst/>
            </a:prstGeom>
          </p:spPr>
        </p:pic>
        <p:pic>
          <p:nvPicPr>
            <p:cNvPr id="19" name="Graphique 18">
              <a:extLst>
                <a:ext uri="{FF2B5EF4-FFF2-40B4-BE49-F238E27FC236}">
                  <a16:creationId xmlns:a16="http://schemas.microsoft.com/office/drawing/2014/main" id="{71B4ACCA-6BBF-FD86-17F2-A0736DCC1FA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69296" y="373874"/>
              <a:ext cx="935736" cy="494069"/>
            </a:xfrm>
            <a:prstGeom prst="rect">
              <a:avLst/>
            </a:prstGeom>
          </p:spPr>
        </p:pic>
      </p:grpSp>
      <p:pic>
        <p:nvPicPr>
          <p:cNvPr id="8" name="Image 7">
            <a:extLst>
              <a:ext uri="{FF2B5EF4-FFF2-40B4-BE49-F238E27FC236}">
                <a16:creationId xmlns:a16="http://schemas.microsoft.com/office/drawing/2014/main" id="{8094A334-F608-0B2B-B9AB-CF87F470D2D5}"/>
              </a:ext>
            </a:extLst>
          </p:cNvPr>
          <p:cNvPicPr>
            <a:picLocks noChangeAspect="1"/>
          </p:cNvPicPr>
          <p:nvPr/>
        </p:nvPicPr>
        <p:blipFill>
          <a:blip r:embed="rId10"/>
          <a:stretch>
            <a:fillRect/>
          </a:stretch>
        </p:blipFill>
        <p:spPr>
          <a:xfrm rot="20245336">
            <a:off x="7736389" y="198407"/>
            <a:ext cx="1198123" cy="1431441"/>
          </a:xfrm>
          <a:prstGeom prst="rect">
            <a:avLst/>
          </a:prstGeom>
        </p:spPr>
      </p:pic>
    </p:spTree>
    <p:extLst>
      <p:ext uri="{BB962C8B-B14F-4D97-AF65-F5344CB8AC3E}">
        <p14:creationId xmlns:p14="http://schemas.microsoft.com/office/powerpoint/2010/main" val="4081819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96065-9C02-3B89-D355-DEF365E0759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F80FFCE-EE9B-6FE1-9595-12DF9951663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9D7F1C2E-ACC1-BC38-F7C4-FBB5D93399B1}"/>
              </a:ext>
            </a:extLst>
          </p:cNvPr>
          <p:cNvSpPr>
            <a:spLocks noGrp="1"/>
          </p:cNvSpPr>
          <p:nvPr>
            <p:ph idx="1"/>
          </p:nvPr>
        </p:nvSpPr>
        <p:spPr>
          <a:xfrm>
            <a:off x="2697146" y="1690688"/>
            <a:ext cx="9348215" cy="4351338"/>
          </a:xfrm>
        </p:spPr>
        <p:txBody>
          <a:bodyPr>
            <a:normAutofit/>
          </a:bodyPr>
          <a:lstStyle/>
          <a:p>
            <a:pPr marL="0" indent="0">
              <a:buNone/>
            </a:pPr>
            <a:r>
              <a:rPr lang="en-US" dirty="0"/>
              <a:t>The last years were wild — and you know what? </a:t>
            </a:r>
            <a:r>
              <a:rPr lang="en-US" b="1" dirty="0"/>
              <a:t>That’s rare</a:t>
            </a:r>
            <a:r>
              <a:rPr lang="en-US" dirty="0"/>
              <a:t>. Here is the top 3 obvious mistakes you should avoid this year:</a:t>
            </a:r>
          </a:p>
          <a:p>
            <a:pPr marL="514350" indent="-514350">
              <a:buFont typeface="+mj-lt"/>
              <a:buAutoNum type="arabicPeriod" startAt="3"/>
            </a:pPr>
            <a:r>
              <a:rPr lang="en-US" dirty="0"/>
              <a:t>Including your conversation with your LLM inside your work</a:t>
            </a:r>
          </a:p>
          <a:p>
            <a:pPr marL="514350" indent="-514350">
              <a:buFont typeface="+mj-lt"/>
              <a:buAutoNum type="arabicPeriod" startAt="2"/>
            </a:pPr>
            <a:r>
              <a:rPr lang="en-US" dirty="0"/>
              <a:t>Writing your entire report AND your presentation only with AI</a:t>
            </a:r>
          </a:p>
          <a:p>
            <a:pPr marL="514350" indent="-514350">
              <a:buFont typeface="+mj-lt"/>
              <a:buAutoNum type="arabicPeriod"/>
            </a:pPr>
            <a:r>
              <a:rPr lang="en-US" dirty="0"/>
              <a:t>Stealing work, </a:t>
            </a:r>
            <a:r>
              <a:rPr lang="en-US" dirty="0" err="1"/>
              <a:t>vibecoding</a:t>
            </a:r>
            <a:r>
              <a:rPr lang="en-US" dirty="0"/>
              <a:t> over it, and presenting it to recruiters</a:t>
            </a:r>
          </a:p>
          <a:p>
            <a:pPr marL="514350" indent="-514350">
              <a:buFont typeface="+mj-lt"/>
              <a:buAutoNum type="arabicPeriod"/>
            </a:pPr>
            <a:endParaRPr lang="en-US" dirty="0"/>
          </a:p>
          <a:p>
            <a:pPr marL="514350" indent="-514350">
              <a:buFont typeface="+mj-lt"/>
              <a:buAutoNum type="arabicPeriod"/>
            </a:pPr>
            <a:endParaRPr lang="en-US" dirty="0"/>
          </a:p>
          <a:p>
            <a:pPr lvl="1"/>
            <a:endParaRPr lang="en-US" dirty="0"/>
          </a:p>
          <a:p>
            <a:pPr lvl="1"/>
            <a:endParaRPr lang="en-US" dirty="0"/>
          </a:p>
        </p:txBody>
      </p:sp>
      <p:sp>
        <p:nvSpPr>
          <p:cNvPr id="8" name="Espace réservé du numéro de diapositive 7">
            <a:extLst>
              <a:ext uri="{FF2B5EF4-FFF2-40B4-BE49-F238E27FC236}">
                <a16:creationId xmlns:a16="http://schemas.microsoft.com/office/drawing/2014/main" id="{79F2211F-053C-E6D5-5C24-15984BE73A5B}"/>
              </a:ext>
            </a:extLst>
          </p:cNvPr>
          <p:cNvSpPr>
            <a:spLocks noGrp="1"/>
          </p:cNvSpPr>
          <p:nvPr>
            <p:ph type="sldNum" sz="quarter" idx="12"/>
          </p:nvPr>
        </p:nvSpPr>
        <p:spPr/>
        <p:txBody>
          <a:bodyPr/>
          <a:lstStyle/>
          <a:p>
            <a:fld id="{6F3806FF-9E51-4331-BB90-F49EFA1FA4FC}" type="slidenum">
              <a:rPr lang="fr-FR" smtClean="0"/>
              <a:t>16</a:t>
            </a:fld>
            <a:endParaRPr lang="fr-FR" dirty="0"/>
          </a:p>
        </p:txBody>
      </p:sp>
      <p:sp>
        <p:nvSpPr>
          <p:cNvPr id="2" name="Title 1">
            <a:extLst>
              <a:ext uri="{FF2B5EF4-FFF2-40B4-BE49-F238E27FC236}">
                <a16:creationId xmlns:a16="http://schemas.microsoft.com/office/drawing/2014/main" id="{8CB1AA6E-D2D7-6332-DBCB-8E4DAB7CDA80}"/>
              </a:ext>
            </a:extLst>
          </p:cNvPr>
          <p:cNvSpPr>
            <a:spLocks noGrp="1"/>
          </p:cNvSpPr>
          <p:nvPr>
            <p:ph type="title"/>
          </p:nvPr>
        </p:nvSpPr>
        <p:spPr>
          <a:xfrm>
            <a:off x="838200" y="365125"/>
            <a:ext cx="10515600" cy="1325563"/>
          </a:xfrm>
        </p:spPr>
        <p:txBody>
          <a:bodyPr/>
          <a:lstStyle/>
          <a:p>
            <a:r>
              <a:rPr lang="fr-FR" dirty="0" err="1"/>
              <a:t>LLMs</a:t>
            </a:r>
            <a:r>
              <a:rPr lang="fr-FR" dirty="0"/>
              <a:t>: </a:t>
            </a:r>
            <a:r>
              <a:rPr lang="fr-FR" dirty="0" err="1"/>
              <a:t>obvious</a:t>
            </a:r>
            <a:r>
              <a:rPr lang="fr-FR" dirty="0"/>
              <a:t> </a:t>
            </a:r>
            <a:r>
              <a:rPr lang="fr-FR" dirty="0" err="1"/>
              <a:t>red</a:t>
            </a:r>
            <a:r>
              <a:rPr lang="fr-FR" dirty="0"/>
              <a:t> flags</a:t>
            </a:r>
            <a:endParaRPr lang="en-GB" dirty="0">
              <a:solidFill>
                <a:srgbClr val="7F7DB0"/>
              </a:solidFill>
            </a:endParaRPr>
          </a:p>
        </p:txBody>
      </p:sp>
      <p:pic>
        <p:nvPicPr>
          <p:cNvPr id="3" name="Image 2" descr="Five things Sam Altman said this week - and what (we imagine) he really  means | TechFinitive">
            <a:extLst>
              <a:ext uri="{FF2B5EF4-FFF2-40B4-BE49-F238E27FC236}">
                <a16:creationId xmlns:a16="http://schemas.microsoft.com/office/drawing/2014/main" id="{0442C238-1816-9CC6-0C67-45E208B382B6}"/>
              </a:ext>
            </a:extLst>
          </p:cNvPr>
          <p:cNvPicPr>
            <a:picLocks noChangeAspect="1"/>
          </p:cNvPicPr>
          <p:nvPr/>
        </p:nvPicPr>
        <p:blipFill>
          <a:blip r:embed="rId4"/>
          <a:srcRect l="37837" t="1690" r="22771" b="332"/>
          <a:stretch>
            <a:fillRect/>
          </a:stretch>
        </p:blipFill>
        <p:spPr>
          <a:xfrm>
            <a:off x="491724" y="1690687"/>
            <a:ext cx="2058783" cy="3413875"/>
          </a:xfrm>
          <a:prstGeom prst="rect">
            <a:avLst/>
          </a:prstGeom>
        </p:spPr>
      </p:pic>
    </p:spTree>
    <p:extLst>
      <p:ext uri="{BB962C8B-B14F-4D97-AF65-F5344CB8AC3E}">
        <p14:creationId xmlns:p14="http://schemas.microsoft.com/office/powerpoint/2010/main" val="205973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Last advices before starting</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8236789" cy="4351338"/>
          </a:xfrm>
        </p:spPr>
        <p:txBody>
          <a:bodyPr>
            <a:normAutofit lnSpcReduction="10000"/>
          </a:bodyPr>
          <a:lstStyle/>
          <a:p>
            <a:r>
              <a:rPr lang="en-US" dirty="0"/>
              <a:t>For jobs in France, try the APEC: I was called 3-4 times a week for DS/biostatistics positions by recruiters when I posted my resume there</a:t>
            </a:r>
          </a:p>
          <a:p>
            <a:r>
              <a:rPr lang="en-US" dirty="0"/>
              <a:t>Check the average salary for your job on Glassdoor or the APEC, bump that by 10% when negotiating</a:t>
            </a:r>
          </a:p>
          <a:p>
            <a:r>
              <a:rPr lang="en-US" dirty="0"/>
              <a:t>If you want to train for interviews, go to job fairs and talk to </a:t>
            </a:r>
            <a:r>
              <a:rPr lang="en-US" i="1" dirty="0">
                <a:solidFill>
                  <a:srgbClr val="7F7DB0"/>
                </a:solidFill>
              </a:rPr>
              <a:t>literally everyone</a:t>
            </a:r>
          </a:p>
          <a:p>
            <a:pPr lvl="1"/>
            <a:r>
              <a:rPr lang="en-US" dirty="0"/>
              <a:t>Remember you are trying to sell a product: yourself, a capable working professional</a:t>
            </a:r>
          </a:p>
          <a:p>
            <a:r>
              <a:rPr lang="en-US" dirty="0"/>
              <a:t>If your goal is to increase your salary quickly, don’t stay in the same company</a:t>
            </a:r>
          </a:p>
        </p:txBody>
      </p:sp>
      <p:pic>
        <p:nvPicPr>
          <p:cNvPr id="3" name="Image 2" descr="Une femme occasionnelle qui lève le poing">
            <a:extLst>
              <a:ext uri="{FF2B5EF4-FFF2-40B4-BE49-F238E27FC236}">
                <a16:creationId xmlns:a16="http://schemas.microsoft.com/office/drawing/2014/main" id="{3858355F-7FAE-5204-D56B-D9DEE65769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8568" y="1123090"/>
            <a:ext cx="1838937" cy="5570738"/>
          </a:xfrm>
          <a:prstGeom prst="rect">
            <a:avLst/>
          </a:prstGeom>
        </p:spPr>
      </p:pic>
      <p:sp>
        <p:nvSpPr>
          <p:cNvPr id="8" name="Espace réservé du numéro de diapositive 7">
            <a:extLst>
              <a:ext uri="{FF2B5EF4-FFF2-40B4-BE49-F238E27FC236}">
                <a16:creationId xmlns:a16="http://schemas.microsoft.com/office/drawing/2014/main" id="{642C6EAB-5105-3729-C4E7-838CBF153A77}"/>
              </a:ext>
            </a:extLst>
          </p:cNvPr>
          <p:cNvSpPr>
            <a:spLocks noGrp="1"/>
          </p:cNvSpPr>
          <p:nvPr>
            <p:ph type="sldNum" sz="quarter" idx="12"/>
          </p:nvPr>
        </p:nvSpPr>
        <p:spPr/>
        <p:txBody>
          <a:bodyPr/>
          <a:lstStyle/>
          <a:p>
            <a:fld id="{6F3806FF-9E51-4331-BB90-F49EFA1FA4FC}" type="slidenum">
              <a:rPr lang="fr-FR" smtClean="0"/>
              <a:t>17</a:t>
            </a:fld>
            <a:endParaRPr lang="fr-FR" dirty="0"/>
          </a:p>
        </p:txBody>
      </p:sp>
    </p:spTree>
    <p:extLst>
      <p:ext uri="{BB962C8B-B14F-4D97-AF65-F5344CB8AC3E}">
        <p14:creationId xmlns:p14="http://schemas.microsoft.com/office/powerpoint/2010/main" val="406540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BFCA-D575-8DC5-EFE9-44A12727924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31A4315-650B-89EA-02B3-2B8B10C37E6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BBC710DF-8B7D-9A38-2A70-A0E28E07B5C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Last advices before starting</a:t>
            </a:r>
          </a:p>
        </p:txBody>
      </p:sp>
      <p:sp>
        <p:nvSpPr>
          <p:cNvPr id="6" name="Content Placeholder 5">
            <a:extLst>
              <a:ext uri="{FF2B5EF4-FFF2-40B4-BE49-F238E27FC236}">
                <a16:creationId xmlns:a16="http://schemas.microsoft.com/office/drawing/2014/main" id="{06B0D552-A4E5-AB3A-2123-A9CAA9DAAAFB}"/>
              </a:ext>
            </a:extLst>
          </p:cNvPr>
          <p:cNvSpPr>
            <a:spLocks noGrp="1"/>
          </p:cNvSpPr>
          <p:nvPr>
            <p:ph idx="1"/>
          </p:nvPr>
        </p:nvSpPr>
        <p:spPr>
          <a:xfrm>
            <a:off x="838200" y="1781784"/>
            <a:ext cx="8236789" cy="4351338"/>
          </a:xfrm>
        </p:spPr>
        <p:txBody>
          <a:bodyPr>
            <a:normAutofit/>
          </a:bodyPr>
          <a:lstStyle/>
          <a:p>
            <a:r>
              <a:rPr lang="en-US" dirty="0"/>
              <a:t>There is my CV template on GitHub</a:t>
            </a:r>
          </a:p>
          <a:p>
            <a:pPr lvl="1"/>
            <a:r>
              <a:rPr lang="en-US" dirty="0"/>
              <a:t>I made it a while ago using Latex</a:t>
            </a:r>
          </a:p>
          <a:p>
            <a:pPr lvl="1"/>
            <a:r>
              <a:rPr lang="en-US" dirty="0"/>
              <a:t>You can reuse it or modify it, without attribution</a:t>
            </a:r>
          </a:p>
          <a:p>
            <a:r>
              <a:rPr lang="en-US" dirty="0"/>
              <a:t>I can review your resume</a:t>
            </a:r>
          </a:p>
          <a:p>
            <a:pPr lvl="1"/>
            <a:r>
              <a:rPr lang="en-US" dirty="0"/>
              <a:t>Just ask me after class, if I’m not too busy</a:t>
            </a:r>
          </a:p>
          <a:p>
            <a:pPr lvl="1"/>
            <a:r>
              <a:rPr lang="en-US" dirty="0"/>
              <a:t>Or wait until the AMSE Career Day</a:t>
            </a:r>
          </a:p>
        </p:txBody>
      </p:sp>
      <p:pic>
        <p:nvPicPr>
          <p:cNvPr id="3" name="Image 2" descr="Une femme occasionnelle qui lève le poing">
            <a:extLst>
              <a:ext uri="{FF2B5EF4-FFF2-40B4-BE49-F238E27FC236}">
                <a16:creationId xmlns:a16="http://schemas.microsoft.com/office/drawing/2014/main" id="{91D4F789-280F-BB12-53FD-9ED22813D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a:off x="9218568" y="1123090"/>
            <a:ext cx="1838937" cy="5570738"/>
          </a:xfrm>
          <a:prstGeom prst="rect">
            <a:avLst/>
          </a:prstGeom>
        </p:spPr>
      </p:pic>
      <p:sp>
        <p:nvSpPr>
          <p:cNvPr id="8" name="Espace réservé du numéro de diapositive 7">
            <a:extLst>
              <a:ext uri="{FF2B5EF4-FFF2-40B4-BE49-F238E27FC236}">
                <a16:creationId xmlns:a16="http://schemas.microsoft.com/office/drawing/2014/main" id="{82E03E1A-403D-4583-296E-2E354D3F66C2}"/>
              </a:ext>
            </a:extLst>
          </p:cNvPr>
          <p:cNvSpPr>
            <a:spLocks noGrp="1"/>
          </p:cNvSpPr>
          <p:nvPr>
            <p:ph type="sldNum" sz="quarter" idx="12"/>
          </p:nvPr>
        </p:nvSpPr>
        <p:spPr/>
        <p:txBody>
          <a:bodyPr/>
          <a:lstStyle/>
          <a:p>
            <a:fld id="{6F3806FF-9E51-4331-BB90-F49EFA1FA4FC}" type="slidenum">
              <a:rPr lang="fr-FR" smtClean="0"/>
              <a:t>18</a:t>
            </a:fld>
            <a:endParaRPr lang="fr-FR" dirty="0"/>
          </a:p>
        </p:txBody>
      </p:sp>
    </p:spTree>
    <p:extLst>
      <p:ext uri="{BB962C8B-B14F-4D97-AF65-F5344CB8AC3E}">
        <p14:creationId xmlns:p14="http://schemas.microsoft.com/office/powerpoint/2010/main" val="382657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5"/>
            <a:ext cx="10515599" cy="5032376"/>
          </a:xfrm>
        </p:spPr>
        <p:txBody>
          <a:bodyPr>
            <a:normAutofit/>
          </a:bodyPr>
          <a:lstStyle/>
          <a:p>
            <a:pPr marL="0" indent="0">
              <a:buNone/>
            </a:pPr>
            <a:endParaRPr lang="en-US" dirty="0"/>
          </a:p>
          <a:p>
            <a:endParaRPr lang="en-US" dirty="0"/>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2759000"/>
            <a:ext cx="10515600" cy="2242768"/>
          </a:xfrm>
        </p:spPr>
        <p:txBody>
          <a:bodyPr anchor="t">
            <a:normAutofit/>
          </a:bodyPr>
          <a:lstStyle/>
          <a:p>
            <a:r>
              <a:rPr lang="en-US" dirty="0"/>
              <a:t>Questions?</a:t>
            </a:r>
            <a:br>
              <a:rPr lang="en-US" dirty="0"/>
            </a:br>
            <a:r>
              <a:rPr lang="en-US" sz="2000" dirty="0"/>
              <a:t>I’ll answer questions about jobs, work experience as a</a:t>
            </a:r>
            <a:br>
              <a:rPr lang="en-US" sz="2000" dirty="0"/>
            </a:br>
            <a:r>
              <a:rPr lang="en-US" sz="2000" dirty="0"/>
              <a:t>data scientist, projects…</a:t>
            </a:r>
            <a:br>
              <a:rPr lang="en-US" sz="2000" dirty="0"/>
            </a:br>
            <a:br>
              <a:rPr lang="en-US" sz="2000" dirty="0"/>
            </a:br>
            <a:br>
              <a:rPr lang="en-US" sz="2000" dirty="0"/>
            </a:br>
            <a:r>
              <a:rPr lang="en-US" sz="2000" b="1" dirty="0"/>
              <a:t>Don’t send me messages on LinkedIn</a:t>
            </a:r>
            <a:r>
              <a:rPr lang="en-US" sz="2000" dirty="0"/>
              <a:t>, use my email address.</a:t>
            </a:r>
            <a:endParaRPr lang="en-US" dirty="0"/>
          </a:p>
        </p:txBody>
      </p:sp>
      <p:sp>
        <p:nvSpPr>
          <p:cNvPr id="2" name="Espace réservé du numéro de diapositive 1">
            <a:extLst>
              <a:ext uri="{FF2B5EF4-FFF2-40B4-BE49-F238E27FC236}">
                <a16:creationId xmlns:a16="http://schemas.microsoft.com/office/drawing/2014/main" id="{6C4BA686-21D0-EADC-BF45-6974B7C6B8AF}"/>
              </a:ext>
            </a:extLst>
          </p:cNvPr>
          <p:cNvSpPr>
            <a:spLocks noGrp="1"/>
          </p:cNvSpPr>
          <p:nvPr>
            <p:ph type="sldNum" sz="quarter" idx="12"/>
          </p:nvPr>
        </p:nvSpPr>
        <p:spPr/>
        <p:txBody>
          <a:bodyPr/>
          <a:lstStyle/>
          <a:p>
            <a:fld id="{6F3806FF-9E51-4331-BB90-F49EFA1FA4FC}" type="slidenum">
              <a:rPr lang="fr-FR" smtClean="0"/>
              <a:t>19</a:t>
            </a:fld>
            <a:endParaRPr lang="fr-FR"/>
          </a:p>
        </p:txBody>
      </p:sp>
      <p:sp>
        <p:nvSpPr>
          <p:cNvPr id="5" name="Title 1">
            <a:extLst>
              <a:ext uri="{FF2B5EF4-FFF2-40B4-BE49-F238E27FC236}">
                <a16:creationId xmlns:a16="http://schemas.microsoft.com/office/drawing/2014/main" id="{4D48BB8A-6245-7F8E-0CA7-3B7B13C6F311}"/>
              </a:ext>
            </a:extLst>
          </p:cNvPr>
          <p:cNvSpPr txBox="1">
            <a:spLocks/>
          </p:cNvSpPr>
          <p:nvPr/>
        </p:nvSpPr>
        <p:spPr>
          <a:xfrm>
            <a:off x="1307546" y="3959435"/>
            <a:ext cx="10515600" cy="44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US" sz="2000" dirty="0">
                <a:solidFill>
                  <a:srgbClr val="1891C3"/>
                </a:solidFill>
              </a:rPr>
              <a:t>dimitri.scronias@univ-amu.fr</a:t>
            </a:r>
          </a:p>
        </p:txBody>
      </p:sp>
      <p:pic>
        <p:nvPicPr>
          <p:cNvPr id="9" name="Graphique 8" descr="Enveloppe contour">
            <a:extLst>
              <a:ext uri="{FF2B5EF4-FFF2-40B4-BE49-F238E27FC236}">
                <a16:creationId xmlns:a16="http://schemas.microsoft.com/office/drawing/2014/main" id="{B5B12362-E852-FC6C-1FF9-86A98ED14B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560" y="3959435"/>
            <a:ext cx="446986" cy="446986"/>
          </a:xfrm>
          <a:prstGeom prst="rect">
            <a:avLst/>
          </a:prstGeom>
        </p:spPr>
      </p:pic>
    </p:spTree>
    <p:extLst>
      <p:ext uri="{BB962C8B-B14F-4D97-AF65-F5344CB8AC3E}">
        <p14:creationId xmlns:p14="http://schemas.microsoft.com/office/powerpoint/2010/main" val="386809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and black background&#10;&#10;Description automatically generated">
            <a:extLst>
              <a:ext uri="{FF2B5EF4-FFF2-40B4-BE49-F238E27FC236}">
                <a16:creationId xmlns:a16="http://schemas.microsoft.com/office/drawing/2014/main" id="{754317A7-5302-91F8-8772-7F4904C50A3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Title 1">
            <a:extLst>
              <a:ext uri="{FF2B5EF4-FFF2-40B4-BE49-F238E27FC236}">
                <a16:creationId xmlns:a16="http://schemas.microsoft.com/office/drawing/2014/main" id="{E2FEFD62-9E90-AEC4-1A1A-618C8C475EC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E65A6BD-0B05-7F2F-6728-221585F3B507}"/>
              </a:ext>
            </a:extLst>
          </p:cNvPr>
          <p:cNvSpPr>
            <a:spLocks noGrp="1"/>
          </p:cNvSpPr>
          <p:nvPr>
            <p:ph idx="1"/>
          </p:nvPr>
        </p:nvSpPr>
        <p:spPr>
          <a:xfrm>
            <a:off x="1426923" y="1819362"/>
            <a:ext cx="10515600" cy="591898"/>
          </a:xfrm>
        </p:spPr>
        <p:txBody>
          <a:bodyPr/>
          <a:lstStyle/>
          <a:p>
            <a:pPr marL="0" indent="0">
              <a:buNone/>
            </a:pPr>
            <a:r>
              <a:rPr lang="en-GB" dirty="0">
                <a:latin typeface="Esteban" panose="02000000000000000000" pitchFamily="2" charset="0"/>
              </a:rPr>
              <a:t>“So, can you tell me about the </a:t>
            </a:r>
            <a:r>
              <a:rPr lang="en-GB" dirty="0">
                <a:solidFill>
                  <a:srgbClr val="7F7DB0"/>
                </a:solidFill>
                <a:latin typeface="Esteban" panose="02000000000000000000" pitchFamily="2" charset="0"/>
              </a:rPr>
              <a:t>different steps </a:t>
            </a:r>
            <a:r>
              <a:rPr lang="en-GB" dirty="0">
                <a:latin typeface="Esteban" panose="02000000000000000000" pitchFamily="2" charset="0"/>
              </a:rPr>
              <a:t>in a data project?”</a:t>
            </a:r>
          </a:p>
        </p:txBody>
      </p:sp>
      <p:sp>
        <p:nvSpPr>
          <p:cNvPr id="4" name="Content Placeholder 2">
            <a:extLst>
              <a:ext uri="{FF2B5EF4-FFF2-40B4-BE49-F238E27FC236}">
                <a16:creationId xmlns:a16="http://schemas.microsoft.com/office/drawing/2014/main" id="{ABD5DFE8-4E77-7BB5-BC99-D8F44D2FD897}"/>
              </a:ext>
            </a:extLst>
          </p:cNvPr>
          <p:cNvSpPr txBox="1">
            <a:spLocks/>
          </p:cNvSpPr>
          <p:nvPr/>
        </p:nvSpPr>
        <p:spPr>
          <a:xfrm>
            <a:off x="838200" y="2411260"/>
            <a:ext cx="10515600" cy="5198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GB" dirty="0">
                <a:latin typeface="Esteban" panose="02000000000000000000" pitchFamily="2" charset="0"/>
              </a:rPr>
              <a:t>—Some recruiter </a:t>
            </a:r>
            <a:r>
              <a:rPr lang="en-GB" sz="1800" dirty="0">
                <a:solidFill>
                  <a:schemeClr val="tx1">
                    <a:lumMod val="50000"/>
                    <a:lumOff val="50000"/>
                  </a:schemeClr>
                </a:solidFill>
                <a:latin typeface="Esteban" panose="02000000000000000000" pitchFamily="2" charset="0"/>
              </a:rPr>
              <a:t>(whose name I forgot)</a:t>
            </a:r>
            <a:endParaRPr lang="en-GB" dirty="0">
              <a:solidFill>
                <a:schemeClr val="tx1">
                  <a:lumMod val="50000"/>
                  <a:lumOff val="50000"/>
                </a:schemeClr>
              </a:solidFill>
              <a:latin typeface="Esteban" panose="02000000000000000000" pitchFamily="2" charset="0"/>
            </a:endParaRPr>
          </a:p>
        </p:txBody>
      </p:sp>
      <p:sp>
        <p:nvSpPr>
          <p:cNvPr id="6" name="Espace réservé du numéro de diapositive 5">
            <a:extLst>
              <a:ext uri="{FF2B5EF4-FFF2-40B4-BE49-F238E27FC236}">
                <a16:creationId xmlns:a16="http://schemas.microsoft.com/office/drawing/2014/main" id="{FF3EED53-EB57-AB75-ED79-CFEF79B53430}"/>
              </a:ext>
            </a:extLst>
          </p:cNvPr>
          <p:cNvSpPr>
            <a:spLocks noGrp="1"/>
          </p:cNvSpPr>
          <p:nvPr>
            <p:ph type="sldNum" sz="quarter" idx="12"/>
          </p:nvPr>
        </p:nvSpPr>
        <p:spPr/>
        <p:txBody>
          <a:bodyPr/>
          <a:lstStyle/>
          <a:p>
            <a:fld id="{6F3806FF-9E51-4331-BB90-F49EFA1FA4FC}" type="slidenum">
              <a:rPr lang="fr-FR" smtClean="0"/>
              <a:t>20</a:t>
            </a:fld>
            <a:endParaRPr lang="fr-FR"/>
          </a:p>
        </p:txBody>
      </p:sp>
    </p:spTree>
    <p:extLst>
      <p:ext uri="{BB962C8B-B14F-4D97-AF65-F5344CB8AC3E}">
        <p14:creationId xmlns:p14="http://schemas.microsoft.com/office/powerpoint/2010/main" val="97774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5"/>
            <a:ext cx="10515599" cy="4351338"/>
          </a:xfrm>
        </p:spPr>
        <p:txBody>
          <a:bodyPr/>
          <a:lstStyle/>
          <a:p>
            <a:pPr marL="514350" indent="-514350">
              <a:buFont typeface="+mj-lt"/>
              <a:buAutoNum type="arabicPeriod"/>
            </a:pPr>
            <a:r>
              <a:rPr lang="en-US" dirty="0"/>
              <a:t>Data &amp; defining needs</a:t>
            </a:r>
          </a:p>
          <a:p>
            <a:pPr marL="514350" indent="-514350">
              <a:buFont typeface="+mj-lt"/>
              <a:buAutoNum type="arabicPeriod"/>
            </a:pPr>
            <a:r>
              <a:rPr lang="en-US" dirty="0"/>
              <a:t>Data manipulation &amp; cleaning</a:t>
            </a:r>
            <a:br>
              <a:rPr lang="en-US" dirty="0"/>
            </a:br>
            <a:r>
              <a:rPr lang="en-US" sz="2000" dirty="0"/>
              <a:t>Missing data &amp; imputation, data quality and reliability…</a:t>
            </a:r>
          </a:p>
          <a:p>
            <a:pPr marL="514350" indent="-514350">
              <a:buFont typeface="+mj-lt"/>
              <a:buAutoNum type="arabicPeriod"/>
            </a:pPr>
            <a:r>
              <a:rPr lang="en-US" dirty="0"/>
              <a:t>Modelling</a:t>
            </a:r>
            <a:br>
              <a:rPr lang="en-US" dirty="0"/>
            </a:br>
            <a:r>
              <a:rPr lang="en-US" sz="2000" dirty="0"/>
              <a:t>Bias and fairness, interpretability and explainability, scalability and performance</a:t>
            </a:r>
          </a:p>
          <a:p>
            <a:pPr marL="514350" indent="-514350">
              <a:buFont typeface="+mj-lt"/>
              <a:buAutoNum type="arabicPeriod"/>
            </a:pPr>
            <a:r>
              <a:rPr lang="en-US" dirty="0"/>
              <a:t>Communicating results</a:t>
            </a:r>
            <a:br>
              <a:rPr lang="en-US" dirty="0"/>
            </a:br>
            <a:r>
              <a:rPr lang="en-US" sz="2000" dirty="0"/>
              <a:t>Communication and collaboration</a:t>
            </a:r>
          </a:p>
          <a:p>
            <a:pPr marL="514350" indent="-514350">
              <a:buFont typeface="+mj-lt"/>
              <a:buAutoNum type="arabicPeriod"/>
            </a:pPr>
            <a:endParaRPr lang="en-US" sz="2000" dirty="0"/>
          </a:p>
          <a:p>
            <a:pPr marL="0" indent="0">
              <a:buNone/>
            </a:pPr>
            <a:r>
              <a:rPr lang="en-US" sz="2000" dirty="0"/>
              <a:t>Plus: programming exercises in-between</a:t>
            </a:r>
            <a:endParaRPr lang="en-US" dirty="0"/>
          </a:p>
          <a:p>
            <a:pPr marL="514350" indent="-514350">
              <a:buFont typeface="+mj-lt"/>
              <a:buAutoNum type="arabicPeriod"/>
            </a:pPr>
            <a:endParaRPr lang="en-US" dirty="0"/>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365125"/>
            <a:ext cx="10515600" cy="1325563"/>
          </a:xfrm>
        </p:spPr>
        <p:txBody>
          <a:bodyPr/>
          <a:lstStyle/>
          <a:p>
            <a:r>
              <a:rPr lang="en-US" dirty="0"/>
              <a:t>Summary</a:t>
            </a:r>
          </a:p>
        </p:txBody>
      </p:sp>
      <p:sp>
        <p:nvSpPr>
          <p:cNvPr id="2" name="Espace réservé du numéro de diapositive 1">
            <a:extLst>
              <a:ext uri="{FF2B5EF4-FFF2-40B4-BE49-F238E27FC236}">
                <a16:creationId xmlns:a16="http://schemas.microsoft.com/office/drawing/2014/main" id="{4C965BA6-6CB3-6A80-38E9-0FECC1BD3BFE}"/>
              </a:ext>
            </a:extLst>
          </p:cNvPr>
          <p:cNvSpPr>
            <a:spLocks noGrp="1"/>
          </p:cNvSpPr>
          <p:nvPr>
            <p:ph type="sldNum" sz="quarter" idx="12"/>
          </p:nvPr>
        </p:nvSpPr>
        <p:spPr/>
        <p:txBody>
          <a:bodyPr/>
          <a:lstStyle/>
          <a:p>
            <a:fld id="{6F3806FF-9E51-4331-BB90-F49EFA1FA4FC}" type="slidenum">
              <a:rPr lang="fr-FR" smtClean="0"/>
              <a:t>21</a:t>
            </a:fld>
            <a:endParaRPr lang="fr-FR"/>
          </a:p>
        </p:txBody>
      </p:sp>
    </p:spTree>
    <p:extLst>
      <p:ext uri="{BB962C8B-B14F-4D97-AF65-F5344CB8AC3E}">
        <p14:creationId xmlns:p14="http://schemas.microsoft.com/office/powerpoint/2010/main" val="511403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Vidéo 7" title="Lignes pastel ondulantes">
            <a:hlinkClick r:id="" action="ppaction://media"/>
            <a:extLst>
              <a:ext uri="{FF2B5EF4-FFF2-40B4-BE49-F238E27FC236}">
                <a16:creationId xmlns:a16="http://schemas.microsoft.com/office/drawing/2014/main" id="{CF5686AA-2EF5-CB56-8384-EFEDAC4A770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87679" y="1216152"/>
            <a:ext cx="10515601" cy="2359152"/>
          </a:xfrm>
          <a:prstGeom prst="rect">
            <a:avLst/>
          </a:prstGeom>
          <a:ln w="38100">
            <a:noFill/>
            <a:extLst>
              <a:ext uri="{C807C97D-BFC1-408E-A445-0C87EB9F89A2}">
                <ask:lineSketchStyleProps xmlns:ask="http://schemas.microsoft.com/office/drawing/2018/sketchyshapes" sd="1219033472">
                  <a:custGeom>
                    <a:avLst/>
                    <a:gdLst>
                      <a:gd name="connsiteX0" fmla="*/ 0 w 7641142"/>
                      <a:gd name="connsiteY0" fmla="*/ 0 h 2359152"/>
                      <a:gd name="connsiteX1" fmla="*/ 7641142 w 7641142"/>
                      <a:gd name="connsiteY1" fmla="*/ 0 h 2359152"/>
                      <a:gd name="connsiteX2" fmla="*/ 7641142 w 7641142"/>
                      <a:gd name="connsiteY2" fmla="*/ 2359152 h 2359152"/>
                      <a:gd name="connsiteX3" fmla="*/ 0 w 7641142"/>
                      <a:gd name="connsiteY3" fmla="*/ 2359152 h 2359152"/>
                      <a:gd name="connsiteX4" fmla="*/ 0 w 7641142"/>
                      <a:gd name="connsiteY4" fmla="*/ 0 h 235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1142" h="2359152" fill="none" extrusionOk="0">
                        <a:moveTo>
                          <a:pt x="0" y="0"/>
                        </a:moveTo>
                        <a:cubicBezTo>
                          <a:pt x="1032195" y="-49533"/>
                          <a:pt x="4516862" y="-14809"/>
                          <a:pt x="7641142" y="0"/>
                        </a:cubicBezTo>
                        <a:cubicBezTo>
                          <a:pt x="7728781" y="267330"/>
                          <a:pt x="7568463" y="1688535"/>
                          <a:pt x="7641142" y="2359152"/>
                        </a:cubicBezTo>
                        <a:cubicBezTo>
                          <a:pt x="5837839" y="2310921"/>
                          <a:pt x="1020150" y="2443607"/>
                          <a:pt x="0" y="2359152"/>
                        </a:cubicBezTo>
                        <a:cubicBezTo>
                          <a:pt x="-38581" y="1678113"/>
                          <a:pt x="63341" y="877017"/>
                          <a:pt x="0" y="0"/>
                        </a:cubicBezTo>
                        <a:close/>
                      </a:path>
                      <a:path w="7641142" h="2359152" stroke="0" extrusionOk="0">
                        <a:moveTo>
                          <a:pt x="0" y="0"/>
                        </a:moveTo>
                        <a:cubicBezTo>
                          <a:pt x="1745228" y="118645"/>
                          <a:pt x="6420641" y="116012"/>
                          <a:pt x="7641142" y="0"/>
                        </a:cubicBezTo>
                        <a:cubicBezTo>
                          <a:pt x="7508260" y="321175"/>
                          <a:pt x="7726093" y="2085955"/>
                          <a:pt x="7641142" y="2359152"/>
                        </a:cubicBezTo>
                        <a:cubicBezTo>
                          <a:pt x="5313076" y="2493752"/>
                          <a:pt x="1528308" y="2201956"/>
                          <a:pt x="0" y="2359152"/>
                        </a:cubicBezTo>
                        <a:cubicBezTo>
                          <a:pt x="-20187" y="1749834"/>
                          <a:pt x="-152480" y="1001244"/>
                          <a:pt x="0" y="0"/>
                        </a:cubicBezTo>
                        <a:close/>
                      </a:path>
                    </a:pathLst>
                  </a:custGeom>
                  <ask:type>
                    <ask:lineSketchNone/>
                  </ask:type>
                </ask:lineSketchStyleProps>
              </a:ext>
            </a:extLst>
          </a:ln>
        </p:spPr>
      </p:pic>
      <p:sp>
        <p:nvSpPr>
          <p:cNvPr id="2" name="Title 1">
            <a:extLst>
              <a:ext uri="{FF2B5EF4-FFF2-40B4-BE49-F238E27FC236}">
                <a16:creationId xmlns:a16="http://schemas.microsoft.com/office/drawing/2014/main" id="{2BD24B40-C12D-07F4-807F-B9021FEECE4B}"/>
              </a:ext>
            </a:extLst>
          </p:cNvPr>
          <p:cNvSpPr>
            <a:spLocks noGrp="1"/>
          </p:cNvSpPr>
          <p:nvPr>
            <p:ph type="title"/>
          </p:nvPr>
        </p:nvSpPr>
        <p:spPr>
          <a:xfrm>
            <a:off x="838200" y="1758337"/>
            <a:ext cx="10515600" cy="1325563"/>
          </a:xfrm>
        </p:spPr>
        <p:txBody>
          <a:bodyPr>
            <a:normAutofit/>
          </a:bodyPr>
          <a:lstStyle/>
          <a:p>
            <a:r>
              <a:rPr lang="en-US" sz="6600" dirty="0">
                <a:solidFill>
                  <a:srgbClr val="FDFBF9"/>
                </a:solidFill>
              </a:rPr>
              <a:t>Data &amp; defining needs</a:t>
            </a:r>
          </a:p>
        </p:txBody>
      </p:sp>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3" name="Espace réservé du numéro de diapositive 2">
            <a:extLst>
              <a:ext uri="{FF2B5EF4-FFF2-40B4-BE49-F238E27FC236}">
                <a16:creationId xmlns:a16="http://schemas.microsoft.com/office/drawing/2014/main" id="{D9F4FDB8-C964-5A0C-3994-D78A12D4473B}"/>
              </a:ext>
            </a:extLst>
          </p:cNvPr>
          <p:cNvSpPr>
            <a:spLocks noGrp="1"/>
          </p:cNvSpPr>
          <p:nvPr>
            <p:ph type="sldNum" sz="quarter" idx="12"/>
          </p:nvPr>
        </p:nvSpPr>
        <p:spPr/>
        <p:txBody>
          <a:bodyPr/>
          <a:lstStyle/>
          <a:p>
            <a:fld id="{6F3806FF-9E51-4331-BB90-F49EFA1FA4FC}" type="slidenum">
              <a:rPr lang="fr-FR" smtClean="0"/>
              <a:t>22</a:t>
            </a:fld>
            <a:endParaRPr lang="fr-FR"/>
          </a:p>
        </p:txBody>
      </p:sp>
      <p:pic>
        <p:nvPicPr>
          <p:cNvPr id="12" name="Image 11" descr="Une femme d'affaires montre du doigt">
            <a:extLst>
              <a:ext uri="{FF2B5EF4-FFF2-40B4-BE49-F238E27FC236}">
                <a16:creationId xmlns:a16="http://schemas.microsoft.com/office/drawing/2014/main" id="{D067BF66-AD3F-4C37-B59A-711DC3E26451}"/>
              </a:ext>
            </a:extLst>
          </p:cNvPr>
          <p:cNvPicPr>
            <a:picLocks noChangeAspect="1"/>
          </p:cNvPicPr>
          <p:nvPr/>
        </p:nvPicPr>
        <p:blipFill>
          <a:blip r:embed="rId6">
            <a:extLst>
              <a:ext uri="{28A0092B-C50C-407E-A947-70E740481C1C}">
                <a14:useLocalDpi xmlns:a14="http://schemas.microsoft.com/office/drawing/2010/main" val="0"/>
              </a:ext>
            </a:extLst>
          </a:blip>
          <a:srcRect b="65466"/>
          <a:stretch>
            <a:fillRect/>
          </a:stretch>
        </p:blipFill>
        <p:spPr>
          <a:xfrm flipH="1">
            <a:off x="6901366" y="3680574"/>
            <a:ext cx="3974592" cy="3177426"/>
          </a:xfrm>
          <a:prstGeom prst="rect">
            <a:avLst/>
          </a:prstGeom>
        </p:spPr>
      </p:pic>
    </p:spTree>
    <p:extLst>
      <p:ext uri="{BB962C8B-B14F-4D97-AF65-F5344CB8AC3E}">
        <p14:creationId xmlns:p14="http://schemas.microsoft.com/office/powerpoint/2010/main" val="366747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2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B81AF05D-6A2E-D3EC-3471-202E5222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Content Placeholder 5">
            <a:extLst>
              <a:ext uri="{FF2B5EF4-FFF2-40B4-BE49-F238E27FC236}">
                <a16:creationId xmlns:a16="http://schemas.microsoft.com/office/drawing/2014/main" id="{23D89ED9-0CC1-BBF1-08B6-165E6843772B}"/>
              </a:ext>
            </a:extLst>
          </p:cNvPr>
          <p:cNvSpPr>
            <a:spLocks noGrp="1"/>
          </p:cNvSpPr>
          <p:nvPr>
            <p:ph idx="1"/>
          </p:nvPr>
        </p:nvSpPr>
        <p:spPr>
          <a:xfrm>
            <a:off x="838199" y="1825625"/>
            <a:ext cx="10515599" cy="4351338"/>
          </a:xfrm>
        </p:spPr>
        <p:txBody>
          <a:bodyPr/>
          <a:lstStyle/>
          <a:p>
            <a:pPr marL="514350" indent="-514350">
              <a:buFont typeface="+mj-lt"/>
              <a:buAutoNum type="arabicPeriod"/>
            </a:pPr>
            <a:r>
              <a:rPr lang="en-US" dirty="0"/>
              <a:t>Defining data and data science: what it is, what it is not</a:t>
            </a:r>
          </a:p>
          <a:p>
            <a:pPr marL="514350" indent="-514350">
              <a:buFont typeface="+mj-lt"/>
              <a:buAutoNum type="arabicPeriod"/>
            </a:pPr>
            <a:r>
              <a:rPr lang="en-US" dirty="0"/>
              <a:t>Planning your analyses: </a:t>
            </a:r>
          </a:p>
          <a:p>
            <a:pPr marL="971550" lvl="1" indent="-514350">
              <a:buFont typeface="+mj-lt"/>
              <a:buAutoNum type="arabicPeriod"/>
            </a:pPr>
            <a:r>
              <a:rPr lang="en-US" dirty="0"/>
              <a:t>Doing a data analysis plan</a:t>
            </a:r>
          </a:p>
          <a:p>
            <a:pPr marL="971550" lvl="1" indent="-514350">
              <a:buFont typeface="+mj-lt"/>
              <a:buAutoNum type="arabicPeriod"/>
            </a:pPr>
            <a:r>
              <a:rPr lang="en-US" dirty="0"/>
              <a:t>Data types</a:t>
            </a:r>
          </a:p>
          <a:p>
            <a:pPr marL="971550" lvl="1" indent="-514350">
              <a:buFont typeface="+mj-lt"/>
              <a:buAutoNum type="arabicPeriod"/>
            </a:pPr>
            <a:r>
              <a:rPr lang="en-US" dirty="0"/>
              <a:t>Modelling strategies</a:t>
            </a:r>
          </a:p>
          <a:p>
            <a:pPr marL="971550" lvl="1" indent="-514350">
              <a:buFont typeface="+mj-lt"/>
              <a:buAutoNum type="arabicPeriod"/>
            </a:pPr>
            <a:r>
              <a:rPr lang="en-US" dirty="0"/>
              <a:t>Pre-hoc variable selection</a:t>
            </a:r>
          </a:p>
          <a:p>
            <a:pPr marL="971550" lvl="1" indent="-514350">
              <a:buFont typeface="+mj-lt"/>
              <a:buAutoNum type="arabicPeriod"/>
            </a:pPr>
            <a:r>
              <a:rPr lang="en-US" dirty="0"/>
              <a:t>Tools and software</a:t>
            </a:r>
          </a:p>
          <a:p>
            <a:pPr marL="514350" indent="-514350">
              <a:buFont typeface="+mj-lt"/>
              <a:buAutoNum type="arabicPeriod"/>
            </a:pPr>
            <a:endParaRPr lang="en-US" dirty="0"/>
          </a:p>
        </p:txBody>
      </p:sp>
      <p:sp>
        <p:nvSpPr>
          <p:cNvPr id="7" name="Title 1">
            <a:extLst>
              <a:ext uri="{FF2B5EF4-FFF2-40B4-BE49-F238E27FC236}">
                <a16:creationId xmlns:a16="http://schemas.microsoft.com/office/drawing/2014/main" id="{08F6E5F7-82AB-67D0-6083-50BBF8A5CC0B}"/>
              </a:ext>
            </a:extLst>
          </p:cNvPr>
          <p:cNvSpPr>
            <a:spLocks noGrp="1"/>
          </p:cNvSpPr>
          <p:nvPr>
            <p:ph type="title"/>
          </p:nvPr>
        </p:nvSpPr>
        <p:spPr>
          <a:xfrm>
            <a:off x="838200" y="365125"/>
            <a:ext cx="10515600" cy="1325563"/>
          </a:xfrm>
        </p:spPr>
        <p:txBody>
          <a:bodyPr/>
          <a:lstStyle/>
          <a:p>
            <a:r>
              <a:rPr lang="en-US" dirty="0"/>
              <a:t>What we’ll see</a:t>
            </a:r>
          </a:p>
        </p:txBody>
      </p:sp>
      <p:sp>
        <p:nvSpPr>
          <p:cNvPr id="2" name="Espace réservé du numéro de diapositive 1">
            <a:extLst>
              <a:ext uri="{FF2B5EF4-FFF2-40B4-BE49-F238E27FC236}">
                <a16:creationId xmlns:a16="http://schemas.microsoft.com/office/drawing/2014/main" id="{4C965BA6-6CB3-6A80-38E9-0FECC1BD3BFE}"/>
              </a:ext>
            </a:extLst>
          </p:cNvPr>
          <p:cNvSpPr>
            <a:spLocks noGrp="1"/>
          </p:cNvSpPr>
          <p:nvPr>
            <p:ph type="sldNum" sz="quarter" idx="12"/>
          </p:nvPr>
        </p:nvSpPr>
        <p:spPr/>
        <p:txBody>
          <a:bodyPr/>
          <a:lstStyle/>
          <a:p>
            <a:fld id="{6F3806FF-9E51-4331-BB90-F49EFA1FA4FC}" type="slidenum">
              <a:rPr lang="fr-FR" smtClean="0"/>
              <a:t>23</a:t>
            </a:fld>
            <a:endParaRPr lang="fr-FR"/>
          </a:p>
        </p:txBody>
      </p:sp>
    </p:spTree>
    <p:extLst>
      <p:ext uri="{BB962C8B-B14F-4D97-AF65-F5344CB8AC3E}">
        <p14:creationId xmlns:p14="http://schemas.microsoft.com/office/powerpoint/2010/main" val="4134710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Resources</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10397648" cy="4351338"/>
          </a:xfrm>
        </p:spPr>
        <p:txBody>
          <a:bodyPr>
            <a:normAutofit/>
          </a:bodyPr>
          <a:lstStyle/>
          <a:p>
            <a:r>
              <a:rPr lang="en-US" dirty="0"/>
              <a:t>Simon Thompson. 2023. Managing Machine Learning Projects: From design to deployment</a:t>
            </a:r>
          </a:p>
          <a:p>
            <a:r>
              <a:rPr lang="en-US" dirty="0"/>
              <a:t>Provost F., Fawcett T. 2013. Data Science for Business: What you need to know about data mining and data-analytic thinking (2013)</a:t>
            </a:r>
          </a:p>
          <a:p>
            <a:r>
              <a:rPr lang="en-US" dirty="0" err="1"/>
              <a:t>Ameisen</a:t>
            </a:r>
            <a:r>
              <a:rPr lang="en-US" dirty="0"/>
              <a:t>, Emmanuel. 2020. Building Machine Learning Powered Applications: Going from Idea to Product</a:t>
            </a:r>
          </a:p>
        </p:txBody>
      </p:sp>
      <p:sp>
        <p:nvSpPr>
          <p:cNvPr id="2" name="Espace réservé du numéro de diapositive 1">
            <a:extLst>
              <a:ext uri="{FF2B5EF4-FFF2-40B4-BE49-F238E27FC236}">
                <a16:creationId xmlns:a16="http://schemas.microsoft.com/office/drawing/2014/main" id="{61B49160-CDC2-BFD1-59A4-8C1365B70D0E}"/>
              </a:ext>
            </a:extLst>
          </p:cNvPr>
          <p:cNvSpPr>
            <a:spLocks noGrp="1"/>
          </p:cNvSpPr>
          <p:nvPr>
            <p:ph type="sldNum" sz="quarter" idx="12"/>
          </p:nvPr>
        </p:nvSpPr>
        <p:spPr/>
        <p:txBody>
          <a:bodyPr/>
          <a:lstStyle/>
          <a:p>
            <a:fld id="{6F3806FF-9E51-4331-BB90-F49EFA1FA4FC}" type="slidenum">
              <a:rPr lang="fr-FR" smtClean="0"/>
              <a:t>24</a:t>
            </a:fld>
            <a:endParaRPr lang="fr-FR"/>
          </a:p>
        </p:txBody>
      </p:sp>
    </p:spTree>
    <p:extLst>
      <p:ext uri="{BB962C8B-B14F-4D97-AF65-F5344CB8AC3E}">
        <p14:creationId xmlns:p14="http://schemas.microsoft.com/office/powerpoint/2010/main" val="3358179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dirty="0">
                <a:solidFill>
                  <a:srgbClr val="00B050"/>
                </a:solidFill>
              </a:rPr>
              <a:t>s</a:t>
            </a:r>
            <a:r>
              <a:rPr lang="en-GB" dirty="0">
                <a:solidFill>
                  <a:srgbClr val="00B0F0"/>
                </a:solidFill>
              </a:rPr>
              <a:t>c</a:t>
            </a:r>
            <a:r>
              <a:rPr lang="en-GB" dirty="0">
                <a:solidFill>
                  <a:srgbClr val="0070C0"/>
                </a:solidFill>
              </a:rPr>
              <a:t>i</a:t>
            </a:r>
            <a:r>
              <a:rPr lang="en-GB" dirty="0">
                <a:solidFill>
                  <a:srgbClr val="002060"/>
                </a:solidFill>
              </a:rPr>
              <a:t>e</a:t>
            </a:r>
            <a:r>
              <a:rPr lang="en-GB" dirty="0">
                <a:solidFill>
                  <a:srgbClr val="7030A0"/>
                </a:solidFill>
              </a:rPr>
              <a:t>n</a:t>
            </a:r>
            <a:r>
              <a:rPr lang="en-GB" dirty="0">
                <a:solidFill>
                  <a:srgbClr val="002060"/>
                </a:solidFill>
              </a:rPr>
              <a:t>c</a:t>
            </a:r>
            <a:r>
              <a:rPr lang="en-GB" dirty="0">
                <a:solidFill>
                  <a:srgbClr val="0070C0"/>
                </a:solidFill>
              </a:rPr>
              <a:t>e🌈</a:t>
            </a:r>
            <a:r>
              <a:rPr lang="en-GB" dirty="0"/>
              <a:t> What? Why?</a:t>
            </a:r>
          </a:p>
        </p:txBody>
      </p:sp>
      <p:sp>
        <p:nvSpPr>
          <p:cNvPr id="3" name="Content Placeholder 5">
            <a:extLst>
              <a:ext uri="{FF2B5EF4-FFF2-40B4-BE49-F238E27FC236}">
                <a16:creationId xmlns:a16="http://schemas.microsoft.com/office/drawing/2014/main" id="{2088EB46-A901-8550-1D63-40EDC895C8AD}"/>
              </a:ext>
            </a:extLst>
          </p:cNvPr>
          <p:cNvSpPr>
            <a:spLocks noGrp="1"/>
          </p:cNvSpPr>
          <p:nvPr>
            <p:ph idx="1"/>
          </p:nvPr>
        </p:nvSpPr>
        <p:spPr>
          <a:xfrm>
            <a:off x="838200" y="1781784"/>
            <a:ext cx="10397648" cy="4351338"/>
          </a:xfrm>
        </p:spPr>
        <p:txBody>
          <a:bodyPr>
            <a:normAutofit/>
          </a:bodyPr>
          <a:lstStyle/>
          <a:p>
            <a:pPr marL="0" indent="0">
              <a:buNone/>
            </a:pPr>
            <a:r>
              <a:rPr lang="en-US" dirty="0"/>
              <a:t>DS involves “principles, processes and techniques for understanding phenomena via the analysis of data” (Provost F., Fawcett T.)</a:t>
            </a:r>
          </a:p>
          <a:p>
            <a:pPr marL="0" indent="0">
              <a:buNone/>
            </a:pPr>
            <a:endParaRPr lang="en-US" dirty="0"/>
          </a:p>
          <a:p>
            <a:pPr marL="0" indent="0">
              <a:buNone/>
            </a:pPr>
            <a:r>
              <a:rPr lang="en-US" dirty="0"/>
              <a:t>Main goal: </a:t>
            </a:r>
            <a:r>
              <a:rPr lang="en-US" dirty="0">
                <a:solidFill>
                  <a:srgbClr val="7F7DB0"/>
                </a:solidFill>
              </a:rPr>
              <a:t>help decision-making</a:t>
            </a:r>
            <a:r>
              <a:rPr lang="en-US" dirty="0"/>
              <a:t> (Data-Driven Decision Making)</a:t>
            </a:r>
          </a:p>
          <a:p>
            <a:pPr marL="0" indent="0">
              <a:buNone/>
            </a:pPr>
            <a:endParaRPr lang="en-US" dirty="0">
              <a:solidFill>
                <a:srgbClr val="7F7DB0"/>
              </a:solidFill>
            </a:endParaRPr>
          </a:p>
          <a:p>
            <a:pPr marL="0" indent="0">
              <a:buNone/>
            </a:pPr>
            <a:r>
              <a:rPr lang="en-US" dirty="0"/>
              <a:t>Avoid uninformed decisions like “we have always done it this way”, counterproductive “intuitive decisions”, or sometimes plain stupidity or dangerous decisions.</a:t>
            </a:r>
          </a:p>
          <a:p>
            <a:pPr marL="0" indent="0">
              <a:buNone/>
            </a:pPr>
            <a:endParaRPr lang="en-US" dirty="0">
              <a:solidFill>
                <a:srgbClr val="7F7DB0"/>
              </a:solidFill>
            </a:endParaRPr>
          </a:p>
          <a:p>
            <a:pPr marL="0" indent="0">
              <a:buNone/>
            </a:pPr>
            <a:endParaRPr lang="en-US" dirty="0">
              <a:solidFill>
                <a:srgbClr val="7F7DB0"/>
              </a:solidFill>
            </a:endParaRPr>
          </a:p>
        </p:txBody>
      </p:sp>
      <p:sp>
        <p:nvSpPr>
          <p:cNvPr id="2" name="Espace réservé du numéro de diapositive 1">
            <a:extLst>
              <a:ext uri="{FF2B5EF4-FFF2-40B4-BE49-F238E27FC236}">
                <a16:creationId xmlns:a16="http://schemas.microsoft.com/office/drawing/2014/main" id="{2C0B4D1E-1B0C-993D-65AE-0DC5ADB19FE3}"/>
              </a:ext>
            </a:extLst>
          </p:cNvPr>
          <p:cNvSpPr>
            <a:spLocks noGrp="1"/>
          </p:cNvSpPr>
          <p:nvPr>
            <p:ph type="sldNum" sz="quarter" idx="12"/>
          </p:nvPr>
        </p:nvSpPr>
        <p:spPr/>
        <p:txBody>
          <a:bodyPr/>
          <a:lstStyle/>
          <a:p>
            <a:fld id="{6F3806FF-9E51-4331-BB90-F49EFA1FA4FC}" type="slidenum">
              <a:rPr lang="fr-FR" smtClean="0"/>
              <a:t>25</a:t>
            </a:fld>
            <a:endParaRPr lang="fr-FR"/>
          </a:p>
        </p:txBody>
      </p:sp>
    </p:spTree>
    <p:extLst>
      <p:ext uri="{BB962C8B-B14F-4D97-AF65-F5344CB8AC3E}">
        <p14:creationId xmlns:p14="http://schemas.microsoft.com/office/powerpoint/2010/main" val="88084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0070C0"/>
                </a:solidFill>
              </a:rPr>
              <a:t>🌈</a:t>
            </a:r>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dirty="0">
                <a:solidFill>
                  <a:srgbClr val="00B050"/>
                </a:solidFill>
              </a:rPr>
              <a:t>s</a:t>
            </a:r>
            <a:r>
              <a:rPr lang="en-GB" dirty="0">
                <a:solidFill>
                  <a:srgbClr val="00B0F0"/>
                </a:solidFill>
              </a:rPr>
              <a:t>c</a:t>
            </a:r>
            <a:r>
              <a:rPr lang="en-GB" dirty="0">
                <a:solidFill>
                  <a:srgbClr val="0070C0"/>
                </a:solidFill>
              </a:rPr>
              <a:t>i</a:t>
            </a:r>
            <a:r>
              <a:rPr lang="en-GB" dirty="0">
                <a:solidFill>
                  <a:srgbClr val="002060"/>
                </a:solidFill>
              </a:rPr>
              <a:t>e</a:t>
            </a:r>
            <a:r>
              <a:rPr lang="en-GB" dirty="0">
                <a:solidFill>
                  <a:srgbClr val="7030A0"/>
                </a:solidFill>
              </a:rPr>
              <a:t>n</a:t>
            </a:r>
            <a:r>
              <a:rPr lang="en-GB" dirty="0">
                <a:solidFill>
                  <a:srgbClr val="002060"/>
                </a:solidFill>
              </a:rPr>
              <a:t>c</a:t>
            </a:r>
            <a:r>
              <a:rPr lang="en-GB" dirty="0">
                <a:solidFill>
                  <a:srgbClr val="0070C0"/>
                </a:solidFill>
              </a:rPr>
              <a:t>e🌈</a:t>
            </a:r>
            <a:r>
              <a:rPr lang="en-GB" dirty="0"/>
              <a:t> What? Why?</a:t>
            </a:r>
          </a:p>
        </p:txBody>
      </p:sp>
      <p:grpSp>
        <p:nvGrpSpPr>
          <p:cNvPr id="7" name="Groupe 6">
            <a:extLst>
              <a:ext uri="{FF2B5EF4-FFF2-40B4-BE49-F238E27FC236}">
                <a16:creationId xmlns:a16="http://schemas.microsoft.com/office/drawing/2014/main" id="{336963E1-76FA-EA29-B30E-95A8E7BEBD2F}"/>
              </a:ext>
            </a:extLst>
          </p:cNvPr>
          <p:cNvGrpSpPr/>
          <p:nvPr/>
        </p:nvGrpSpPr>
        <p:grpSpPr>
          <a:xfrm>
            <a:off x="662836" y="1565428"/>
            <a:ext cx="3996914" cy="5065946"/>
            <a:chOff x="662836" y="1565428"/>
            <a:chExt cx="3996914" cy="5065946"/>
          </a:xfrm>
        </p:grpSpPr>
        <p:pic>
          <p:nvPicPr>
            <p:cNvPr id="8" name="Picture 7">
              <a:extLst>
                <a:ext uri="{FF2B5EF4-FFF2-40B4-BE49-F238E27FC236}">
                  <a16:creationId xmlns:a16="http://schemas.microsoft.com/office/drawing/2014/main" id="{C4B019D7-8DBD-97C8-BF07-8F0331F1B92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62836" y="1565428"/>
              <a:ext cx="3996914" cy="4766635"/>
            </a:xfrm>
            <a:prstGeom prst="rect">
              <a:avLst/>
            </a:prstGeom>
          </p:spPr>
        </p:pic>
        <p:sp>
          <p:nvSpPr>
            <p:cNvPr id="2" name="TextBox 1">
              <a:extLst>
                <a:ext uri="{FF2B5EF4-FFF2-40B4-BE49-F238E27FC236}">
                  <a16:creationId xmlns:a16="http://schemas.microsoft.com/office/drawing/2014/main" id="{A7090C53-A8D8-A0F0-B359-39BFF931F1C5}"/>
                </a:ext>
              </a:extLst>
            </p:cNvPr>
            <p:cNvSpPr txBox="1"/>
            <p:nvPr/>
          </p:nvSpPr>
          <p:spPr>
            <a:xfrm>
              <a:off x="662836" y="6354375"/>
              <a:ext cx="3871586" cy="276999"/>
            </a:xfrm>
            <a:prstGeom prst="rect">
              <a:avLst/>
            </a:prstGeom>
            <a:noFill/>
          </p:spPr>
          <p:txBody>
            <a:bodyPr wrap="square" rtlCol="0">
              <a:spAutoFit/>
            </a:bodyPr>
            <a:lstStyle/>
            <a:p>
              <a:r>
                <a:rPr lang="fr-FR" sz="1200" dirty="0">
                  <a:solidFill>
                    <a:schemeClr val="tx1">
                      <a:lumMod val="65000"/>
                      <a:lumOff val="35000"/>
                    </a:schemeClr>
                  </a:solidFill>
                  <a:latin typeface="Montserrat" pitchFamily="2" charset="0"/>
                </a:rPr>
                <a:t>Provost F., Fawcett T. Data Science for Business.</a:t>
              </a:r>
              <a:endParaRPr lang="en-GB" sz="1200" dirty="0">
                <a:solidFill>
                  <a:schemeClr val="tx1">
                    <a:lumMod val="65000"/>
                    <a:lumOff val="35000"/>
                  </a:schemeClr>
                </a:solidFill>
                <a:latin typeface="Montserrat" pitchFamily="2" charset="0"/>
              </a:endParaRPr>
            </a:p>
          </p:txBody>
        </p:sp>
      </p:grpSp>
      <p:sp>
        <p:nvSpPr>
          <p:cNvPr id="3" name="Content Placeholder 5">
            <a:extLst>
              <a:ext uri="{FF2B5EF4-FFF2-40B4-BE49-F238E27FC236}">
                <a16:creationId xmlns:a16="http://schemas.microsoft.com/office/drawing/2014/main" id="{2088EB46-A901-8550-1D63-40EDC895C8AD}"/>
              </a:ext>
            </a:extLst>
          </p:cNvPr>
          <p:cNvSpPr>
            <a:spLocks noGrp="1"/>
          </p:cNvSpPr>
          <p:nvPr>
            <p:ph idx="1"/>
          </p:nvPr>
        </p:nvSpPr>
        <p:spPr>
          <a:xfrm>
            <a:off x="5267716" y="1907044"/>
            <a:ext cx="5654980" cy="4950956"/>
          </a:xfrm>
        </p:spPr>
        <p:txBody>
          <a:bodyPr>
            <a:normAutofit/>
          </a:bodyPr>
          <a:lstStyle/>
          <a:p>
            <a:r>
              <a:rPr lang="en-US" dirty="0"/>
              <a:t>Very simplified model of the goal of DS in a firm</a:t>
            </a:r>
          </a:p>
          <a:p>
            <a:r>
              <a:rPr lang="en-US" dirty="0"/>
              <a:t>DDD associated with increase in productivity in a firm</a:t>
            </a:r>
          </a:p>
          <a:p>
            <a:r>
              <a:rPr lang="en-US" dirty="0"/>
              <a:t>Keep in mind sometimes DS is not used for decision making! (but that is what we will focus on)</a:t>
            </a:r>
            <a:endParaRPr lang="en-US" dirty="0">
              <a:solidFill>
                <a:srgbClr val="7F7DB0"/>
              </a:solidFill>
            </a:endParaRPr>
          </a:p>
          <a:p>
            <a:endParaRPr lang="en-US" dirty="0">
              <a:solidFill>
                <a:srgbClr val="7F7DB0"/>
              </a:solidFill>
            </a:endParaRPr>
          </a:p>
          <a:p>
            <a:r>
              <a:rPr lang="en-US" dirty="0"/>
              <a:t>This graph is… not great. It is disconnected from reality. More on that in a dozen hours.</a:t>
            </a:r>
          </a:p>
        </p:txBody>
      </p:sp>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FE9BC1B4-2C02-5320-1A8E-346223D26E7D}"/>
                  </a:ext>
                </a:extLst>
              </p14:cNvPr>
              <p14:cNvContentPartPr/>
              <p14:nvPr/>
            </p14:nvContentPartPr>
            <p14:xfrm>
              <a:off x="1803659" y="2384591"/>
              <a:ext cx="1880640" cy="360"/>
            </p14:xfrm>
          </p:contentPart>
        </mc:Choice>
        <mc:Fallback xmlns="">
          <p:pic>
            <p:nvPicPr>
              <p:cNvPr id="13" name="Ink 12">
                <a:extLst>
                  <a:ext uri="{FF2B5EF4-FFF2-40B4-BE49-F238E27FC236}">
                    <a16:creationId xmlns:a16="http://schemas.microsoft.com/office/drawing/2014/main" id="{FE9BC1B4-2C02-5320-1A8E-346223D26E7D}"/>
                  </a:ext>
                </a:extLst>
              </p:cNvPr>
              <p:cNvPicPr/>
              <p:nvPr/>
            </p:nvPicPr>
            <p:blipFill>
              <a:blip r:embed="rId6"/>
              <a:stretch>
                <a:fillRect/>
              </a:stretch>
            </p:blipFill>
            <p:spPr>
              <a:xfrm>
                <a:off x="1749659" y="2276951"/>
                <a:ext cx="1988280" cy="216000"/>
              </a:xfrm>
              <a:prstGeom prst="rect">
                <a:avLst/>
              </a:prstGeom>
            </p:spPr>
          </p:pic>
        </mc:Fallback>
      </mc:AlternateContent>
      <p:sp>
        <p:nvSpPr>
          <p:cNvPr id="5" name="Espace réservé du numéro de diapositive 4">
            <a:extLst>
              <a:ext uri="{FF2B5EF4-FFF2-40B4-BE49-F238E27FC236}">
                <a16:creationId xmlns:a16="http://schemas.microsoft.com/office/drawing/2014/main" id="{7022B35D-0FB5-03A0-C5C4-30C42DD6698F}"/>
              </a:ext>
            </a:extLst>
          </p:cNvPr>
          <p:cNvSpPr>
            <a:spLocks noGrp="1"/>
          </p:cNvSpPr>
          <p:nvPr>
            <p:ph type="sldNum" sz="quarter" idx="12"/>
          </p:nvPr>
        </p:nvSpPr>
        <p:spPr/>
        <p:txBody>
          <a:bodyPr/>
          <a:lstStyle/>
          <a:p>
            <a:fld id="{6F3806FF-9E51-4331-BB90-F49EFA1FA4FC}" type="slidenum">
              <a:rPr lang="fr-FR" smtClean="0"/>
              <a:t>26</a:t>
            </a:fld>
            <a:endParaRPr lang="fr-FR"/>
          </a:p>
        </p:txBody>
      </p:sp>
    </p:spTree>
    <p:extLst>
      <p:ext uri="{BB962C8B-B14F-4D97-AF65-F5344CB8AC3E}">
        <p14:creationId xmlns:p14="http://schemas.microsoft.com/office/powerpoint/2010/main" val="63626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63063-0F00-5672-8B9F-A1EEA90C922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F81EB180-89E4-0DE8-4C31-93757F8603A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BDF38A86-7705-38DC-01F3-4A60B891A452}"/>
              </a:ext>
            </a:extLst>
          </p:cNvPr>
          <p:cNvSpPr>
            <a:spLocks noGrp="1"/>
          </p:cNvSpPr>
          <p:nvPr>
            <p:ph type="title"/>
          </p:nvPr>
        </p:nvSpPr>
        <p:spPr>
          <a:xfrm>
            <a:off x="838200" y="365125"/>
            <a:ext cx="10515600" cy="1325563"/>
          </a:xfrm>
        </p:spPr>
        <p:txBody>
          <a:bodyPr/>
          <a:lstStyle/>
          <a:p>
            <a:r>
              <a:rPr lang="en-GB">
                <a:solidFill>
                  <a:srgbClr val="FF0000"/>
                </a:solidFill>
              </a:rPr>
              <a:t>🌈D</a:t>
            </a:r>
            <a:r>
              <a:rPr lang="en-GB">
                <a:solidFill>
                  <a:srgbClr val="FFC000"/>
                </a:solidFill>
              </a:rPr>
              <a:t>a</a:t>
            </a:r>
            <a:r>
              <a:rPr lang="en-GB">
                <a:solidFill>
                  <a:srgbClr val="FFFF00"/>
                </a:solidFill>
              </a:rPr>
              <a:t>t</a:t>
            </a:r>
            <a:r>
              <a:rPr lang="en-GB">
                <a:solidFill>
                  <a:srgbClr val="92D050"/>
                </a:solidFill>
              </a:rPr>
              <a:t>a</a:t>
            </a:r>
            <a:r>
              <a:rPr lang="en-GB"/>
              <a:t> </a:t>
            </a:r>
            <a:r>
              <a:rPr lang="en-GB">
                <a:solidFill>
                  <a:srgbClr val="00B050"/>
                </a:solidFill>
              </a:rPr>
              <a:t>s</a:t>
            </a:r>
            <a:r>
              <a:rPr lang="en-GB">
                <a:solidFill>
                  <a:srgbClr val="00B0F0"/>
                </a:solidFill>
              </a:rPr>
              <a:t>c</a:t>
            </a:r>
            <a:r>
              <a:rPr lang="en-GB">
                <a:solidFill>
                  <a:srgbClr val="0070C0"/>
                </a:solidFill>
              </a:rPr>
              <a:t>i</a:t>
            </a:r>
            <a:r>
              <a:rPr lang="en-GB">
                <a:solidFill>
                  <a:srgbClr val="002060"/>
                </a:solidFill>
              </a:rPr>
              <a:t>e</a:t>
            </a:r>
            <a:r>
              <a:rPr lang="en-GB">
                <a:solidFill>
                  <a:srgbClr val="7030A0"/>
                </a:solidFill>
              </a:rPr>
              <a:t>n</a:t>
            </a:r>
            <a:r>
              <a:rPr lang="en-GB">
                <a:solidFill>
                  <a:srgbClr val="002060"/>
                </a:solidFill>
              </a:rPr>
              <a:t>c</a:t>
            </a:r>
            <a:r>
              <a:rPr lang="en-GB">
                <a:solidFill>
                  <a:srgbClr val="0070C0"/>
                </a:solidFill>
              </a:rPr>
              <a:t>e🌈</a:t>
            </a:r>
            <a:r>
              <a:rPr lang="en-GB"/>
              <a:t> What? Why?</a:t>
            </a:r>
            <a:endParaRPr lang="en-GB" dirty="0"/>
          </a:p>
        </p:txBody>
      </p:sp>
      <p:sp>
        <p:nvSpPr>
          <p:cNvPr id="3" name="Content Placeholder 5">
            <a:extLst>
              <a:ext uri="{FF2B5EF4-FFF2-40B4-BE49-F238E27FC236}">
                <a16:creationId xmlns:a16="http://schemas.microsoft.com/office/drawing/2014/main" id="{BA906D39-B558-CCE8-738A-0494B39FC6C5}"/>
              </a:ext>
            </a:extLst>
          </p:cNvPr>
          <p:cNvSpPr>
            <a:spLocks noGrp="1"/>
          </p:cNvSpPr>
          <p:nvPr>
            <p:ph idx="1"/>
          </p:nvPr>
        </p:nvSpPr>
        <p:spPr>
          <a:xfrm>
            <a:off x="838200" y="1781784"/>
            <a:ext cx="10397648" cy="4351338"/>
          </a:xfrm>
        </p:spPr>
        <p:txBody>
          <a:bodyPr>
            <a:normAutofit/>
          </a:bodyPr>
          <a:lstStyle/>
          <a:p>
            <a:pPr marL="0" indent="0">
              <a:buNone/>
            </a:pPr>
            <a:r>
              <a:rPr lang="en-US" sz="4400" dirty="0">
                <a:latin typeface="Montserrat" pitchFamily="2" charset="0"/>
              </a:rPr>
              <a:t>POLL TIME</a:t>
            </a:r>
          </a:p>
          <a:p>
            <a:pPr marL="0" indent="0">
              <a:buNone/>
            </a:pPr>
            <a:r>
              <a:rPr lang="en-US" dirty="0"/>
              <a:t>Between these three data science tasks, which do you think is most important? </a:t>
            </a:r>
            <a:r>
              <a:rPr lang="en-US" i="1" dirty="0"/>
              <a:t>(only one answer)</a:t>
            </a:r>
          </a:p>
          <a:p>
            <a:pPr marL="0" indent="0">
              <a:buNone/>
            </a:pPr>
            <a:r>
              <a:rPr lang="en-US" i="1" dirty="0"/>
              <a:t>	a. </a:t>
            </a:r>
            <a:r>
              <a:rPr lang="en-US" dirty="0"/>
              <a:t>Data cleaning (restructuring, data accuracy…)</a:t>
            </a:r>
          </a:p>
          <a:p>
            <a:pPr marL="0" indent="0">
              <a:buNone/>
            </a:pPr>
            <a:r>
              <a:rPr lang="en-US" i="1" dirty="0"/>
              <a:t>	b.</a:t>
            </a:r>
            <a:r>
              <a:rPr lang="en-US" dirty="0"/>
              <a:t> Analysis (modelling, deriving knowledge…)</a:t>
            </a:r>
          </a:p>
          <a:p>
            <a:pPr marL="0" indent="0">
              <a:buNone/>
            </a:pPr>
            <a:r>
              <a:rPr lang="en-US" i="1" dirty="0"/>
              <a:t>	c.</a:t>
            </a:r>
            <a:r>
              <a:rPr lang="en-US" dirty="0"/>
              <a:t> Communicating (results, interpretation…)</a:t>
            </a:r>
          </a:p>
          <a:p>
            <a:pPr marL="0" indent="0">
              <a:buNone/>
            </a:pPr>
            <a:endParaRPr lang="en-US" dirty="0"/>
          </a:p>
          <a:p>
            <a:pPr marL="0" indent="0">
              <a:buNone/>
            </a:pPr>
            <a:r>
              <a:rPr lang="en-US" dirty="0"/>
              <a:t>Which do you think is the most neglected?</a:t>
            </a:r>
          </a:p>
        </p:txBody>
      </p:sp>
      <p:sp>
        <p:nvSpPr>
          <p:cNvPr id="2" name="Espace réservé du numéro de diapositive 1">
            <a:extLst>
              <a:ext uri="{FF2B5EF4-FFF2-40B4-BE49-F238E27FC236}">
                <a16:creationId xmlns:a16="http://schemas.microsoft.com/office/drawing/2014/main" id="{4B0EB312-4209-C43C-19D9-F60018668966}"/>
              </a:ext>
            </a:extLst>
          </p:cNvPr>
          <p:cNvSpPr>
            <a:spLocks noGrp="1"/>
          </p:cNvSpPr>
          <p:nvPr>
            <p:ph type="sldNum" sz="quarter" idx="12"/>
          </p:nvPr>
        </p:nvSpPr>
        <p:spPr/>
        <p:txBody>
          <a:bodyPr/>
          <a:lstStyle/>
          <a:p>
            <a:fld id="{6F3806FF-9E51-4331-BB90-F49EFA1FA4FC}" type="slidenum">
              <a:rPr lang="fr-FR" smtClean="0"/>
              <a:t>27</a:t>
            </a:fld>
            <a:endParaRPr lang="fr-FR"/>
          </a:p>
        </p:txBody>
      </p:sp>
      <p:pic>
        <p:nvPicPr>
          <p:cNvPr id="7" name="Image 6" descr="Jean-Pierre Foucault présente son dernier «Qui veut gagner des millions ?»  sur TF1 - Le Parisien">
            <a:extLst>
              <a:ext uri="{FF2B5EF4-FFF2-40B4-BE49-F238E27FC236}">
                <a16:creationId xmlns:a16="http://schemas.microsoft.com/office/drawing/2014/main" id="{ED9034C9-009D-89C3-0CDB-BA2354FDAC27}"/>
              </a:ext>
            </a:extLst>
          </p:cNvPr>
          <p:cNvPicPr>
            <a:picLocks noChangeAspect="1"/>
          </p:cNvPicPr>
          <p:nvPr/>
        </p:nvPicPr>
        <p:blipFill>
          <a:blip r:embed="rId4"/>
          <a:srcRect l="14554" t="19799" r="20941" b="28028"/>
          <a:stretch>
            <a:fillRect/>
          </a:stretch>
        </p:blipFill>
        <p:spPr>
          <a:xfrm>
            <a:off x="9573928" y="3429000"/>
            <a:ext cx="2618072" cy="1391319"/>
          </a:xfrm>
          <a:prstGeom prst="rect">
            <a:avLst/>
          </a:prstGeom>
        </p:spPr>
      </p:pic>
    </p:spTree>
    <p:extLst>
      <p:ext uri="{BB962C8B-B14F-4D97-AF65-F5344CB8AC3E}">
        <p14:creationId xmlns:p14="http://schemas.microsoft.com/office/powerpoint/2010/main" val="32989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2" presetClass="entr" presetSubtype="2" fill="hold" nodeType="withEffect">
                                  <p:stCondLst>
                                    <p:cond delay="2000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10000" fill="hold"/>
                                        <p:tgtEl>
                                          <p:spTgt spid="7"/>
                                        </p:tgtEl>
                                        <p:attrNameLst>
                                          <p:attrName>ppt_x</p:attrName>
                                        </p:attrNameLst>
                                      </p:cBhvr>
                                      <p:tavLst>
                                        <p:tav tm="0">
                                          <p:val>
                                            <p:strVal val="1+#ppt_w/2"/>
                                          </p:val>
                                        </p:tav>
                                        <p:tav tm="100000">
                                          <p:val>
                                            <p:strVal val="#ppt_x"/>
                                          </p:val>
                                        </p:tav>
                                      </p:tavLst>
                                    </p:anim>
                                    <p:anim calcmode="lin" valueType="num">
                                      <p:cBhvr additive="base">
                                        <p:cTn id="10" dur="10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Don’t forget the end goal</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351338"/>
          </a:xfrm>
        </p:spPr>
        <p:txBody>
          <a:bodyPr>
            <a:normAutofit/>
          </a:bodyPr>
          <a:lstStyle/>
          <a:p>
            <a:pPr marL="0" indent="0">
              <a:buNone/>
            </a:pPr>
            <a:r>
              <a:rPr lang="en-US" dirty="0"/>
              <a:t>Your job is to </a:t>
            </a:r>
            <a:r>
              <a:rPr lang="en-US" dirty="0">
                <a:solidFill>
                  <a:srgbClr val="7F7DB0"/>
                </a:solidFill>
              </a:rPr>
              <a:t>make data interpretable </a:t>
            </a:r>
            <a:r>
              <a:rPr lang="en-US" dirty="0"/>
              <a:t>for decision-makers to make </a:t>
            </a:r>
            <a:r>
              <a:rPr lang="en-US" dirty="0">
                <a:solidFill>
                  <a:srgbClr val="7F7DB0"/>
                </a:solidFill>
              </a:rPr>
              <a:t>informed, data-driven decision. </a:t>
            </a:r>
            <a:r>
              <a:rPr lang="en-US" dirty="0"/>
              <a:t>The goal is the decision-making and not the analysis itself.</a:t>
            </a:r>
          </a:p>
          <a:p>
            <a:pPr marL="0" indent="0">
              <a:buNone/>
            </a:pPr>
            <a:endParaRPr lang="en-US" dirty="0"/>
          </a:p>
          <a:p>
            <a:pPr marL="0" indent="0">
              <a:buNone/>
            </a:pPr>
            <a:r>
              <a:rPr lang="en-US" dirty="0"/>
              <a:t>Remember, you will be dealing with people that:</a:t>
            </a:r>
          </a:p>
          <a:p>
            <a:r>
              <a:rPr lang="en-US" dirty="0"/>
              <a:t>Do not understand statistics as well as you;</a:t>
            </a:r>
          </a:p>
          <a:p>
            <a:r>
              <a:rPr lang="en-US" dirty="0"/>
              <a:t>Will be focused on getting results.</a:t>
            </a:r>
          </a:p>
          <a:p>
            <a:pPr marL="0" indent="0">
              <a:buNone/>
            </a:pPr>
            <a:endParaRPr lang="en-US" dirty="0">
              <a:solidFill>
                <a:srgbClr val="7F7DB0"/>
              </a:solidFill>
            </a:endParaRPr>
          </a:p>
          <a:p>
            <a:pPr marL="0" indent="0">
              <a:buNone/>
            </a:pPr>
            <a:r>
              <a:rPr lang="en-US" dirty="0"/>
              <a:t>Learn to simplify complicated findings from </a:t>
            </a:r>
            <a:r>
              <a:rPr lang="en-US" dirty="0">
                <a:solidFill>
                  <a:srgbClr val="1891C3"/>
                </a:solidFill>
              </a:rPr>
              <a:t>data</a:t>
            </a:r>
          </a:p>
        </p:txBody>
      </p:sp>
      <p:sp>
        <p:nvSpPr>
          <p:cNvPr id="2" name="Espace réservé du numéro de diapositive 1">
            <a:extLst>
              <a:ext uri="{FF2B5EF4-FFF2-40B4-BE49-F238E27FC236}">
                <a16:creationId xmlns:a16="http://schemas.microsoft.com/office/drawing/2014/main" id="{9B733644-73E7-3A85-AD99-199F9853C5AC}"/>
              </a:ext>
            </a:extLst>
          </p:cNvPr>
          <p:cNvSpPr>
            <a:spLocks noGrp="1"/>
          </p:cNvSpPr>
          <p:nvPr>
            <p:ph type="sldNum" sz="quarter" idx="12"/>
          </p:nvPr>
        </p:nvSpPr>
        <p:spPr/>
        <p:txBody>
          <a:bodyPr/>
          <a:lstStyle/>
          <a:p>
            <a:fld id="{6F3806FF-9E51-4331-BB90-F49EFA1FA4FC}" type="slidenum">
              <a:rPr lang="fr-FR" smtClean="0"/>
              <a:t>28</a:t>
            </a:fld>
            <a:endParaRPr lang="fr-FR"/>
          </a:p>
        </p:txBody>
      </p:sp>
    </p:spTree>
    <p:extLst>
      <p:ext uri="{BB962C8B-B14F-4D97-AF65-F5344CB8AC3E}">
        <p14:creationId xmlns:p14="http://schemas.microsoft.com/office/powerpoint/2010/main" val="85449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1FB2-CE27-574D-21D8-2688DA3D6614}"/>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F4F9912B-F41E-2439-746A-C2237819D89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E98B18A-F134-99F3-71C3-F5D2BEA476A8}"/>
              </a:ext>
            </a:extLst>
          </p:cNvPr>
          <p:cNvSpPr>
            <a:spLocks noGrp="1"/>
          </p:cNvSpPr>
          <p:nvPr>
            <p:ph type="title"/>
          </p:nvPr>
        </p:nvSpPr>
        <p:spPr>
          <a:xfrm>
            <a:off x="838200" y="365125"/>
            <a:ext cx="10515600" cy="1325563"/>
          </a:xfrm>
        </p:spPr>
        <p:txBody>
          <a:bodyPr/>
          <a:lstStyle/>
          <a:p>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strike="sngStrike" dirty="0">
                <a:solidFill>
                  <a:srgbClr val="00B050"/>
                </a:solidFill>
              </a:rPr>
              <a:t>s</a:t>
            </a:r>
            <a:r>
              <a:rPr lang="en-GB" strike="sngStrike" dirty="0">
                <a:solidFill>
                  <a:srgbClr val="00B0F0"/>
                </a:solidFill>
              </a:rPr>
              <a:t>c</a:t>
            </a:r>
            <a:r>
              <a:rPr lang="en-GB" strike="sngStrike" dirty="0">
                <a:solidFill>
                  <a:srgbClr val="0070C0"/>
                </a:solidFill>
              </a:rPr>
              <a:t>i</a:t>
            </a:r>
            <a:r>
              <a:rPr lang="en-GB" strike="sngStrike" dirty="0">
                <a:solidFill>
                  <a:srgbClr val="002060"/>
                </a:solidFill>
              </a:rPr>
              <a:t>e</a:t>
            </a:r>
            <a:r>
              <a:rPr lang="en-GB" strike="sngStrike" dirty="0">
                <a:solidFill>
                  <a:srgbClr val="7030A0"/>
                </a:solidFill>
              </a:rPr>
              <a:t>n</a:t>
            </a:r>
            <a:r>
              <a:rPr lang="en-GB" strike="sngStrike" dirty="0">
                <a:solidFill>
                  <a:srgbClr val="002060"/>
                </a:solidFill>
              </a:rPr>
              <a:t>c</a:t>
            </a:r>
            <a:r>
              <a:rPr lang="en-GB" strike="sngStrike" dirty="0">
                <a:solidFill>
                  <a:srgbClr val="0070C0"/>
                </a:solidFill>
              </a:rPr>
              <a:t>e</a:t>
            </a:r>
            <a:r>
              <a:rPr lang="en-GB" dirty="0">
                <a:solidFill>
                  <a:srgbClr val="0070C0"/>
                </a:solidFill>
              </a:rPr>
              <a:t>🌈</a:t>
            </a:r>
            <a:r>
              <a:rPr lang="en-GB" dirty="0"/>
              <a:t> What? Why?</a:t>
            </a:r>
          </a:p>
        </p:txBody>
      </p:sp>
      <p:sp>
        <p:nvSpPr>
          <p:cNvPr id="3" name="Content Placeholder 5">
            <a:extLst>
              <a:ext uri="{FF2B5EF4-FFF2-40B4-BE49-F238E27FC236}">
                <a16:creationId xmlns:a16="http://schemas.microsoft.com/office/drawing/2014/main" id="{9B851279-3D0A-4F24-25BE-62882A1B43F4}"/>
              </a:ext>
            </a:extLst>
          </p:cNvPr>
          <p:cNvSpPr>
            <a:spLocks noGrp="1"/>
          </p:cNvSpPr>
          <p:nvPr>
            <p:ph idx="1"/>
          </p:nvPr>
        </p:nvSpPr>
        <p:spPr>
          <a:xfrm>
            <a:off x="838200" y="1781784"/>
            <a:ext cx="10397648" cy="730410"/>
          </a:xfrm>
        </p:spPr>
        <p:txBody>
          <a:bodyPr>
            <a:normAutofit/>
          </a:bodyPr>
          <a:lstStyle/>
          <a:p>
            <a:pPr marL="0" indent="0">
              <a:buNone/>
            </a:pPr>
            <a:r>
              <a:rPr lang="en-US" dirty="0"/>
              <a:t>Data. Use </a:t>
            </a:r>
            <a:r>
              <a:rPr lang="en-US" b="1" dirty="0"/>
              <a:t>one word </a:t>
            </a:r>
            <a:r>
              <a:rPr lang="en-US" dirty="0"/>
              <a:t>to describe it.</a:t>
            </a:r>
          </a:p>
          <a:p>
            <a:pPr marL="0" indent="0">
              <a:buNone/>
            </a:pPr>
            <a:endParaRPr lang="en-US" dirty="0"/>
          </a:p>
          <a:p>
            <a:pPr marL="0" indent="0">
              <a:buNone/>
            </a:pPr>
            <a:endParaRPr lang="en-US" dirty="0"/>
          </a:p>
        </p:txBody>
      </p:sp>
      <p:sp>
        <p:nvSpPr>
          <p:cNvPr id="2" name="Espace réservé du numéro de diapositive 1">
            <a:extLst>
              <a:ext uri="{FF2B5EF4-FFF2-40B4-BE49-F238E27FC236}">
                <a16:creationId xmlns:a16="http://schemas.microsoft.com/office/drawing/2014/main" id="{4C4C8154-3CA0-8EEE-E71D-D394F5D81C18}"/>
              </a:ext>
            </a:extLst>
          </p:cNvPr>
          <p:cNvSpPr>
            <a:spLocks noGrp="1"/>
          </p:cNvSpPr>
          <p:nvPr>
            <p:ph type="sldNum" sz="quarter" idx="12"/>
          </p:nvPr>
        </p:nvSpPr>
        <p:spPr/>
        <p:txBody>
          <a:bodyPr/>
          <a:lstStyle/>
          <a:p>
            <a:fld id="{6F3806FF-9E51-4331-BB90-F49EFA1FA4FC}" type="slidenum">
              <a:rPr lang="fr-FR" smtClean="0"/>
              <a:t>29</a:t>
            </a:fld>
            <a:endParaRPr lang="fr-FR"/>
          </a:p>
        </p:txBody>
      </p:sp>
      <p:graphicFrame>
        <p:nvGraphicFramePr>
          <p:cNvPr id="5" name="Tableau 4">
            <a:extLst>
              <a:ext uri="{FF2B5EF4-FFF2-40B4-BE49-F238E27FC236}">
                <a16:creationId xmlns:a16="http://schemas.microsoft.com/office/drawing/2014/main" id="{A1C017F8-3217-856C-904D-6DF8D5371CB8}"/>
              </a:ext>
            </a:extLst>
          </p:cNvPr>
          <p:cNvGraphicFramePr>
            <a:graphicFrameLocks noGrp="1"/>
          </p:cNvGraphicFramePr>
          <p:nvPr>
            <p:extLst>
              <p:ext uri="{D42A27DB-BD31-4B8C-83A1-F6EECF244321}">
                <p14:modId xmlns:p14="http://schemas.microsoft.com/office/powerpoint/2010/main" val="1678452272"/>
              </p:ext>
            </p:extLst>
          </p:nvPr>
        </p:nvGraphicFramePr>
        <p:xfrm>
          <a:off x="973754" y="3990291"/>
          <a:ext cx="5120642" cy="1703070"/>
        </p:xfrm>
        <a:graphic>
          <a:graphicData uri="http://schemas.openxmlformats.org/drawingml/2006/table">
            <a:tbl>
              <a:tblPr>
                <a:tableStyleId>{5C22544A-7EE6-4342-B048-85BDC9FD1C3A}</a:tableStyleId>
              </a:tblPr>
              <a:tblGrid>
                <a:gridCol w="1923450">
                  <a:extLst>
                    <a:ext uri="{9D8B030D-6E8A-4147-A177-3AD203B41FA5}">
                      <a16:colId xmlns:a16="http://schemas.microsoft.com/office/drawing/2014/main" val="161275789"/>
                    </a:ext>
                  </a:extLst>
                </a:gridCol>
                <a:gridCol w="2132284">
                  <a:extLst>
                    <a:ext uri="{9D8B030D-6E8A-4147-A177-3AD203B41FA5}">
                      <a16:colId xmlns:a16="http://schemas.microsoft.com/office/drawing/2014/main" val="581948292"/>
                    </a:ext>
                  </a:extLst>
                </a:gridCol>
                <a:gridCol w="1064908">
                  <a:extLst>
                    <a:ext uri="{9D8B030D-6E8A-4147-A177-3AD203B41FA5}">
                      <a16:colId xmlns:a16="http://schemas.microsoft.com/office/drawing/2014/main" val="272041966"/>
                    </a:ext>
                  </a:extLst>
                </a:gridCol>
              </a:tblGrid>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name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body_temperature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location</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89357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Térébenthine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a:effectLst/>
                          <a:latin typeface="Source Sans Pro" panose="020B0503030403020204" pitchFamily="34" charset="0"/>
                          <a:ea typeface="Source Sans Pro" panose="020B0503030403020204" pitchFamily="34" charset="0"/>
                        </a:rPr>
                        <a:t>37.5</a:t>
                      </a:r>
                      <a:endParaRPr lang="fr-FR" sz="1800" b="0" i="0" u="none" strike="noStrike">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4389093"/>
                  </a:ext>
                </a:extLst>
              </a:tr>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Gonzaguette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37.3</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4797116"/>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Arlette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36.4</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armpit</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9243013"/>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Henri-Clotaire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48.5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forehead</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990151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Jehanne-Bertrude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39.1</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80457"/>
                  </a:ext>
                </a:extLst>
              </a:tr>
            </a:tbl>
          </a:graphicData>
        </a:graphic>
      </p:graphicFrame>
      <p:sp>
        <p:nvSpPr>
          <p:cNvPr id="8" name="ZoneTexte 7">
            <a:extLst>
              <a:ext uri="{FF2B5EF4-FFF2-40B4-BE49-F238E27FC236}">
                <a16:creationId xmlns:a16="http://schemas.microsoft.com/office/drawing/2014/main" id="{6717AE57-D8AA-0A91-6B95-430D0F70E056}"/>
              </a:ext>
            </a:extLst>
          </p:cNvPr>
          <p:cNvSpPr txBox="1"/>
          <p:nvPr/>
        </p:nvSpPr>
        <p:spPr>
          <a:xfrm>
            <a:off x="6329414" y="3990291"/>
            <a:ext cx="6097604" cy="1384995"/>
          </a:xfrm>
          <a:prstGeom prst="rect">
            <a:avLst/>
          </a:prstGeom>
          <a:noFill/>
        </p:spPr>
        <p:txBody>
          <a:bodyPr wrap="square">
            <a:spAutoFit/>
          </a:bodyPr>
          <a:lstStyle/>
          <a:p>
            <a:pPr marL="0" indent="0">
              <a:buNone/>
            </a:pPr>
            <a:r>
              <a:rPr lang="en-US" sz="2800" dirty="0"/>
              <a:t>Quick question, raise your hand for yes:</a:t>
            </a:r>
          </a:p>
          <a:p>
            <a:pPr marL="0" indent="0">
              <a:buNone/>
            </a:pPr>
            <a:r>
              <a:rPr lang="en-US" sz="2800" dirty="0"/>
              <a:t>	</a:t>
            </a:r>
            <a:r>
              <a:rPr lang="en-US" sz="2800" i="1" dirty="0"/>
              <a:t>a.</a:t>
            </a:r>
            <a:r>
              <a:rPr lang="en-US" sz="2800" dirty="0"/>
              <a:t> Is this data?</a:t>
            </a:r>
          </a:p>
        </p:txBody>
      </p:sp>
      <p:sp>
        <p:nvSpPr>
          <p:cNvPr id="7" name="Content Placeholder 5">
            <a:extLst>
              <a:ext uri="{FF2B5EF4-FFF2-40B4-BE49-F238E27FC236}">
                <a16:creationId xmlns:a16="http://schemas.microsoft.com/office/drawing/2014/main" id="{75D5BB25-DC8C-7080-A3F2-6A9488E1DB01}"/>
              </a:ext>
            </a:extLst>
          </p:cNvPr>
          <p:cNvSpPr txBox="1">
            <a:spLocks/>
          </p:cNvSpPr>
          <p:nvPr/>
        </p:nvSpPr>
        <p:spPr>
          <a:xfrm>
            <a:off x="838200" y="3383280"/>
            <a:ext cx="10397648" cy="730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Here is a table: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60936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strike="sngStrike" dirty="0">
                <a:solidFill>
                  <a:srgbClr val="00B050"/>
                </a:solidFill>
              </a:rPr>
              <a:t>s</a:t>
            </a:r>
            <a:r>
              <a:rPr lang="en-GB" strike="sngStrike" dirty="0">
                <a:solidFill>
                  <a:srgbClr val="00B0F0"/>
                </a:solidFill>
              </a:rPr>
              <a:t>c</a:t>
            </a:r>
            <a:r>
              <a:rPr lang="en-GB" strike="sngStrike" dirty="0">
                <a:solidFill>
                  <a:srgbClr val="0070C0"/>
                </a:solidFill>
              </a:rPr>
              <a:t>i</a:t>
            </a:r>
            <a:r>
              <a:rPr lang="en-GB" strike="sngStrike" dirty="0">
                <a:solidFill>
                  <a:srgbClr val="002060"/>
                </a:solidFill>
              </a:rPr>
              <a:t>e</a:t>
            </a:r>
            <a:r>
              <a:rPr lang="en-GB" strike="sngStrike" dirty="0">
                <a:solidFill>
                  <a:srgbClr val="7030A0"/>
                </a:solidFill>
              </a:rPr>
              <a:t>n</a:t>
            </a:r>
            <a:r>
              <a:rPr lang="en-GB" strike="sngStrike" dirty="0">
                <a:solidFill>
                  <a:srgbClr val="002060"/>
                </a:solidFill>
              </a:rPr>
              <a:t>c</a:t>
            </a:r>
            <a:r>
              <a:rPr lang="en-GB" strike="sngStrike" dirty="0">
                <a:solidFill>
                  <a:srgbClr val="0070C0"/>
                </a:solidFill>
              </a:rPr>
              <a:t>e</a:t>
            </a:r>
            <a:r>
              <a:rPr lang="en-GB" dirty="0">
                <a:solidFill>
                  <a:srgbClr val="0070C0"/>
                </a:solidFill>
              </a:rPr>
              <a:t>🌈</a:t>
            </a:r>
            <a:r>
              <a:rPr lang="en-GB" dirty="0"/>
              <a:t> What? Why?</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00852"/>
          </a:xfrm>
        </p:spPr>
        <p:txBody>
          <a:bodyPr>
            <a:normAutofit lnSpcReduction="10000"/>
          </a:bodyPr>
          <a:lstStyle/>
          <a:p>
            <a:pPr marL="0" indent="0" algn="ctr">
              <a:buNone/>
            </a:pPr>
            <a:r>
              <a:rPr lang="en-US" dirty="0"/>
              <a:t>“</a:t>
            </a:r>
            <a:r>
              <a:rPr lang="en-US" dirty="0">
                <a:solidFill>
                  <a:srgbClr val="7F7DB0"/>
                </a:solidFill>
              </a:rPr>
              <a:t>Factual information</a:t>
            </a:r>
            <a:r>
              <a:rPr lang="en-US" dirty="0"/>
              <a:t> (such as measurements or statistics) used as a basis for reasoning, discussion, or calculation”</a:t>
            </a:r>
          </a:p>
          <a:p>
            <a:pPr marL="0" indent="0">
              <a:buNone/>
            </a:pPr>
            <a:r>
              <a:rPr lang="en-US" sz="2000" dirty="0"/>
              <a:t>— Merriam-Webster</a:t>
            </a:r>
          </a:p>
          <a:p>
            <a:pPr marL="0" indent="0">
              <a:buNone/>
            </a:pPr>
            <a:endParaRPr lang="en-US" sz="2000" dirty="0"/>
          </a:p>
          <a:p>
            <a:pPr marL="0" indent="0" algn="ctr">
              <a:buNone/>
            </a:pPr>
            <a:r>
              <a:rPr lang="en-US" dirty="0"/>
              <a:t>“The word ‘data’ is commonly used to refer to </a:t>
            </a:r>
            <a:r>
              <a:rPr lang="en-US" dirty="0">
                <a:solidFill>
                  <a:srgbClr val="7F7DB0"/>
                </a:solidFill>
              </a:rPr>
              <a:t>records</a:t>
            </a:r>
            <a:r>
              <a:rPr lang="en-US" dirty="0"/>
              <a:t> or </a:t>
            </a:r>
            <a:r>
              <a:rPr lang="en-US" dirty="0">
                <a:solidFill>
                  <a:srgbClr val="7F7DB0"/>
                </a:solidFill>
              </a:rPr>
              <a:t>recordings </a:t>
            </a:r>
            <a:r>
              <a:rPr lang="en-US" dirty="0"/>
              <a:t>encoded  for use in computer, but is more widely used to refer to </a:t>
            </a:r>
            <a:r>
              <a:rPr lang="en-US" dirty="0">
                <a:solidFill>
                  <a:srgbClr val="7F7DB0"/>
                </a:solidFill>
              </a:rPr>
              <a:t>statistical observations </a:t>
            </a:r>
            <a:r>
              <a:rPr lang="en-US" dirty="0"/>
              <a:t>and other </a:t>
            </a:r>
            <a:r>
              <a:rPr lang="en-US" dirty="0">
                <a:solidFill>
                  <a:srgbClr val="7F7DB0"/>
                </a:solidFill>
              </a:rPr>
              <a:t>recording or collections of evidence</a:t>
            </a:r>
            <a:r>
              <a:rPr lang="en-US" dirty="0"/>
              <a:t>”</a:t>
            </a:r>
          </a:p>
          <a:p>
            <a:pPr marL="0" indent="0">
              <a:buNone/>
            </a:pPr>
            <a:r>
              <a:rPr lang="en-US" sz="2000" dirty="0"/>
              <a:t>— Zins C. (2007). Conceptual approaches for defining data, information and knowledge.</a:t>
            </a:r>
            <a:endParaRPr lang="en-US" dirty="0"/>
          </a:p>
          <a:p>
            <a:pPr marL="0" indent="0">
              <a:buNone/>
            </a:pPr>
            <a:endParaRPr lang="en-US" sz="2000" dirty="0">
              <a:latin typeface="Montserrat" pitchFamily="2" charset="0"/>
            </a:endParaRPr>
          </a:p>
          <a:p>
            <a:pPr marL="0" indent="0">
              <a:buNone/>
            </a:pPr>
            <a:r>
              <a:rPr lang="en-US" dirty="0"/>
              <a:t>Defining (and understanding) data is a lot harder than it seems. The article above contains more than </a:t>
            </a:r>
            <a:r>
              <a:rPr lang="en-US" dirty="0">
                <a:solidFill>
                  <a:srgbClr val="1891C3"/>
                </a:solidFill>
              </a:rPr>
              <a:t>40 definitions </a:t>
            </a:r>
            <a:r>
              <a:rPr lang="en-US" dirty="0"/>
              <a:t>of it.</a:t>
            </a:r>
            <a:endParaRPr lang="en-US" dirty="0">
              <a:solidFill>
                <a:srgbClr val="7F7DB0"/>
              </a:solidFill>
            </a:endParaRPr>
          </a:p>
        </p:txBody>
      </p:sp>
      <p:sp>
        <p:nvSpPr>
          <p:cNvPr id="2" name="Espace réservé du numéro de diapositive 1">
            <a:extLst>
              <a:ext uri="{FF2B5EF4-FFF2-40B4-BE49-F238E27FC236}">
                <a16:creationId xmlns:a16="http://schemas.microsoft.com/office/drawing/2014/main" id="{0E300CDE-D73C-B1A8-D17C-2764904ADB27}"/>
              </a:ext>
            </a:extLst>
          </p:cNvPr>
          <p:cNvSpPr>
            <a:spLocks noGrp="1"/>
          </p:cNvSpPr>
          <p:nvPr>
            <p:ph type="sldNum" sz="quarter" idx="12"/>
          </p:nvPr>
        </p:nvSpPr>
        <p:spPr/>
        <p:txBody>
          <a:bodyPr/>
          <a:lstStyle/>
          <a:p>
            <a:fld id="{6F3806FF-9E51-4331-BB90-F49EFA1FA4FC}" type="slidenum">
              <a:rPr lang="fr-FR" smtClean="0"/>
              <a:t>30</a:t>
            </a:fld>
            <a:endParaRPr lang="fr-FR"/>
          </a:p>
        </p:txBody>
      </p:sp>
    </p:spTree>
    <p:extLst>
      <p:ext uri="{BB962C8B-B14F-4D97-AF65-F5344CB8AC3E}">
        <p14:creationId xmlns:p14="http://schemas.microsoft.com/office/powerpoint/2010/main" val="115392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515D-CA51-BF77-73E2-0943AAAD88E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2961673-1917-5062-677F-372D21AD4C9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23304D20-28E9-48F0-A3ED-DA67A410D3D8}"/>
              </a:ext>
            </a:extLst>
          </p:cNvPr>
          <p:cNvSpPr>
            <a:spLocks noGrp="1"/>
          </p:cNvSpPr>
          <p:nvPr>
            <p:ph type="sldNum" sz="quarter" idx="12"/>
          </p:nvPr>
        </p:nvSpPr>
        <p:spPr/>
        <p:txBody>
          <a:bodyPr/>
          <a:lstStyle/>
          <a:p>
            <a:fld id="{6F3806FF-9E51-4331-BB90-F49EFA1FA4FC}" type="slidenum">
              <a:rPr lang="fr-FR" smtClean="0"/>
              <a:t>31</a:t>
            </a:fld>
            <a:endParaRPr lang="fr-FR"/>
          </a:p>
        </p:txBody>
      </p:sp>
      <p:graphicFrame>
        <p:nvGraphicFramePr>
          <p:cNvPr id="5" name="Tableau 4">
            <a:extLst>
              <a:ext uri="{FF2B5EF4-FFF2-40B4-BE49-F238E27FC236}">
                <a16:creationId xmlns:a16="http://schemas.microsoft.com/office/drawing/2014/main" id="{0F873E32-8995-9131-E09B-843C38CE7AF8}"/>
              </a:ext>
            </a:extLst>
          </p:cNvPr>
          <p:cNvGraphicFramePr>
            <a:graphicFrameLocks noGrp="1"/>
          </p:cNvGraphicFramePr>
          <p:nvPr/>
        </p:nvGraphicFramePr>
        <p:xfrm>
          <a:off x="973754" y="1810169"/>
          <a:ext cx="5120642" cy="1703070"/>
        </p:xfrm>
        <a:graphic>
          <a:graphicData uri="http://schemas.openxmlformats.org/drawingml/2006/table">
            <a:tbl>
              <a:tblPr>
                <a:tableStyleId>{5C22544A-7EE6-4342-B048-85BDC9FD1C3A}</a:tableStyleId>
              </a:tblPr>
              <a:tblGrid>
                <a:gridCol w="1923450">
                  <a:extLst>
                    <a:ext uri="{9D8B030D-6E8A-4147-A177-3AD203B41FA5}">
                      <a16:colId xmlns:a16="http://schemas.microsoft.com/office/drawing/2014/main" val="161275789"/>
                    </a:ext>
                  </a:extLst>
                </a:gridCol>
                <a:gridCol w="2132284">
                  <a:extLst>
                    <a:ext uri="{9D8B030D-6E8A-4147-A177-3AD203B41FA5}">
                      <a16:colId xmlns:a16="http://schemas.microsoft.com/office/drawing/2014/main" val="581948292"/>
                    </a:ext>
                  </a:extLst>
                </a:gridCol>
                <a:gridCol w="1064908">
                  <a:extLst>
                    <a:ext uri="{9D8B030D-6E8A-4147-A177-3AD203B41FA5}">
                      <a16:colId xmlns:a16="http://schemas.microsoft.com/office/drawing/2014/main" val="272041966"/>
                    </a:ext>
                  </a:extLst>
                </a:gridCol>
              </a:tblGrid>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name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body_temperature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location</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89357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Térébenthine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4389093"/>
                  </a:ext>
                </a:extLst>
              </a:tr>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Gonzaguette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37.3</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4797116"/>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Arlette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36.4</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armpit</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9243013"/>
                  </a:ext>
                </a:extLst>
              </a:tr>
              <a:tr h="190500">
                <a:tc>
                  <a:txBody>
                    <a:bodyPr/>
                    <a:lstStyle/>
                    <a:p>
                      <a:pPr algn="l" fontAlgn="b">
                        <a:buNone/>
                      </a:pPr>
                      <a:r>
                        <a:rPr lang="fr-FR" sz="1800" u="none" strike="noStrike">
                          <a:effectLst/>
                          <a:latin typeface="Source Sans Pro" panose="020B0503030403020204" pitchFamily="34" charset="0"/>
                          <a:ea typeface="Source Sans Pro" panose="020B0503030403020204" pitchFamily="34" charset="0"/>
                        </a:rPr>
                        <a:t>Henri-Clotaire</a:t>
                      </a:r>
                      <a:endParaRPr lang="fr-FR" sz="1800" b="0" i="0" u="none" strike="noStrike">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48.5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forehead</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990151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Jehanne-Bertrude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39.1</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80457"/>
                  </a:ext>
                </a:extLst>
              </a:tr>
            </a:tbl>
          </a:graphicData>
        </a:graphic>
      </p:graphicFrame>
      <p:sp>
        <p:nvSpPr>
          <p:cNvPr id="3" name="ZoneTexte 7">
            <a:extLst>
              <a:ext uri="{FF2B5EF4-FFF2-40B4-BE49-F238E27FC236}">
                <a16:creationId xmlns:a16="http://schemas.microsoft.com/office/drawing/2014/main" id="{2B835A8B-ED0A-E9BC-C8A1-D4D8EF6C6B3F}"/>
              </a:ext>
            </a:extLst>
          </p:cNvPr>
          <p:cNvSpPr txBox="1"/>
          <p:nvPr/>
        </p:nvSpPr>
        <p:spPr>
          <a:xfrm>
            <a:off x="6329414" y="1810169"/>
            <a:ext cx="6097604" cy="1384995"/>
          </a:xfrm>
          <a:prstGeom prst="rect">
            <a:avLst/>
          </a:prstGeom>
          <a:noFill/>
        </p:spPr>
        <p:txBody>
          <a:bodyPr wrap="square">
            <a:spAutoFit/>
          </a:bodyPr>
          <a:lstStyle/>
          <a:p>
            <a:pPr marL="0" indent="0">
              <a:buNone/>
            </a:pPr>
            <a:r>
              <a:rPr lang="en-US" sz="2800" dirty="0"/>
              <a:t>The Merriam-Webster defines data as </a:t>
            </a:r>
            <a:r>
              <a:rPr lang="en-US" sz="2800" i="1" dirty="0"/>
              <a:t>factual information</a:t>
            </a:r>
          </a:p>
          <a:p>
            <a:r>
              <a:rPr lang="en-US" sz="2800" dirty="0"/>
              <a:t>	 b. Is the second column a fact?</a:t>
            </a:r>
          </a:p>
        </p:txBody>
      </p:sp>
      <p:sp>
        <p:nvSpPr>
          <p:cNvPr id="9" name="Title 1">
            <a:extLst>
              <a:ext uri="{FF2B5EF4-FFF2-40B4-BE49-F238E27FC236}">
                <a16:creationId xmlns:a16="http://schemas.microsoft.com/office/drawing/2014/main" id="{84323789-B6C5-2CB9-EC61-9A3E23A694D8}"/>
              </a:ext>
            </a:extLst>
          </p:cNvPr>
          <p:cNvSpPr>
            <a:spLocks noGrp="1"/>
          </p:cNvSpPr>
          <p:nvPr>
            <p:ph type="title"/>
          </p:nvPr>
        </p:nvSpPr>
        <p:spPr>
          <a:xfrm>
            <a:off x="838200" y="365125"/>
            <a:ext cx="10515600" cy="1325563"/>
          </a:xfrm>
        </p:spPr>
        <p:txBody>
          <a:bodyPr/>
          <a:lstStyle/>
          <a:p>
            <a:r>
              <a:rPr lang="fr-FR" dirty="0">
                <a:solidFill>
                  <a:srgbClr val="0C0804"/>
                </a:solidFill>
              </a:rPr>
              <a:t>Data as</a:t>
            </a:r>
            <a:r>
              <a:rPr lang="en-GB" dirty="0">
                <a:solidFill>
                  <a:srgbClr val="0C0804"/>
                </a:solidFill>
              </a:rPr>
              <a:t> </a:t>
            </a:r>
            <a:r>
              <a:rPr lang="en-GB" dirty="0">
                <a:solidFill>
                  <a:srgbClr val="7F7DB0"/>
                </a:solidFill>
              </a:rPr>
              <a:t>fact</a:t>
            </a:r>
          </a:p>
        </p:txBody>
      </p:sp>
      <p:sp>
        <p:nvSpPr>
          <p:cNvPr id="10" name="ZoneTexte 7">
            <a:extLst>
              <a:ext uri="{FF2B5EF4-FFF2-40B4-BE49-F238E27FC236}">
                <a16:creationId xmlns:a16="http://schemas.microsoft.com/office/drawing/2014/main" id="{CF1935E0-FE95-AEFE-7A53-E6EE864BF69E}"/>
              </a:ext>
            </a:extLst>
          </p:cNvPr>
          <p:cNvSpPr txBox="1"/>
          <p:nvPr/>
        </p:nvSpPr>
        <p:spPr>
          <a:xfrm>
            <a:off x="991402" y="3790385"/>
            <a:ext cx="10515599" cy="2677656"/>
          </a:xfrm>
          <a:prstGeom prst="rect">
            <a:avLst/>
          </a:prstGeom>
          <a:noFill/>
        </p:spPr>
        <p:txBody>
          <a:bodyPr wrap="square">
            <a:spAutoFit/>
          </a:bodyPr>
          <a:lstStyle/>
          <a:p>
            <a:pPr marL="457200" indent="-457200">
              <a:buFont typeface="Arial" panose="020B0604020202020204" pitchFamily="34" charset="0"/>
              <a:buChar char="•"/>
            </a:pPr>
            <a:r>
              <a:rPr lang="en-US" sz="2400" dirty="0"/>
              <a:t>A </a:t>
            </a:r>
            <a:r>
              <a:rPr lang="en-US" sz="2400" dirty="0">
                <a:solidFill>
                  <a:srgbClr val="7F7DB0"/>
                </a:solidFill>
              </a:rPr>
              <a:t>fact</a:t>
            </a:r>
            <a:r>
              <a:rPr lang="en-US" sz="2400" dirty="0"/>
              <a:t> is a concept in </a:t>
            </a:r>
            <a:r>
              <a:rPr lang="en-US" sz="2400" dirty="0">
                <a:solidFill>
                  <a:srgbClr val="7F7DB0"/>
                </a:solidFill>
              </a:rPr>
              <a:t>ontology, </a:t>
            </a:r>
            <a:r>
              <a:rPr lang="en-US" sz="2400" dirty="0"/>
              <a:t>it is just “what is”.</a:t>
            </a:r>
          </a:p>
          <a:p>
            <a:pPr marL="914400" lvl="1" indent="-457200">
              <a:buFont typeface="Arial" panose="020B0604020202020204" pitchFamily="34" charset="0"/>
              <a:buChar char="•"/>
            </a:pPr>
            <a:r>
              <a:rPr lang="en-US" sz="2400" dirty="0"/>
              <a:t>A fact is not true or false. It exists or does not exist.</a:t>
            </a:r>
          </a:p>
          <a:p>
            <a:pPr marL="457200" indent="-457200">
              <a:buFont typeface="Arial" panose="020B0604020202020204" pitchFamily="34" charset="0"/>
              <a:buChar char="•"/>
            </a:pPr>
            <a:r>
              <a:rPr lang="en-US" sz="2400" dirty="0">
                <a:solidFill>
                  <a:srgbClr val="7F7DB0"/>
                </a:solidFill>
              </a:rPr>
              <a:t>Evidence </a:t>
            </a:r>
            <a:r>
              <a:rPr lang="en-US" sz="2400" dirty="0"/>
              <a:t>(data structured and interpreted) is used to evaluate whether a statement about a fact holds true (it is </a:t>
            </a:r>
            <a:r>
              <a:rPr lang="en-US" sz="2400" dirty="0">
                <a:solidFill>
                  <a:srgbClr val="7F7DB0"/>
                </a:solidFill>
              </a:rPr>
              <a:t>epistemological</a:t>
            </a:r>
            <a:r>
              <a:rPr lang="en-US" sz="2400" dirty="0"/>
              <a:t>)</a:t>
            </a:r>
          </a:p>
          <a:p>
            <a:pPr marL="457200" indent="-457200">
              <a:buFont typeface="Arial" panose="020B0604020202020204" pitchFamily="34" charset="0"/>
              <a:buChar char="•"/>
            </a:pPr>
            <a:r>
              <a:rPr lang="en-US" sz="2400" dirty="0">
                <a:solidFill>
                  <a:srgbClr val="7F7DB0"/>
                </a:solidFill>
              </a:rPr>
              <a:t>A datum</a:t>
            </a:r>
            <a:r>
              <a:rPr lang="en-US" sz="2400" dirty="0"/>
              <a:t> is an entry, its purpose is </a:t>
            </a:r>
            <a:r>
              <a:rPr lang="en-US" sz="2400" dirty="0">
                <a:solidFill>
                  <a:srgbClr val="7F7DB0"/>
                </a:solidFill>
              </a:rPr>
              <a:t>rhetorical</a:t>
            </a:r>
            <a:endParaRPr lang="en-US" sz="2400" dirty="0"/>
          </a:p>
          <a:p>
            <a:r>
              <a:rPr lang="fr-FR" sz="2400" dirty="0"/>
              <a:t>Data </a:t>
            </a:r>
            <a:r>
              <a:rPr lang="fr-FR" sz="2400" dirty="0" err="1"/>
              <a:t>is</a:t>
            </a:r>
            <a:r>
              <a:rPr lang="fr-FR" sz="2400" dirty="0"/>
              <a:t> </a:t>
            </a:r>
            <a:r>
              <a:rPr lang="fr-FR" sz="2400" dirty="0" err="1"/>
              <a:t>independent</a:t>
            </a:r>
            <a:r>
              <a:rPr lang="fr-FR" sz="2400" dirty="0"/>
              <a:t> </a:t>
            </a:r>
            <a:r>
              <a:rPr lang="fr-FR" sz="2400" dirty="0" err="1"/>
              <a:t>from</a:t>
            </a:r>
            <a:r>
              <a:rPr lang="fr-FR" sz="2400" dirty="0"/>
              <a:t> </a:t>
            </a:r>
            <a:r>
              <a:rPr lang="fr-FR" sz="2400" dirty="0" err="1"/>
              <a:t>facts</a:t>
            </a:r>
            <a:r>
              <a:rPr lang="fr-FR" sz="2400" dirty="0"/>
              <a:t>. « </a:t>
            </a:r>
            <a:r>
              <a:rPr lang="fr-FR" sz="2400" dirty="0" err="1"/>
              <a:t>When</a:t>
            </a:r>
            <a:r>
              <a:rPr lang="fr-FR" sz="2400" dirty="0"/>
              <a:t> a </a:t>
            </a:r>
            <a:r>
              <a:rPr lang="fr-FR" sz="2400" dirty="0" err="1"/>
              <a:t>fact</a:t>
            </a:r>
            <a:r>
              <a:rPr lang="fr-FR" sz="2400" dirty="0"/>
              <a:t> </a:t>
            </a:r>
            <a:r>
              <a:rPr lang="fr-FR" sz="2400" dirty="0" err="1"/>
              <a:t>is</a:t>
            </a:r>
            <a:r>
              <a:rPr lang="fr-FR" sz="2400" dirty="0"/>
              <a:t> </a:t>
            </a:r>
            <a:r>
              <a:rPr lang="fr-FR" sz="2400" dirty="0" err="1"/>
              <a:t>proven</a:t>
            </a:r>
            <a:r>
              <a:rPr lang="fr-FR" sz="2400" dirty="0"/>
              <a:t> false, </a:t>
            </a:r>
            <a:r>
              <a:rPr lang="fr-FR" sz="2400" dirty="0" err="1"/>
              <a:t>it</a:t>
            </a:r>
            <a:r>
              <a:rPr lang="fr-FR" sz="2400" dirty="0"/>
              <a:t> </a:t>
            </a:r>
            <a:r>
              <a:rPr lang="fr-FR" sz="2400" dirty="0" err="1"/>
              <a:t>ceases</a:t>
            </a:r>
            <a:r>
              <a:rPr lang="fr-FR" sz="2400" dirty="0"/>
              <a:t> to </a:t>
            </a:r>
            <a:r>
              <a:rPr lang="fr-FR" sz="2400" dirty="0" err="1"/>
              <a:t>be</a:t>
            </a:r>
            <a:r>
              <a:rPr lang="fr-FR" sz="2400" dirty="0"/>
              <a:t> a </a:t>
            </a:r>
            <a:r>
              <a:rPr lang="fr-FR" sz="2400" dirty="0" err="1"/>
              <a:t>fact</a:t>
            </a:r>
            <a:r>
              <a:rPr lang="fr-FR" sz="2400" dirty="0"/>
              <a:t>. False data </a:t>
            </a:r>
            <a:r>
              <a:rPr lang="fr-FR" sz="2400" dirty="0" err="1"/>
              <a:t>is</a:t>
            </a:r>
            <a:r>
              <a:rPr lang="fr-FR" sz="2400" dirty="0"/>
              <a:t> data </a:t>
            </a:r>
            <a:r>
              <a:rPr lang="fr-FR" sz="2400" dirty="0" err="1"/>
              <a:t>nonetheless</a:t>
            </a:r>
            <a:r>
              <a:rPr lang="fr-FR" sz="2400" dirty="0"/>
              <a:t>. »</a:t>
            </a:r>
            <a:endParaRPr lang="en-US" sz="2400" dirty="0"/>
          </a:p>
        </p:txBody>
      </p:sp>
    </p:spTree>
    <p:extLst>
      <p:ext uri="{BB962C8B-B14F-4D97-AF65-F5344CB8AC3E}">
        <p14:creationId xmlns:p14="http://schemas.microsoft.com/office/powerpoint/2010/main" val="159919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952DA-0984-60E7-267F-889C73D4E6C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5217231-36D9-E2D6-D713-6FE3BD332AE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780394BF-B650-4B8A-6886-393FF3CAC766}"/>
              </a:ext>
            </a:extLst>
          </p:cNvPr>
          <p:cNvSpPr>
            <a:spLocks noGrp="1"/>
          </p:cNvSpPr>
          <p:nvPr>
            <p:ph type="title"/>
          </p:nvPr>
        </p:nvSpPr>
        <p:spPr>
          <a:xfrm>
            <a:off x="838200" y="365125"/>
            <a:ext cx="10515600" cy="1325563"/>
          </a:xfrm>
        </p:spPr>
        <p:txBody>
          <a:bodyPr/>
          <a:lstStyle/>
          <a:p>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strike="sngStrike" dirty="0">
                <a:solidFill>
                  <a:srgbClr val="00B050"/>
                </a:solidFill>
              </a:rPr>
              <a:t>s</a:t>
            </a:r>
            <a:r>
              <a:rPr lang="en-GB" strike="sngStrike" dirty="0">
                <a:solidFill>
                  <a:srgbClr val="00B0F0"/>
                </a:solidFill>
              </a:rPr>
              <a:t>c</a:t>
            </a:r>
            <a:r>
              <a:rPr lang="en-GB" strike="sngStrike" dirty="0">
                <a:solidFill>
                  <a:srgbClr val="0070C0"/>
                </a:solidFill>
              </a:rPr>
              <a:t>i</a:t>
            </a:r>
            <a:r>
              <a:rPr lang="en-GB" strike="sngStrike" dirty="0">
                <a:solidFill>
                  <a:srgbClr val="002060"/>
                </a:solidFill>
              </a:rPr>
              <a:t>e</a:t>
            </a:r>
            <a:r>
              <a:rPr lang="en-GB" strike="sngStrike" dirty="0">
                <a:solidFill>
                  <a:srgbClr val="7030A0"/>
                </a:solidFill>
              </a:rPr>
              <a:t>n</a:t>
            </a:r>
            <a:r>
              <a:rPr lang="en-GB" strike="sngStrike" dirty="0">
                <a:solidFill>
                  <a:srgbClr val="002060"/>
                </a:solidFill>
              </a:rPr>
              <a:t>c</a:t>
            </a:r>
            <a:r>
              <a:rPr lang="en-GB" strike="sngStrike" dirty="0">
                <a:solidFill>
                  <a:srgbClr val="0070C0"/>
                </a:solidFill>
              </a:rPr>
              <a:t>e</a:t>
            </a:r>
            <a:r>
              <a:rPr lang="en-GB" dirty="0">
                <a:solidFill>
                  <a:srgbClr val="0070C0"/>
                </a:solidFill>
              </a:rPr>
              <a:t>🌈</a:t>
            </a:r>
            <a:r>
              <a:rPr lang="en-GB" dirty="0"/>
              <a:t> What? Why?</a:t>
            </a:r>
          </a:p>
        </p:txBody>
      </p:sp>
      <p:sp>
        <p:nvSpPr>
          <p:cNvPr id="2" name="Espace réservé du numéro de diapositive 1">
            <a:extLst>
              <a:ext uri="{FF2B5EF4-FFF2-40B4-BE49-F238E27FC236}">
                <a16:creationId xmlns:a16="http://schemas.microsoft.com/office/drawing/2014/main" id="{46D97DF5-E108-B539-0BE2-BA8D56CA2439}"/>
              </a:ext>
            </a:extLst>
          </p:cNvPr>
          <p:cNvSpPr>
            <a:spLocks noGrp="1"/>
          </p:cNvSpPr>
          <p:nvPr>
            <p:ph type="sldNum" sz="quarter" idx="12"/>
          </p:nvPr>
        </p:nvSpPr>
        <p:spPr/>
        <p:txBody>
          <a:bodyPr/>
          <a:lstStyle/>
          <a:p>
            <a:fld id="{6F3806FF-9E51-4331-BB90-F49EFA1FA4FC}" type="slidenum">
              <a:rPr lang="fr-FR" smtClean="0"/>
              <a:t>32</a:t>
            </a:fld>
            <a:endParaRPr lang="fr-FR"/>
          </a:p>
        </p:txBody>
      </p:sp>
      <p:graphicFrame>
        <p:nvGraphicFramePr>
          <p:cNvPr id="5" name="Tableau 4">
            <a:extLst>
              <a:ext uri="{FF2B5EF4-FFF2-40B4-BE49-F238E27FC236}">
                <a16:creationId xmlns:a16="http://schemas.microsoft.com/office/drawing/2014/main" id="{B0140891-008E-887B-7033-E29FFA2B8B62}"/>
              </a:ext>
            </a:extLst>
          </p:cNvPr>
          <p:cNvGraphicFramePr>
            <a:graphicFrameLocks noGrp="1"/>
          </p:cNvGraphicFramePr>
          <p:nvPr>
            <p:extLst>
              <p:ext uri="{D42A27DB-BD31-4B8C-83A1-F6EECF244321}">
                <p14:modId xmlns:p14="http://schemas.microsoft.com/office/powerpoint/2010/main" val="2230963407"/>
              </p:ext>
            </p:extLst>
          </p:nvPr>
        </p:nvGraphicFramePr>
        <p:xfrm>
          <a:off x="973754" y="1810169"/>
          <a:ext cx="5120642" cy="1703070"/>
        </p:xfrm>
        <a:graphic>
          <a:graphicData uri="http://schemas.openxmlformats.org/drawingml/2006/table">
            <a:tbl>
              <a:tblPr>
                <a:tableStyleId>{5C22544A-7EE6-4342-B048-85BDC9FD1C3A}</a:tableStyleId>
              </a:tblPr>
              <a:tblGrid>
                <a:gridCol w="1923450">
                  <a:extLst>
                    <a:ext uri="{9D8B030D-6E8A-4147-A177-3AD203B41FA5}">
                      <a16:colId xmlns:a16="http://schemas.microsoft.com/office/drawing/2014/main" val="161275789"/>
                    </a:ext>
                  </a:extLst>
                </a:gridCol>
                <a:gridCol w="2132284">
                  <a:extLst>
                    <a:ext uri="{9D8B030D-6E8A-4147-A177-3AD203B41FA5}">
                      <a16:colId xmlns:a16="http://schemas.microsoft.com/office/drawing/2014/main" val="581948292"/>
                    </a:ext>
                  </a:extLst>
                </a:gridCol>
                <a:gridCol w="1064908">
                  <a:extLst>
                    <a:ext uri="{9D8B030D-6E8A-4147-A177-3AD203B41FA5}">
                      <a16:colId xmlns:a16="http://schemas.microsoft.com/office/drawing/2014/main" val="272041966"/>
                    </a:ext>
                  </a:extLst>
                </a:gridCol>
              </a:tblGrid>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name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body_temperature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location</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89357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Térébenthine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4389093"/>
                  </a:ext>
                </a:extLst>
              </a:tr>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Gonzaguette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37.3</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4797116"/>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Arlette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36.4</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armpit</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9243013"/>
                  </a:ext>
                </a:extLst>
              </a:tr>
              <a:tr h="190500">
                <a:tc>
                  <a:txBody>
                    <a:bodyPr/>
                    <a:lstStyle/>
                    <a:p>
                      <a:pPr algn="l" fontAlgn="b">
                        <a:buNone/>
                      </a:pPr>
                      <a:r>
                        <a:rPr lang="fr-FR" sz="1800" u="none" strike="noStrike">
                          <a:effectLst/>
                          <a:latin typeface="Source Sans Pro" panose="020B0503030403020204" pitchFamily="34" charset="0"/>
                          <a:ea typeface="Source Sans Pro" panose="020B0503030403020204" pitchFamily="34" charset="0"/>
                        </a:rPr>
                        <a:t>Henri-Clotaire</a:t>
                      </a:r>
                      <a:endParaRPr lang="fr-FR" sz="1800" b="0" i="0" u="none" strike="noStrike">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48.5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forehead</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990151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Jehanne-Bertrude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39.1</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80457"/>
                  </a:ext>
                </a:extLst>
              </a:tr>
            </a:tbl>
          </a:graphicData>
        </a:graphic>
      </p:graphicFrame>
      <p:sp>
        <p:nvSpPr>
          <p:cNvPr id="3" name="ZoneTexte 7">
            <a:extLst>
              <a:ext uri="{FF2B5EF4-FFF2-40B4-BE49-F238E27FC236}">
                <a16:creationId xmlns:a16="http://schemas.microsoft.com/office/drawing/2014/main" id="{0A7EF218-61B0-E4DA-650F-9975C7F45169}"/>
              </a:ext>
            </a:extLst>
          </p:cNvPr>
          <p:cNvSpPr txBox="1"/>
          <p:nvPr/>
        </p:nvSpPr>
        <p:spPr>
          <a:xfrm>
            <a:off x="6329414" y="1810169"/>
            <a:ext cx="6097604" cy="1384995"/>
          </a:xfrm>
          <a:prstGeom prst="rect">
            <a:avLst/>
          </a:prstGeom>
          <a:noFill/>
        </p:spPr>
        <p:txBody>
          <a:bodyPr wrap="square">
            <a:spAutoFit/>
          </a:bodyPr>
          <a:lstStyle/>
          <a:p>
            <a:pPr marL="0" indent="0">
              <a:buNone/>
            </a:pPr>
            <a:r>
              <a:rPr lang="en-US" sz="2800" dirty="0"/>
              <a:t>Quick questions, yes or no.</a:t>
            </a:r>
          </a:p>
          <a:p>
            <a:r>
              <a:rPr lang="en-US" sz="2800" dirty="0"/>
              <a:t>	 b. Is the second column body 	temperature?</a:t>
            </a:r>
          </a:p>
        </p:txBody>
      </p:sp>
    </p:spTree>
    <p:extLst>
      <p:ext uri="{BB962C8B-B14F-4D97-AF65-F5344CB8AC3E}">
        <p14:creationId xmlns:p14="http://schemas.microsoft.com/office/powerpoint/2010/main" val="60529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FA75-8827-F9CB-39D9-24DAB6E26366}"/>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D14F835-F886-F27E-CE44-A078AAA79A9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9CB35629-42BE-B23C-E434-F42877E486D7}"/>
              </a:ext>
            </a:extLst>
          </p:cNvPr>
          <p:cNvSpPr>
            <a:spLocks noGrp="1"/>
          </p:cNvSpPr>
          <p:nvPr>
            <p:ph type="title"/>
          </p:nvPr>
        </p:nvSpPr>
        <p:spPr>
          <a:xfrm>
            <a:off x="838200" y="365125"/>
            <a:ext cx="10515600" cy="1325563"/>
          </a:xfrm>
        </p:spPr>
        <p:txBody>
          <a:bodyPr/>
          <a:lstStyle/>
          <a:p>
            <a:r>
              <a:rPr lang="en-GB" dirty="0">
                <a:solidFill>
                  <a:srgbClr val="FDFBF9"/>
                </a:solidFill>
              </a:rPr>
              <a:t>Data lifecycle</a:t>
            </a:r>
          </a:p>
        </p:txBody>
      </p:sp>
      <p:sp>
        <p:nvSpPr>
          <p:cNvPr id="2" name="Espace réservé du numéro de diapositive 1">
            <a:extLst>
              <a:ext uri="{FF2B5EF4-FFF2-40B4-BE49-F238E27FC236}">
                <a16:creationId xmlns:a16="http://schemas.microsoft.com/office/drawing/2014/main" id="{CB78F22B-E2BF-C3F7-8CC7-57AE6BF313B8}"/>
              </a:ext>
            </a:extLst>
          </p:cNvPr>
          <p:cNvSpPr>
            <a:spLocks noGrp="1"/>
          </p:cNvSpPr>
          <p:nvPr>
            <p:ph type="sldNum" sz="quarter" idx="12"/>
          </p:nvPr>
        </p:nvSpPr>
        <p:spPr/>
        <p:txBody>
          <a:bodyPr/>
          <a:lstStyle/>
          <a:p>
            <a:fld id="{6F3806FF-9E51-4331-BB90-F49EFA1FA4FC}" type="slidenum">
              <a:rPr lang="fr-FR" smtClean="0"/>
              <a:t>33</a:t>
            </a:fld>
            <a:endParaRPr lang="fr-FR"/>
          </a:p>
        </p:txBody>
      </p:sp>
      <p:pic>
        <p:nvPicPr>
          <p:cNvPr id="5" name="Picture 4" descr="https://upload.wikimedia.org/wikipedia/en/b/b9/MagrittePipe.jpg?utm_source=en.wikipedia.org&amp;utm_campaign=imageinfo&amp;utm_content=original">
            <a:extLst>
              <a:ext uri="{FF2B5EF4-FFF2-40B4-BE49-F238E27FC236}">
                <a16:creationId xmlns:a16="http://schemas.microsoft.com/office/drawing/2014/main" id="{7AFCE6EA-590E-16AA-8282-1A2DC1BBF3E7}"/>
              </a:ext>
            </a:extLst>
          </p:cNvPr>
          <p:cNvPicPr>
            <a:picLocks noChangeAspect="1"/>
          </p:cNvPicPr>
          <p:nvPr/>
        </p:nvPicPr>
        <p:blipFill>
          <a:blip r:embed="rId4"/>
          <a:srcRect b="25568"/>
          <a:stretch>
            <a:fillRect/>
          </a:stretch>
        </p:blipFill>
        <p:spPr>
          <a:xfrm>
            <a:off x="886692" y="1734669"/>
            <a:ext cx="3870036" cy="2011805"/>
          </a:xfrm>
          <a:prstGeom prst="rect">
            <a:avLst/>
          </a:prstGeom>
        </p:spPr>
      </p:pic>
      <p:sp>
        <p:nvSpPr>
          <p:cNvPr id="7" name="Content Placeholder 5">
            <a:extLst>
              <a:ext uri="{FF2B5EF4-FFF2-40B4-BE49-F238E27FC236}">
                <a16:creationId xmlns:a16="http://schemas.microsoft.com/office/drawing/2014/main" id="{D8DC5283-0DB0-7365-B23E-3EE109F1CB41}"/>
              </a:ext>
            </a:extLst>
          </p:cNvPr>
          <p:cNvSpPr txBox="1">
            <a:spLocks/>
          </p:cNvSpPr>
          <p:nvPr/>
        </p:nvSpPr>
        <p:spPr>
          <a:xfrm>
            <a:off x="1233637" y="4037784"/>
            <a:ext cx="8748563" cy="106693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1. What is it?</a:t>
            </a:r>
          </a:p>
          <a:p>
            <a:pPr marL="0" indent="0">
              <a:buFont typeface="Arial" panose="020B0604020202020204" pitchFamily="34" charset="0"/>
              <a:buNone/>
            </a:pPr>
            <a:r>
              <a:rPr lang="en-US" dirty="0"/>
              <a:t>2. Is it data?</a:t>
            </a:r>
          </a:p>
        </p:txBody>
      </p:sp>
      <p:sp>
        <p:nvSpPr>
          <p:cNvPr id="8" name="Title 1">
            <a:extLst>
              <a:ext uri="{FF2B5EF4-FFF2-40B4-BE49-F238E27FC236}">
                <a16:creationId xmlns:a16="http://schemas.microsoft.com/office/drawing/2014/main" id="{0CC3B105-21E9-4170-9D68-FB0DB806FF6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a:solidFill>
                  <a:srgbClr val="FF0000"/>
                </a:solidFill>
              </a:rPr>
              <a:t>🌈D</a:t>
            </a:r>
            <a:r>
              <a:rPr lang="en-GB">
                <a:solidFill>
                  <a:srgbClr val="FFC000"/>
                </a:solidFill>
              </a:rPr>
              <a:t>a</a:t>
            </a:r>
            <a:r>
              <a:rPr lang="en-GB">
                <a:solidFill>
                  <a:srgbClr val="FFFF00"/>
                </a:solidFill>
              </a:rPr>
              <a:t>t</a:t>
            </a:r>
            <a:r>
              <a:rPr lang="en-GB">
                <a:solidFill>
                  <a:srgbClr val="92D050"/>
                </a:solidFill>
              </a:rPr>
              <a:t>a</a:t>
            </a:r>
            <a:r>
              <a:rPr lang="en-GB"/>
              <a:t> </a:t>
            </a:r>
            <a:r>
              <a:rPr lang="en-GB" strike="sngStrike">
                <a:solidFill>
                  <a:srgbClr val="00B050"/>
                </a:solidFill>
              </a:rPr>
              <a:t>s</a:t>
            </a:r>
            <a:r>
              <a:rPr lang="en-GB" strike="sngStrike">
                <a:solidFill>
                  <a:srgbClr val="00B0F0"/>
                </a:solidFill>
              </a:rPr>
              <a:t>c</a:t>
            </a:r>
            <a:r>
              <a:rPr lang="en-GB" strike="sngStrike">
                <a:solidFill>
                  <a:srgbClr val="0070C0"/>
                </a:solidFill>
              </a:rPr>
              <a:t>i</a:t>
            </a:r>
            <a:r>
              <a:rPr lang="en-GB" strike="sngStrike">
                <a:solidFill>
                  <a:srgbClr val="002060"/>
                </a:solidFill>
              </a:rPr>
              <a:t>e</a:t>
            </a:r>
            <a:r>
              <a:rPr lang="en-GB" strike="sngStrike">
                <a:solidFill>
                  <a:srgbClr val="7030A0"/>
                </a:solidFill>
              </a:rPr>
              <a:t>n</a:t>
            </a:r>
            <a:r>
              <a:rPr lang="en-GB" strike="sngStrike">
                <a:solidFill>
                  <a:srgbClr val="002060"/>
                </a:solidFill>
              </a:rPr>
              <a:t>c</a:t>
            </a:r>
            <a:r>
              <a:rPr lang="en-GB" strike="sngStrike">
                <a:solidFill>
                  <a:srgbClr val="0070C0"/>
                </a:solidFill>
              </a:rPr>
              <a:t>e</a:t>
            </a:r>
            <a:r>
              <a:rPr lang="en-GB">
                <a:solidFill>
                  <a:srgbClr val="0070C0"/>
                </a:solidFill>
              </a:rPr>
              <a:t>🌈</a:t>
            </a:r>
            <a:r>
              <a:rPr lang="en-GB"/>
              <a:t> What? Why?</a:t>
            </a:r>
            <a:endParaRPr lang="en-GB" dirty="0"/>
          </a:p>
        </p:txBody>
      </p:sp>
    </p:spTree>
    <p:extLst>
      <p:ext uri="{BB962C8B-B14F-4D97-AF65-F5344CB8AC3E}">
        <p14:creationId xmlns:p14="http://schemas.microsoft.com/office/powerpoint/2010/main" val="360028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D1E7-0F7B-B771-4E23-B82E258C42B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82310C8-920C-1BDA-85EE-EA50284838C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1FB9AB06-2917-B221-DFC8-162FECB0173D}"/>
              </a:ext>
            </a:extLst>
          </p:cNvPr>
          <p:cNvSpPr>
            <a:spLocks noGrp="1"/>
          </p:cNvSpPr>
          <p:nvPr>
            <p:ph type="title"/>
          </p:nvPr>
        </p:nvSpPr>
        <p:spPr>
          <a:xfrm>
            <a:off x="838200" y="365125"/>
            <a:ext cx="10515600" cy="1325563"/>
          </a:xfrm>
        </p:spPr>
        <p:txBody>
          <a:bodyPr/>
          <a:lstStyle/>
          <a:p>
            <a:r>
              <a:rPr lang="en-GB" dirty="0">
                <a:solidFill>
                  <a:srgbClr val="FDFBF9"/>
                </a:solidFill>
              </a:rPr>
              <a:t>Data lifecycle</a:t>
            </a:r>
          </a:p>
        </p:txBody>
      </p:sp>
      <p:sp>
        <p:nvSpPr>
          <p:cNvPr id="2" name="Espace réservé du numéro de diapositive 1">
            <a:extLst>
              <a:ext uri="{FF2B5EF4-FFF2-40B4-BE49-F238E27FC236}">
                <a16:creationId xmlns:a16="http://schemas.microsoft.com/office/drawing/2014/main" id="{6EF2C5C1-C2F4-E88D-CF46-5CA093054D3B}"/>
              </a:ext>
            </a:extLst>
          </p:cNvPr>
          <p:cNvSpPr>
            <a:spLocks noGrp="1"/>
          </p:cNvSpPr>
          <p:nvPr>
            <p:ph type="sldNum" sz="quarter" idx="12"/>
          </p:nvPr>
        </p:nvSpPr>
        <p:spPr/>
        <p:txBody>
          <a:bodyPr/>
          <a:lstStyle/>
          <a:p>
            <a:fld id="{6F3806FF-9E51-4331-BB90-F49EFA1FA4FC}" type="slidenum">
              <a:rPr lang="fr-FR" smtClean="0"/>
              <a:t>34</a:t>
            </a:fld>
            <a:endParaRPr lang="fr-FR"/>
          </a:p>
        </p:txBody>
      </p:sp>
      <p:pic>
        <p:nvPicPr>
          <p:cNvPr id="5" name="Picture 4" descr="https://upload.wikimedia.org/wikipedia/en/b/b9/MagrittePipe.jpg?utm_source=en.wikipedia.org&amp;utm_campaign=imageinfo&amp;utm_content=original">
            <a:extLst>
              <a:ext uri="{FF2B5EF4-FFF2-40B4-BE49-F238E27FC236}">
                <a16:creationId xmlns:a16="http://schemas.microsoft.com/office/drawing/2014/main" id="{23167911-A3CC-F649-6413-AA305FE01542}"/>
              </a:ext>
            </a:extLst>
          </p:cNvPr>
          <p:cNvPicPr>
            <a:picLocks noChangeAspect="1"/>
          </p:cNvPicPr>
          <p:nvPr/>
        </p:nvPicPr>
        <p:blipFill>
          <a:blip r:embed="rId4"/>
          <a:srcRect b="367"/>
          <a:stretch>
            <a:fillRect/>
          </a:stretch>
        </p:blipFill>
        <p:spPr>
          <a:xfrm>
            <a:off x="886692" y="1734669"/>
            <a:ext cx="3870036" cy="2692952"/>
          </a:xfrm>
          <a:prstGeom prst="rect">
            <a:avLst/>
          </a:prstGeom>
        </p:spPr>
      </p:pic>
      <p:sp>
        <p:nvSpPr>
          <p:cNvPr id="8" name="Title 1">
            <a:extLst>
              <a:ext uri="{FF2B5EF4-FFF2-40B4-BE49-F238E27FC236}">
                <a16:creationId xmlns:a16="http://schemas.microsoft.com/office/drawing/2014/main" id="{54B32E2D-BB93-83C8-9A8D-552F15DC2F34}"/>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a:solidFill>
                  <a:srgbClr val="FF0000"/>
                </a:solidFill>
              </a:rPr>
              <a:t>🌈D</a:t>
            </a:r>
            <a:r>
              <a:rPr lang="en-GB">
                <a:solidFill>
                  <a:srgbClr val="FFC000"/>
                </a:solidFill>
              </a:rPr>
              <a:t>a</a:t>
            </a:r>
            <a:r>
              <a:rPr lang="en-GB">
                <a:solidFill>
                  <a:srgbClr val="FFFF00"/>
                </a:solidFill>
              </a:rPr>
              <a:t>t</a:t>
            </a:r>
            <a:r>
              <a:rPr lang="en-GB">
                <a:solidFill>
                  <a:srgbClr val="92D050"/>
                </a:solidFill>
              </a:rPr>
              <a:t>a</a:t>
            </a:r>
            <a:r>
              <a:rPr lang="en-GB"/>
              <a:t> </a:t>
            </a:r>
            <a:r>
              <a:rPr lang="en-GB" strike="sngStrike">
                <a:solidFill>
                  <a:srgbClr val="00B050"/>
                </a:solidFill>
              </a:rPr>
              <a:t>s</a:t>
            </a:r>
            <a:r>
              <a:rPr lang="en-GB" strike="sngStrike">
                <a:solidFill>
                  <a:srgbClr val="00B0F0"/>
                </a:solidFill>
              </a:rPr>
              <a:t>c</a:t>
            </a:r>
            <a:r>
              <a:rPr lang="en-GB" strike="sngStrike">
                <a:solidFill>
                  <a:srgbClr val="0070C0"/>
                </a:solidFill>
              </a:rPr>
              <a:t>i</a:t>
            </a:r>
            <a:r>
              <a:rPr lang="en-GB" strike="sngStrike">
                <a:solidFill>
                  <a:srgbClr val="002060"/>
                </a:solidFill>
              </a:rPr>
              <a:t>e</a:t>
            </a:r>
            <a:r>
              <a:rPr lang="en-GB" strike="sngStrike">
                <a:solidFill>
                  <a:srgbClr val="7030A0"/>
                </a:solidFill>
              </a:rPr>
              <a:t>n</a:t>
            </a:r>
            <a:r>
              <a:rPr lang="en-GB" strike="sngStrike">
                <a:solidFill>
                  <a:srgbClr val="002060"/>
                </a:solidFill>
              </a:rPr>
              <a:t>c</a:t>
            </a:r>
            <a:r>
              <a:rPr lang="en-GB" strike="sngStrike">
                <a:solidFill>
                  <a:srgbClr val="0070C0"/>
                </a:solidFill>
              </a:rPr>
              <a:t>e</a:t>
            </a:r>
            <a:r>
              <a:rPr lang="en-GB">
                <a:solidFill>
                  <a:srgbClr val="0070C0"/>
                </a:solidFill>
              </a:rPr>
              <a:t>🌈</a:t>
            </a:r>
            <a:r>
              <a:rPr lang="en-GB"/>
              <a:t> What? Why?</a:t>
            </a:r>
            <a:endParaRPr lang="en-GB" dirty="0"/>
          </a:p>
        </p:txBody>
      </p:sp>
      <p:sp>
        <p:nvSpPr>
          <p:cNvPr id="3" name="Content Placeholder 5">
            <a:extLst>
              <a:ext uri="{FF2B5EF4-FFF2-40B4-BE49-F238E27FC236}">
                <a16:creationId xmlns:a16="http://schemas.microsoft.com/office/drawing/2014/main" id="{1134768E-F6AA-4DDB-4FFA-88AEF6B0DF01}"/>
              </a:ext>
            </a:extLst>
          </p:cNvPr>
          <p:cNvSpPr txBox="1">
            <a:spLocks/>
          </p:cNvSpPr>
          <p:nvPr/>
        </p:nvSpPr>
        <p:spPr>
          <a:xfrm>
            <a:off x="1233637" y="4451934"/>
            <a:ext cx="8748563" cy="112595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eriod"/>
            </a:pPr>
            <a:r>
              <a:rPr lang="en-US" dirty="0"/>
              <a:t>Is it a pipe?</a:t>
            </a:r>
          </a:p>
          <a:p>
            <a:pPr marL="514350" indent="-514350">
              <a:buFont typeface="Arial" panose="020B0604020202020204" pitchFamily="34" charset="0"/>
              <a:buAutoNum type="arabicPeriod"/>
            </a:pPr>
            <a:r>
              <a:rPr lang="en-US" dirty="0"/>
              <a:t>If it is not, what is it?</a:t>
            </a:r>
          </a:p>
        </p:txBody>
      </p:sp>
      <p:sp>
        <p:nvSpPr>
          <p:cNvPr id="9" name="Content Placeholder 5">
            <a:extLst>
              <a:ext uri="{FF2B5EF4-FFF2-40B4-BE49-F238E27FC236}">
                <a16:creationId xmlns:a16="http://schemas.microsoft.com/office/drawing/2014/main" id="{ADB94495-0D8E-6F7E-F19E-FF63549989D5}"/>
              </a:ext>
            </a:extLst>
          </p:cNvPr>
          <p:cNvSpPr txBox="1">
            <a:spLocks/>
          </p:cNvSpPr>
          <p:nvPr/>
        </p:nvSpPr>
        <p:spPr>
          <a:xfrm>
            <a:off x="5139891" y="1734668"/>
            <a:ext cx="7052110" cy="334609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t>La </a:t>
            </a:r>
            <a:r>
              <a:rPr lang="en-US" sz="3200" dirty="0" err="1"/>
              <a:t>trahison</a:t>
            </a:r>
            <a:r>
              <a:rPr lang="en-US" sz="3200" dirty="0"/>
              <a:t> des images,</a:t>
            </a:r>
            <a:br>
              <a:rPr lang="en-US" sz="3200" dirty="0"/>
            </a:br>
            <a:r>
              <a:rPr lang="en-US" sz="3200" dirty="0"/>
              <a:t>René Magritte</a:t>
            </a:r>
          </a:p>
          <a:p>
            <a:pPr marL="0" indent="0">
              <a:buNone/>
            </a:pPr>
            <a:endParaRPr lang="en-US" dirty="0"/>
          </a:p>
          <a:p>
            <a:pPr marL="0" indent="0">
              <a:buNone/>
            </a:pPr>
            <a:r>
              <a:rPr lang="en-US" dirty="0"/>
              <a:t>One of the points of the painting is that this is not a pipe, but a painting of a pipe. A </a:t>
            </a:r>
            <a:r>
              <a:rPr lang="en-US" sz="4400" dirty="0">
                <a:solidFill>
                  <a:srgbClr val="7F7DB0"/>
                </a:solidFill>
              </a:rPr>
              <a:t>representation.</a:t>
            </a:r>
            <a:endParaRPr lang="en-US" dirty="0">
              <a:solidFill>
                <a:srgbClr val="7F7DB0"/>
              </a:solidFill>
            </a:endParaRPr>
          </a:p>
        </p:txBody>
      </p:sp>
    </p:spTree>
    <p:extLst>
      <p:ext uri="{BB962C8B-B14F-4D97-AF65-F5344CB8AC3E}">
        <p14:creationId xmlns:p14="http://schemas.microsoft.com/office/powerpoint/2010/main" val="58876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uiExpan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A6B7E-DEDE-53A3-E8D1-55219A8A34D6}"/>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1009470-0E5C-485F-794A-CA5EF3BE6FD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AF99E954-C0F3-60A0-D4F5-6F68DBA71D46}"/>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is a </a:t>
            </a:r>
            <a:r>
              <a:rPr lang="en-GB" dirty="0">
                <a:solidFill>
                  <a:srgbClr val="7F7DB0"/>
                </a:solidFill>
              </a:rPr>
              <a:t>representation</a:t>
            </a:r>
          </a:p>
        </p:txBody>
      </p:sp>
      <p:sp>
        <p:nvSpPr>
          <p:cNvPr id="2" name="Espace réservé du numéro de diapositive 1">
            <a:extLst>
              <a:ext uri="{FF2B5EF4-FFF2-40B4-BE49-F238E27FC236}">
                <a16:creationId xmlns:a16="http://schemas.microsoft.com/office/drawing/2014/main" id="{D33A8699-E3B7-07F7-A98C-14EF8411E8F1}"/>
              </a:ext>
            </a:extLst>
          </p:cNvPr>
          <p:cNvSpPr>
            <a:spLocks noGrp="1"/>
          </p:cNvSpPr>
          <p:nvPr>
            <p:ph type="sldNum" sz="quarter" idx="12"/>
          </p:nvPr>
        </p:nvSpPr>
        <p:spPr/>
        <p:txBody>
          <a:bodyPr/>
          <a:lstStyle/>
          <a:p>
            <a:fld id="{6F3806FF-9E51-4331-BB90-F49EFA1FA4FC}" type="slidenum">
              <a:rPr lang="fr-FR" smtClean="0"/>
              <a:t>35</a:t>
            </a:fld>
            <a:endParaRPr lang="fr-FR"/>
          </a:p>
        </p:txBody>
      </p:sp>
      <p:sp>
        <p:nvSpPr>
          <p:cNvPr id="10" name="Content Placeholder 5">
            <a:extLst>
              <a:ext uri="{FF2B5EF4-FFF2-40B4-BE49-F238E27FC236}">
                <a16:creationId xmlns:a16="http://schemas.microsoft.com/office/drawing/2014/main" id="{208661C8-A31A-FF77-0CDD-F4E5EFEF71E9}"/>
              </a:ext>
            </a:extLst>
          </p:cNvPr>
          <p:cNvSpPr>
            <a:spLocks noGrp="1"/>
          </p:cNvSpPr>
          <p:nvPr>
            <p:ph idx="1"/>
          </p:nvPr>
        </p:nvSpPr>
        <p:spPr>
          <a:xfrm>
            <a:off x="4837741" y="2059258"/>
            <a:ext cx="6513910" cy="4160567"/>
          </a:xfrm>
        </p:spPr>
        <p:txBody>
          <a:bodyPr>
            <a:normAutofit/>
          </a:bodyPr>
          <a:lstStyle/>
          <a:p>
            <a:pPr marL="0" indent="0">
              <a:buNone/>
            </a:pPr>
            <a:r>
              <a:rPr lang="en-US" noProof="0" dirty="0">
                <a:solidFill>
                  <a:srgbClr val="0C0804"/>
                </a:solidFill>
              </a:rPr>
              <a:t>Seems like a needless distinction, but you never </a:t>
            </a:r>
            <a:r>
              <a:rPr lang="en-US" dirty="0">
                <a:solidFill>
                  <a:srgbClr val="0C0804"/>
                </a:solidFill>
              </a:rPr>
              <a:t>properly acknowledge it</a:t>
            </a:r>
            <a:r>
              <a:rPr lang="en-US" noProof="0" dirty="0">
                <a:solidFill>
                  <a:srgbClr val="0C0804"/>
                </a:solidFill>
              </a:rPr>
              <a:t>:</a:t>
            </a:r>
          </a:p>
          <a:p>
            <a:r>
              <a:rPr lang="en-US" noProof="0" dirty="0">
                <a:solidFill>
                  <a:srgbClr val="0C0804"/>
                </a:solidFill>
              </a:rPr>
              <a:t>The </a:t>
            </a:r>
            <a:r>
              <a:rPr lang="en-US" noProof="0" dirty="0">
                <a:solidFill>
                  <a:srgbClr val="7F7DB0"/>
                </a:solidFill>
              </a:rPr>
              <a:t>real world </a:t>
            </a:r>
            <a:r>
              <a:rPr lang="en-US" noProof="0" dirty="0"/>
              <a:t>is what you are interested in</a:t>
            </a:r>
          </a:p>
          <a:p>
            <a:pPr lvl="1"/>
            <a:r>
              <a:rPr lang="en-US" noProof="0" dirty="0"/>
              <a:t>Problem: you will never observe it directly</a:t>
            </a:r>
          </a:p>
          <a:p>
            <a:r>
              <a:rPr lang="en-US" noProof="0" dirty="0"/>
              <a:t>Data is not the real world but a </a:t>
            </a:r>
            <a:r>
              <a:rPr lang="en-US" noProof="0" dirty="0">
                <a:solidFill>
                  <a:srgbClr val="7F7DB0"/>
                </a:solidFill>
              </a:rPr>
              <a:t>representation of it</a:t>
            </a:r>
          </a:p>
          <a:p>
            <a:pPr lvl="1"/>
            <a:r>
              <a:rPr lang="en-US" noProof="0" dirty="0"/>
              <a:t>Many mediums: photographs, audio recordings, tables, writing, drawings…</a:t>
            </a:r>
          </a:p>
        </p:txBody>
      </p:sp>
      <p:pic>
        <p:nvPicPr>
          <p:cNvPr id="11" name="Image 24">
            <a:extLst>
              <a:ext uri="{FF2B5EF4-FFF2-40B4-BE49-F238E27FC236}">
                <a16:creationId xmlns:a16="http://schemas.microsoft.com/office/drawing/2014/main" id="{B1A0D893-1EF1-9B53-F3FD-6F1F6AAD4E45}"/>
              </a:ext>
            </a:extLst>
          </p:cNvPr>
          <p:cNvPicPr>
            <a:picLocks noChangeAspect="1"/>
          </p:cNvPicPr>
          <p:nvPr/>
        </p:nvPicPr>
        <p:blipFill>
          <a:blip r:embed="rId4"/>
          <a:stretch>
            <a:fillRect/>
          </a:stretch>
        </p:blipFill>
        <p:spPr>
          <a:xfrm>
            <a:off x="950737" y="2660125"/>
            <a:ext cx="3254652" cy="995687"/>
          </a:xfrm>
          <a:prstGeom prst="rect">
            <a:avLst/>
          </a:prstGeom>
        </p:spPr>
      </p:pic>
      <p:grpSp>
        <p:nvGrpSpPr>
          <p:cNvPr id="12" name="Groupe 37">
            <a:extLst>
              <a:ext uri="{FF2B5EF4-FFF2-40B4-BE49-F238E27FC236}">
                <a16:creationId xmlns:a16="http://schemas.microsoft.com/office/drawing/2014/main" id="{8105432E-F7CE-6183-EE37-940F1A6D03B4}"/>
              </a:ext>
            </a:extLst>
          </p:cNvPr>
          <p:cNvGrpSpPr/>
          <p:nvPr/>
        </p:nvGrpSpPr>
        <p:grpSpPr>
          <a:xfrm>
            <a:off x="950737" y="3586318"/>
            <a:ext cx="3254652" cy="1306557"/>
            <a:chOff x="8190310" y="1882525"/>
            <a:chExt cx="3254652" cy="1306557"/>
          </a:xfrm>
        </p:grpSpPr>
        <p:pic>
          <p:nvPicPr>
            <p:cNvPr id="13" name="Image 22">
              <a:extLst>
                <a:ext uri="{FF2B5EF4-FFF2-40B4-BE49-F238E27FC236}">
                  <a16:creationId xmlns:a16="http://schemas.microsoft.com/office/drawing/2014/main" id="{F3E9FD6D-0350-B1C0-8258-6D9FA269F15D}"/>
                </a:ext>
              </a:extLst>
            </p:cNvPr>
            <p:cNvPicPr>
              <a:picLocks noChangeAspect="1"/>
            </p:cNvPicPr>
            <p:nvPr/>
          </p:nvPicPr>
          <p:blipFill>
            <a:blip r:embed="rId5"/>
            <a:stretch>
              <a:fillRect/>
            </a:stretch>
          </p:blipFill>
          <p:spPr>
            <a:xfrm>
              <a:off x="8190310" y="2277780"/>
              <a:ext cx="3254652" cy="911302"/>
            </a:xfrm>
            <a:prstGeom prst="rect">
              <a:avLst/>
            </a:prstGeom>
          </p:spPr>
        </p:pic>
        <p:cxnSp>
          <p:nvCxnSpPr>
            <p:cNvPr id="14" name="Connecteur droit avec flèche 29">
              <a:extLst>
                <a:ext uri="{FF2B5EF4-FFF2-40B4-BE49-F238E27FC236}">
                  <a16:creationId xmlns:a16="http://schemas.microsoft.com/office/drawing/2014/main" id="{029DF5A4-1A6A-30A3-01F5-81481293FCA8}"/>
                </a:ext>
              </a:extLst>
            </p:cNvPr>
            <p:cNvCxnSpPr>
              <a:cxnSpLocks/>
            </p:cNvCxnSpPr>
            <p:nvPr/>
          </p:nvCxnSpPr>
          <p:spPr>
            <a:xfrm>
              <a:off x="8323868" y="1882525"/>
              <a:ext cx="0" cy="3952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654828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9F05-2BCD-6678-B97E-2444A783349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FCBC95C-49EF-2976-7D64-3B9509C71C4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660A88F-8CB6-E61F-D127-053781D501D4}"/>
              </a:ext>
            </a:extLst>
          </p:cNvPr>
          <p:cNvSpPr>
            <a:spLocks noGrp="1"/>
          </p:cNvSpPr>
          <p:nvPr>
            <p:ph type="title"/>
          </p:nvPr>
        </p:nvSpPr>
        <p:spPr>
          <a:xfrm>
            <a:off x="838200" y="365125"/>
            <a:ext cx="10515600" cy="1325563"/>
          </a:xfrm>
        </p:spPr>
        <p:txBody>
          <a:bodyPr/>
          <a:lstStyle/>
          <a:p>
            <a:r>
              <a:rPr lang="en-GB" dirty="0">
                <a:solidFill>
                  <a:srgbClr val="FF0000"/>
                </a:solidFill>
              </a:rPr>
              <a:t>🌈D</a:t>
            </a:r>
            <a:r>
              <a:rPr lang="en-GB" dirty="0">
                <a:solidFill>
                  <a:srgbClr val="FFC000"/>
                </a:solidFill>
              </a:rPr>
              <a:t>a</a:t>
            </a:r>
            <a:r>
              <a:rPr lang="en-GB" dirty="0">
                <a:solidFill>
                  <a:srgbClr val="FFFF00"/>
                </a:solidFill>
              </a:rPr>
              <a:t>t</a:t>
            </a:r>
            <a:r>
              <a:rPr lang="en-GB" dirty="0">
                <a:solidFill>
                  <a:srgbClr val="92D050"/>
                </a:solidFill>
              </a:rPr>
              <a:t>a</a:t>
            </a:r>
            <a:r>
              <a:rPr lang="en-GB" dirty="0"/>
              <a:t> </a:t>
            </a:r>
            <a:r>
              <a:rPr lang="en-GB" strike="sngStrike" dirty="0">
                <a:solidFill>
                  <a:srgbClr val="00B050"/>
                </a:solidFill>
              </a:rPr>
              <a:t>s</a:t>
            </a:r>
            <a:r>
              <a:rPr lang="en-GB" strike="sngStrike" dirty="0">
                <a:solidFill>
                  <a:srgbClr val="00B0F0"/>
                </a:solidFill>
              </a:rPr>
              <a:t>c</a:t>
            </a:r>
            <a:r>
              <a:rPr lang="en-GB" strike="sngStrike" dirty="0">
                <a:solidFill>
                  <a:srgbClr val="0070C0"/>
                </a:solidFill>
              </a:rPr>
              <a:t>i</a:t>
            </a:r>
            <a:r>
              <a:rPr lang="en-GB" strike="sngStrike" dirty="0">
                <a:solidFill>
                  <a:srgbClr val="002060"/>
                </a:solidFill>
              </a:rPr>
              <a:t>e</a:t>
            </a:r>
            <a:r>
              <a:rPr lang="en-GB" strike="sngStrike" dirty="0">
                <a:solidFill>
                  <a:srgbClr val="7030A0"/>
                </a:solidFill>
              </a:rPr>
              <a:t>n</a:t>
            </a:r>
            <a:r>
              <a:rPr lang="en-GB" strike="sngStrike" dirty="0">
                <a:solidFill>
                  <a:srgbClr val="002060"/>
                </a:solidFill>
              </a:rPr>
              <a:t>c</a:t>
            </a:r>
            <a:r>
              <a:rPr lang="en-GB" strike="sngStrike" dirty="0">
                <a:solidFill>
                  <a:srgbClr val="0070C0"/>
                </a:solidFill>
              </a:rPr>
              <a:t>e</a:t>
            </a:r>
            <a:r>
              <a:rPr lang="en-GB" dirty="0">
                <a:solidFill>
                  <a:srgbClr val="0070C0"/>
                </a:solidFill>
              </a:rPr>
              <a:t>🌈</a:t>
            </a:r>
            <a:r>
              <a:rPr lang="en-GB" dirty="0"/>
              <a:t> What? Why?</a:t>
            </a:r>
          </a:p>
        </p:txBody>
      </p:sp>
      <p:sp>
        <p:nvSpPr>
          <p:cNvPr id="2" name="Espace réservé du numéro de diapositive 1">
            <a:extLst>
              <a:ext uri="{FF2B5EF4-FFF2-40B4-BE49-F238E27FC236}">
                <a16:creationId xmlns:a16="http://schemas.microsoft.com/office/drawing/2014/main" id="{AFF1426D-5309-6AAA-F399-9FE2EF882DAF}"/>
              </a:ext>
            </a:extLst>
          </p:cNvPr>
          <p:cNvSpPr>
            <a:spLocks noGrp="1"/>
          </p:cNvSpPr>
          <p:nvPr>
            <p:ph type="sldNum" sz="quarter" idx="12"/>
          </p:nvPr>
        </p:nvSpPr>
        <p:spPr/>
        <p:txBody>
          <a:bodyPr/>
          <a:lstStyle/>
          <a:p>
            <a:fld id="{6F3806FF-9E51-4331-BB90-F49EFA1FA4FC}" type="slidenum">
              <a:rPr lang="fr-FR" smtClean="0"/>
              <a:t>36</a:t>
            </a:fld>
            <a:endParaRPr lang="fr-FR"/>
          </a:p>
        </p:txBody>
      </p:sp>
      <p:graphicFrame>
        <p:nvGraphicFramePr>
          <p:cNvPr id="5" name="Tableau 4">
            <a:extLst>
              <a:ext uri="{FF2B5EF4-FFF2-40B4-BE49-F238E27FC236}">
                <a16:creationId xmlns:a16="http://schemas.microsoft.com/office/drawing/2014/main" id="{9CBBF976-BB0A-1488-6292-DEFE82D2CA3F}"/>
              </a:ext>
            </a:extLst>
          </p:cNvPr>
          <p:cNvGraphicFramePr>
            <a:graphicFrameLocks noGrp="1"/>
          </p:cNvGraphicFramePr>
          <p:nvPr/>
        </p:nvGraphicFramePr>
        <p:xfrm>
          <a:off x="973754" y="1810169"/>
          <a:ext cx="5120642" cy="1703070"/>
        </p:xfrm>
        <a:graphic>
          <a:graphicData uri="http://schemas.openxmlformats.org/drawingml/2006/table">
            <a:tbl>
              <a:tblPr>
                <a:tableStyleId>{5C22544A-7EE6-4342-B048-85BDC9FD1C3A}</a:tableStyleId>
              </a:tblPr>
              <a:tblGrid>
                <a:gridCol w="1923450">
                  <a:extLst>
                    <a:ext uri="{9D8B030D-6E8A-4147-A177-3AD203B41FA5}">
                      <a16:colId xmlns:a16="http://schemas.microsoft.com/office/drawing/2014/main" val="161275789"/>
                    </a:ext>
                  </a:extLst>
                </a:gridCol>
                <a:gridCol w="2132284">
                  <a:extLst>
                    <a:ext uri="{9D8B030D-6E8A-4147-A177-3AD203B41FA5}">
                      <a16:colId xmlns:a16="http://schemas.microsoft.com/office/drawing/2014/main" val="581948292"/>
                    </a:ext>
                  </a:extLst>
                </a:gridCol>
                <a:gridCol w="1064908">
                  <a:extLst>
                    <a:ext uri="{9D8B030D-6E8A-4147-A177-3AD203B41FA5}">
                      <a16:colId xmlns:a16="http://schemas.microsoft.com/office/drawing/2014/main" val="272041966"/>
                    </a:ext>
                  </a:extLst>
                </a:gridCol>
              </a:tblGrid>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name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body_temperature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location</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89357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Térébenthine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4389093"/>
                  </a:ext>
                </a:extLst>
              </a:tr>
              <a:tr h="190500">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Gonzaguette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37.3</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4797116"/>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Arlette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36.4</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armpit</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9243013"/>
                  </a:ext>
                </a:extLst>
              </a:tr>
              <a:tr h="190500">
                <a:tc>
                  <a:txBody>
                    <a:bodyPr/>
                    <a:lstStyle/>
                    <a:p>
                      <a:pPr algn="l" fontAlgn="b">
                        <a:buNone/>
                      </a:pPr>
                      <a:r>
                        <a:rPr lang="fr-FR" sz="1800" u="none" strike="noStrike">
                          <a:effectLst/>
                          <a:latin typeface="Source Sans Pro" panose="020B0503030403020204" pitchFamily="34" charset="0"/>
                          <a:ea typeface="Source Sans Pro" panose="020B0503030403020204" pitchFamily="34" charset="0"/>
                        </a:rPr>
                        <a:t>Henri-Clotaire</a:t>
                      </a:r>
                      <a:endParaRPr lang="fr-FR" sz="1800" b="0" i="0" u="none" strike="noStrike">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48.5</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forehead</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9901510"/>
                  </a:ext>
                </a:extLst>
              </a:tr>
              <a:tr h="190500">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Jehanne-Bertrude</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a:effectLst/>
                          <a:latin typeface="Source Sans Pro" panose="020B0503030403020204" pitchFamily="34" charset="0"/>
                          <a:ea typeface="Source Sans Pro" panose="020B0503030403020204" pitchFamily="34" charset="0"/>
                        </a:rPr>
                        <a:t>39.1</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800" u="none" strike="noStrike" dirty="0" err="1">
                          <a:effectLst/>
                          <a:latin typeface="Source Sans Pro" panose="020B0503030403020204" pitchFamily="34" charset="0"/>
                          <a:ea typeface="Source Sans Pro" panose="020B0503030403020204" pitchFamily="34" charset="0"/>
                        </a:rPr>
                        <a:t>mouth</a:t>
                      </a:r>
                      <a:endParaRPr lang="fr-FR" sz="18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80457"/>
                  </a:ext>
                </a:extLst>
              </a:tr>
            </a:tbl>
          </a:graphicData>
        </a:graphic>
      </p:graphicFrame>
      <p:sp>
        <p:nvSpPr>
          <p:cNvPr id="8" name="ZoneTexte 7">
            <a:extLst>
              <a:ext uri="{FF2B5EF4-FFF2-40B4-BE49-F238E27FC236}">
                <a16:creationId xmlns:a16="http://schemas.microsoft.com/office/drawing/2014/main" id="{5414E36A-BF7E-FDA3-C804-1862C81C8066}"/>
              </a:ext>
            </a:extLst>
          </p:cNvPr>
          <p:cNvSpPr txBox="1"/>
          <p:nvPr/>
        </p:nvSpPr>
        <p:spPr>
          <a:xfrm>
            <a:off x="6329414" y="1810169"/>
            <a:ext cx="6097604" cy="3108543"/>
          </a:xfrm>
          <a:prstGeom prst="rect">
            <a:avLst/>
          </a:prstGeom>
          <a:noFill/>
        </p:spPr>
        <p:txBody>
          <a:bodyPr wrap="square">
            <a:spAutoFit/>
          </a:bodyPr>
          <a:lstStyle/>
          <a:p>
            <a:pPr marL="0" indent="0">
              <a:buNone/>
            </a:pPr>
            <a:r>
              <a:rPr lang="en-US" sz="2800" dirty="0"/>
              <a:t>Column 2 was gathered using a thermometer.</a:t>
            </a:r>
          </a:p>
          <a:p>
            <a:pPr marL="0" indent="0">
              <a:buNone/>
            </a:pPr>
            <a:r>
              <a:rPr lang="en-US" sz="2800" dirty="0"/>
              <a:t>	d. Is this column objective?</a:t>
            </a:r>
          </a:p>
          <a:p>
            <a:r>
              <a:rPr lang="en-US" sz="2800" dirty="0"/>
              <a:t>	e. Is this an accurate 	representation of the 	temperature of the body?</a:t>
            </a:r>
          </a:p>
          <a:p>
            <a:pPr marL="0" indent="0">
              <a:buNone/>
            </a:pPr>
            <a:endParaRPr lang="en-US" sz="2800" dirty="0"/>
          </a:p>
        </p:txBody>
      </p:sp>
    </p:spTree>
    <p:extLst>
      <p:ext uri="{BB962C8B-B14F-4D97-AF65-F5344CB8AC3E}">
        <p14:creationId xmlns:p14="http://schemas.microsoft.com/office/powerpoint/2010/main" val="185610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pic>
        <p:nvPicPr>
          <p:cNvPr id="7" name="Image 6" descr="Une image contenant texte, nourriture, Plats préparés&#10;&#10;Le contenu généré par l’IA peut être incorrect.">
            <a:extLst>
              <a:ext uri="{FF2B5EF4-FFF2-40B4-BE49-F238E27FC236}">
                <a16:creationId xmlns:a16="http://schemas.microsoft.com/office/drawing/2014/main" id="{83B8A6E0-728C-34C7-ED0C-F8D1E568FE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4318708">
            <a:off x="7481597" y="606960"/>
            <a:ext cx="1571797" cy="1632065"/>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Data </a:t>
            </a:r>
            <a:r>
              <a:rPr lang="en-GB" dirty="0" err="1">
                <a:solidFill>
                  <a:srgbClr val="7F7DB0"/>
                </a:solidFill>
              </a:rPr>
              <a:t>déconstruit</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pPr marL="0" indent="0">
              <a:buNone/>
            </a:pPr>
            <a:r>
              <a:rPr lang="en-US" dirty="0"/>
              <a:t>Data comes from Latin “</a:t>
            </a:r>
            <a:r>
              <a:rPr lang="en-US" i="1" dirty="0"/>
              <a:t>dare</a:t>
            </a:r>
            <a:r>
              <a:rPr lang="en-US" dirty="0"/>
              <a:t>”, “to give”.</a:t>
            </a:r>
          </a:p>
          <a:p>
            <a:pPr marL="0" indent="0">
              <a:buNone/>
            </a:pPr>
            <a:endParaRPr lang="en-GB" dirty="0"/>
          </a:p>
          <a:p>
            <a:pPr marL="0" indent="0" algn="ctr">
              <a:buNone/>
            </a:pPr>
            <a:r>
              <a:rPr lang="en-GB" dirty="0"/>
              <a:t>“Data are (or datum is) an </a:t>
            </a:r>
            <a:r>
              <a:rPr lang="en-GB" dirty="0">
                <a:solidFill>
                  <a:srgbClr val="7F7DB0"/>
                </a:solidFill>
              </a:rPr>
              <a:t>abstraction</a:t>
            </a:r>
            <a:r>
              <a:rPr lang="en-GB" dirty="0"/>
              <a:t>. I mean, the concept of ‘data’ or ‘datum’ suggests that there is something there that is purely given and that can be known as such. […] There is nothing like ‘the given’ or ‘naked facts’ but </a:t>
            </a:r>
            <a:r>
              <a:rPr lang="en-GB" dirty="0">
                <a:solidFill>
                  <a:srgbClr val="7F7DB0"/>
                </a:solidFill>
              </a:rPr>
              <a:t>that every (human) experience/knowledge is biased</a:t>
            </a:r>
            <a:r>
              <a:rPr lang="en-GB" dirty="0"/>
              <a:t>.”</a:t>
            </a:r>
          </a:p>
          <a:p>
            <a:pPr marL="0" indent="0">
              <a:buNone/>
            </a:pPr>
            <a:r>
              <a:rPr lang="en-US" sz="2000" dirty="0"/>
              <a:t>— Zins C. (2007). Conceptual approaches for defining data, information and knowledge.</a:t>
            </a:r>
          </a:p>
          <a:p>
            <a:pPr marL="0" indent="0" algn="ctr">
              <a:buNone/>
            </a:pPr>
            <a:endParaRPr lang="en-GB" dirty="0"/>
          </a:p>
          <a:p>
            <a:pPr marL="0" indent="0" algn="ctr">
              <a:buNone/>
            </a:pPr>
            <a:endParaRPr lang="en-US" dirty="0"/>
          </a:p>
          <a:p>
            <a:pPr marL="0" indent="0">
              <a:buNone/>
            </a:pPr>
            <a:endParaRPr lang="en-US" sz="2000" dirty="0">
              <a:latin typeface="Montserrat" pitchFamily="2" charset="0"/>
            </a:endParaRPr>
          </a:p>
          <a:p>
            <a:pPr marL="0" indent="0">
              <a:buNone/>
            </a:pPr>
            <a:endParaRPr lang="en-US" dirty="0">
              <a:latin typeface="Montserrat" pitchFamily="2" charset="0"/>
            </a:endParaRPr>
          </a:p>
          <a:p>
            <a:pPr marL="0" indent="0">
              <a:buNone/>
            </a:pPr>
            <a:endParaRPr lang="en-US" dirty="0">
              <a:solidFill>
                <a:srgbClr val="7F7DB0"/>
              </a:solidFill>
            </a:endParaRPr>
          </a:p>
        </p:txBody>
      </p:sp>
      <p:sp>
        <p:nvSpPr>
          <p:cNvPr id="2" name="Espace réservé du numéro de diapositive 1">
            <a:extLst>
              <a:ext uri="{FF2B5EF4-FFF2-40B4-BE49-F238E27FC236}">
                <a16:creationId xmlns:a16="http://schemas.microsoft.com/office/drawing/2014/main" id="{644C116F-6E38-77FA-53D2-BED8833E048A}"/>
              </a:ext>
            </a:extLst>
          </p:cNvPr>
          <p:cNvSpPr>
            <a:spLocks noGrp="1"/>
          </p:cNvSpPr>
          <p:nvPr>
            <p:ph type="sldNum" sz="quarter" idx="12"/>
          </p:nvPr>
        </p:nvSpPr>
        <p:spPr/>
        <p:txBody>
          <a:bodyPr/>
          <a:lstStyle/>
          <a:p>
            <a:fld id="{6F3806FF-9E51-4331-BB90-F49EFA1FA4FC}" type="slidenum">
              <a:rPr lang="fr-FR" smtClean="0"/>
              <a:t>37</a:t>
            </a:fld>
            <a:endParaRPr lang="fr-FR"/>
          </a:p>
        </p:txBody>
      </p:sp>
      <p:pic>
        <p:nvPicPr>
          <p:cNvPr id="5" name="Image 4">
            <a:extLst>
              <a:ext uri="{FF2B5EF4-FFF2-40B4-BE49-F238E27FC236}">
                <a16:creationId xmlns:a16="http://schemas.microsoft.com/office/drawing/2014/main" id="{4BFA8695-1ADE-E7CD-5C66-2B88D400A558}"/>
              </a:ext>
            </a:extLst>
          </p:cNvPr>
          <p:cNvPicPr>
            <a:picLocks noChangeAspect="1"/>
          </p:cNvPicPr>
          <p:nvPr/>
        </p:nvPicPr>
        <p:blipFill>
          <a:blip r:embed="rId5"/>
          <a:stretch>
            <a:fillRect/>
          </a:stretch>
        </p:blipFill>
        <p:spPr>
          <a:xfrm rot="1127892">
            <a:off x="7148947" y="482303"/>
            <a:ext cx="938240" cy="1274418"/>
          </a:xfrm>
          <a:prstGeom prst="rect">
            <a:avLst/>
          </a:prstGeom>
        </p:spPr>
      </p:pic>
    </p:spTree>
    <p:extLst>
      <p:ext uri="{BB962C8B-B14F-4D97-AF65-F5344CB8AC3E}">
        <p14:creationId xmlns:p14="http://schemas.microsoft.com/office/powerpoint/2010/main" val="426674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BE363-9E07-068A-B7A4-FEA0A16DBCA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084019C-B956-9A94-AF45-37DB23F0F8D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pic>
        <p:nvPicPr>
          <p:cNvPr id="7" name="Image 6" descr="Une image contenant texte, nourriture, Plats préparés&#10;&#10;Le contenu généré par l’IA peut être incorrect.">
            <a:extLst>
              <a:ext uri="{FF2B5EF4-FFF2-40B4-BE49-F238E27FC236}">
                <a16:creationId xmlns:a16="http://schemas.microsoft.com/office/drawing/2014/main" id="{942446A5-18FA-0B94-5BC5-D0CC0F020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4318708">
            <a:off x="7481597" y="606960"/>
            <a:ext cx="1571797" cy="1632065"/>
          </a:xfrm>
          <a:prstGeom prst="rect">
            <a:avLst/>
          </a:prstGeom>
        </p:spPr>
      </p:pic>
      <p:sp>
        <p:nvSpPr>
          <p:cNvPr id="6" name="Title 1">
            <a:extLst>
              <a:ext uri="{FF2B5EF4-FFF2-40B4-BE49-F238E27FC236}">
                <a16:creationId xmlns:a16="http://schemas.microsoft.com/office/drawing/2014/main" id="{B1FADC6B-CCB5-DBA8-04FF-FCDE2878D200}"/>
              </a:ext>
            </a:extLst>
          </p:cNvPr>
          <p:cNvSpPr>
            <a:spLocks noGrp="1"/>
          </p:cNvSpPr>
          <p:nvPr>
            <p:ph type="title"/>
          </p:nvPr>
        </p:nvSpPr>
        <p:spPr>
          <a:xfrm>
            <a:off x="838200" y="365125"/>
            <a:ext cx="10515600" cy="1325563"/>
          </a:xfrm>
        </p:spPr>
        <p:txBody>
          <a:bodyPr/>
          <a:lstStyle/>
          <a:p>
            <a:r>
              <a:rPr lang="en-GB" dirty="0">
                <a:solidFill>
                  <a:srgbClr val="7F7DB0"/>
                </a:solidFill>
              </a:rPr>
              <a:t>Data </a:t>
            </a:r>
            <a:r>
              <a:rPr lang="en-GB" dirty="0" err="1">
                <a:solidFill>
                  <a:srgbClr val="7F7DB0"/>
                </a:solidFill>
              </a:rPr>
              <a:t>déconstruit</a:t>
            </a:r>
            <a:endParaRPr lang="en-GB" dirty="0">
              <a:solidFill>
                <a:srgbClr val="7F7DB0"/>
              </a:solidFill>
            </a:endParaRPr>
          </a:p>
        </p:txBody>
      </p:sp>
      <p:sp>
        <p:nvSpPr>
          <p:cNvPr id="9" name="Content Placeholder 5">
            <a:extLst>
              <a:ext uri="{FF2B5EF4-FFF2-40B4-BE49-F238E27FC236}">
                <a16:creationId xmlns:a16="http://schemas.microsoft.com/office/drawing/2014/main" id="{52E0365A-84C3-E204-2116-61EE20A727D8}"/>
              </a:ext>
            </a:extLst>
          </p:cNvPr>
          <p:cNvSpPr>
            <a:spLocks noGrp="1"/>
          </p:cNvSpPr>
          <p:nvPr>
            <p:ph idx="1"/>
          </p:nvPr>
        </p:nvSpPr>
        <p:spPr>
          <a:xfrm>
            <a:off x="838200" y="1781784"/>
            <a:ext cx="8608308" cy="2470176"/>
          </a:xfrm>
        </p:spPr>
        <p:txBody>
          <a:bodyPr>
            <a:normAutofit/>
          </a:bodyPr>
          <a:lstStyle/>
          <a:p>
            <a:pPr marL="0" indent="0">
              <a:buNone/>
            </a:pPr>
            <a:r>
              <a:rPr lang="fr-FR" dirty="0"/>
              <a:t>In </a:t>
            </a:r>
            <a:r>
              <a:rPr lang="fr-FR" dirty="0" err="1"/>
              <a:t>easier</a:t>
            </a:r>
            <a:r>
              <a:rPr lang="fr-FR" dirty="0"/>
              <a:t> </a:t>
            </a:r>
            <a:r>
              <a:rPr lang="fr-FR" dirty="0" err="1"/>
              <a:t>terms</a:t>
            </a:r>
            <a:r>
              <a:rPr lang="fr-FR" dirty="0"/>
              <a:t>, data </a:t>
            </a:r>
            <a:r>
              <a:rPr lang="fr-FR" dirty="0" err="1"/>
              <a:t>is</a:t>
            </a:r>
            <a:r>
              <a:rPr lang="fr-FR" dirty="0"/>
              <a:t> not </a:t>
            </a:r>
            <a:r>
              <a:rPr lang="fr-FR" dirty="0" err="1"/>
              <a:t>only</a:t>
            </a:r>
            <a:r>
              <a:rPr lang="fr-FR" dirty="0"/>
              <a:t> a </a:t>
            </a:r>
            <a:r>
              <a:rPr lang="fr-FR" dirty="0" err="1">
                <a:solidFill>
                  <a:srgbClr val="7F7DB0"/>
                </a:solidFill>
              </a:rPr>
              <a:t>representation</a:t>
            </a:r>
            <a:r>
              <a:rPr lang="fr-FR" dirty="0"/>
              <a:t> of reality (</a:t>
            </a:r>
            <a:r>
              <a:rPr lang="fr-FR" dirty="0" err="1"/>
              <a:t>what</a:t>
            </a:r>
            <a:r>
              <a:rPr lang="fr-FR" dirty="0"/>
              <a:t> </a:t>
            </a:r>
            <a:r>
              <a:rPr lang="fr-FR" dirty="0" err="1"/>
              <a:t>we</a:t>
            </a:r>
            <a:r>
              <a:rPr lang="fr-FR" dirty="0"/>
              <a:t> </a:t>
            </a:r>
            <a:r>
              <a:rPr lang="fr-FR" dirty="0" err="1"/>
              <a:t>saw</a:t>
            </a:r>
            <a:r>
              <a:rPr lang="fr-FR" dirty="0"/>
              <a:t> a few slides </a:t>
            </a:r>
            <a:r>
              <a:rPr lang="fr-FR" dirty="0" err="1"/>
              <a:t>before</a:t>
            </a:r>
            <a:r>
              <a:rPr lang="fr-FR" dirty="0"/>
              <a:t>), but </a:t>
            </a:r>
            <a:r>
              <a:rPr lang="fr-FR" dirty="0" err="1"/>
              <a:t>also</a:t>
            </a:r>
            <a:r>
              <a:rPr lang="fr-FR" dirty="0"/>
              <a:t> an </a:t>
            </a:r>
            <a:r>
              <a:rPr lang="fr-FR" dirty="0" err="1">
                <a:solidFill>
                  <a:srgbClr val="7F7DB0"/>
                </a:solidFill>
              </a:rPr>
              <a:t>interpretation</a:t>
            </a:r>
            <a:r>
              <a:rPr lang="fr-FR" dirty="0"/>
              <a:t> of reality </a:t>
            </a:r>
            <a:r>
              <a:rPr lang="fr-FR" dirty="0" err="1"/>
              <a:t>that</a:t>
            </a:r>
            <a:r>
              <a:rPr lang="fr-FR" dirty="0"/>
              <a:t> </a:t>
            </a:r>
            <a:r>
              <a:rPr lang="fr-FR" dirty="0" err="1"/>
              <a:t>is</a:t>
            </a:r>
            <a:r>
              <a:rPr lang="fr-FR" dirty="0"/>
              <a:t> </a:t>
            </a:r>
            <a:r>
              <a:rPr lang="fr-FR" dirty="0" err="1"/>
              <a:t>always</a:t>
            </a:r>
            <a:r>
              <a:rPr lang="fr-FR" dirty="0"/>
              <a:t> </a:t>
            </a:r>
            <a:r>
              <a:rPr lang="fr-FR" dirty="0" err="1"/>
              <a:t>biased</a:t>
            </a:r>
            <a:endParaRPr lang="fr-FR" dirty="0"/>
          </a:p>
          <a:p>
            <a:pPr marL="0" indent="0">
              <a:buNone/>
            </a:pPr>
            <a:r>
              <a:rPr lang="fr-FR" dirty="0"/>
              <a:t>You </a:t>
            </a:r>
            <a:r>
              <a:rPr lang="fr-FR" dirty="0" err="1"/>
              <a:t>will</a:t>
            </a:r>
            <a:r>
              <a:rPr lang="fr-FR" dirty="0"/>
              <a:t> </a:t>
            </a:r>
            <a:r>
              <a:rPr lang="fr-FR" dirty="0" err="1"/>
              <a:t>find</a:t>
            </a:r>
            <a:r>
              <a:rPr lang="fr-FR" dirty="0"/>
              <a:t> </a:t>
            </a:r>
            <a:r>
              <a:rPr lang="fr-FR" dirty="0" err="1"/>
              <a:t>researchers</a:t>
            </a:r>
            <a:r>
              <a:rPr lang="fr-FR" dirty="0"/>
              <a:t> </a:t>
            </a:r>
            <a:r>
              <a:rPr lang="fr-FR" dirty="0" err="1"/>
              <a:t>who</a:t>
            </a:r>
            <a:r>
              <a:rPr lang="fr-FR" dirty="0"/>
              <a:t> argue </a:t>
            </a:r>
            <a:r>
              <a:rPr lang="fr-FR" dirty="0" err="1"/>
              <a:t>that</a:t>
            </a:r>
            <a:r>
              <a:rPr lang="fr-FR" dirty="0"/>
              <a:t> data </a:t>
            </a:r>
            <a:r>
              <a:rPr lang="fr-FR" dirty="0" err="1"/>
              <a:t>does</a:t>
            </a:r>
            <a:r>
              <a:rPr lang="fr-FR" dirty="0"/>
              <a:t> not </a:t>
            </a:r>
            <a:r>
              <a:rPr lang="fr-FR" dirty="0" err="1"/>
              <a:t>exist</a:t>
            </a:r>
            <a:endParaRPr lang="fr-FR" dirty="0"/>
          </a:p>
          <a:p>
            <a:pPr marL="0" indent="0">
              <a:buNone/>
            </a:pPr>
            <a:endParaRPr lang="en-US" sz="2000" dirty="0"/>
          </a:p>
          <a:p>
            <a:pPr marL="0" indent="0" algn="ctr">
              <a:buNone/>
            </a:pPr>
            <a:endParaRPr lang="en-GB" dirty="0"/>
          </a:p>
          <a:p>
            <a:pPr marL="0" indent="0" algn="ctr">
              <a:buNone/>
            </a:pPr>
            <a:endParaRPr lang="en-US" dirty="0"/>
          </a:p>
          <a:p>
            <a:pPr marL="0" indent="0">
              <a:buNone/>
            </a:pPr>
            <a:endParaRPr lang="en-US" sz="2000" dirty="0">
              <a:latin typeface="Montserrat" pitchFamily="2" charset="0"/>
            </a:endParaRPr>
          </a:p>
          <a:p>
            <a:pPr marL="0" indent="0">
              <a:buNone/>
            </a:pPr>
            <a:endParaRPr lang="en-US" dirty="0">
              <a:latin typeface="Montserrat" pitchFamily="2" charset="0"/>
            </a:endParaRPr>
          </a:p>
          <a:p>
            <a:pPr marL="0" indent="0">
              <a:buNone/>
            </a:pPr>
            <a:endParaRPr lang="en-US" dirty="0">
              <a:solidFill>
                <a:srgbClr val="7F7DB0"/>
              </a:solidFill>
            </a:endParaRPr>
          </a:p>
        </p:txBody>
      </p:sp>
      <p:sp>
        <p:nvSpPr>
          <p:cNvPr id="2" name="Espace réservé du numéro de diapositive 1">
            <a:extLst>
              <a:ext uri="{FF2B5EF4-FFF2-40B4-BE49-F238E27FC236}">
                <a16:creationId xmlns:a16="http://schemas.microsoft.com/office/drawing/2014/main" id="{ABBE6508-D8CF-AEB2-8A39-50BD5E622021}"/>
              </a:ext>
            </a:extLst>
          </p:cNvPr>
          <p:cNvSpPr>
            <a:spLocks noGrp="1"/>
          </p:cNvSpPr>
          <p:nvPr>
            <p:ph type="sldNum" sz="quarter" idx="12"/>
          </p:nvPr>
        </p:nvSpPr>
        <p:spPr/>
        <p:txBody>
          <a:bodyPr/>
          <a:lstStyle/>
          <a:p>
            <a:fld id="{6F3806FF-9E51-4331-BB90-F49EFA1FA4FC}" type="slidenum">
              <a:rPr lang="fr-FR" smtClean="0"/>
              <a:t>38</a:t>
            </a:fld>
            <a:endParaRPr lang="fr-FR"/>
          </a:p>
        </p:txBody>
      </p:sp>
      <p:pic>
        <p:nvPicPr>
          <p:cNvPr id="5" name="Image 4">
            <a:extLst>
              <a:ext uri="{FF2B5EF4-FFF2-40B4-BE49-F238E27FC236}">
                <a16:creationId xmlns:a16="http://schemas.microsoft.com/office/drawing/2014/main" id="{ABB93E55-ED25-7F73-9BB1-8FFAF9A71602}"/>
              </a:ext>
            </a:extLst>
          </p:cNvPr>
          <p:cNvPicPr>
            <a:picLocks noChangeAspect="1"/>
          </p:cNvPicPr>
          <p:nvPr/>
        </p:nvPicPr>
        <p:blipFill>
          <a:blip r:embed="rId5"/>
          <a:stretch>
            <a:fillRect/>
          </a:stretch>
        </p:blipFill>
        <p:spPr>
          <a:xfrm rot="1127892">
            <a:off x="7148947" y="482303"/>
            <a:ext cx="938240" cy="1274418"/>
          </a:xfrm>
          <a:prstGeom prst="rect">
            <a:avLst/>
          </a:prstGeom>
        </p:spPr>
      </p:pic>
    </p:spTree>
    <p:extLst>
      <p:ext uri="{BB962C8B-B14F-4D97-AF65-F5344CB8AC3E}">
        <p14:creationId xmlns:p14="http://schemas.microsoft.com/office/powerpoint/2010/main" val="3110567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5C097-0FC9-7C9E-B2DE-F7722B466CA5}"/>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21E4406-EF1B-B8DC-5FEF-CD5691A627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57B00944-6E3B-192A-95D6-B7B9E737C2DB}"/>
              </a:ext>
            </a:extLst>
          </p:cNvPr>
          <p:cNvSpPr>
            <a:spLocks noGrp="1"/>
          </p:cNvSpPr>
          <p:nvPr>
            <p:ph type="sldNum" sz="quarter" idx="12"/>
          </p:nvPr>
        </p:nvSpPr>
        <p:spPr/>
        <p:txBody>
          <a:bodyPr/>
          <a:lstStyle/>
          <a:p>
            <a:fld id="{6F3806FF-9E51-4331-BB90-F49EFA1FA4FC}" type="slidenum">
              <a:rPr lang="fr-FR" smtClean="0"/>
              <a:t>39</a:t>
            </a:fld>
            <a:endParaRPr lang="fr-FR"/>
          </a:p>
        </p:txBody>
      </p:sp>
      <p:pic>
        <p:nvPicPr>
          <p:cNvPr id="10" name="Picture 9" descr="r/pics - a group of soldiers in camouflage">
            <a:extLst>
              <a:ext uri="{FF2B5EF4-FFF2-40B4-BE49-F238E27FC236}">
                <a16:creationId xmlns:a16="http://schemas.microsoft.com/office/drawing/2014/main" id="{7B2773D0-5BBC-CA22-6D42-107387D61352}"/>
              </a:ext>
            </a:extLst>
          </p:cNvPr>
          <p:cNvPicPr>
            <a:picLocks noChangeAspect="1"/>
          </p:cNvPicPr>
          <p:nvPr/>
        </p:nvPicPr>
        <p:blipFill>
          <a:blip r:embed="rId4"/>
          <a:srcRect l="38665"/>
          <a:stretch>
            <a:fillRect/>
          </a:stretch>
        </p:blipFill>
        <p:spPr>
          <a:xfrm>
            <a:off x="886692" y="1517105"/>
            <a:ext cx="2289439" cy="4975770"/>
          </a:xfrm>
          <a:prstGeom prst="rect">
            <a:avLst/>
          </a:prstGeom>
        </p:spPr>
      </p:pic>
      <p:sp>
        <p:nvSpPr>
          <p:cNvPr id="8" name="Title 1">
            <a:extLst>
              <a:ext uri="{FF2B5EF4-FFF2-40B4-BE49-F238E27FC236}">
                <a16:creationId xmlns:a16="http://schemas.microsoft.com/office/drawing/2014/main" id="{AB1BD0EE-0433-DAE3-371E-FBCB059D6E1A}"/>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as an </a:t>
            </a:r>
            <a:r>
              <a:rPr lang="en-GB" dirty="0">
                <a:solidFill>
                  <a:srgbClr val="7F7DB0"/>
                </a:solidFill>
              </a:rPr>
              <a:t>interpretation</a:t>
            </a:r>
          </a:p>
        </p:txBody>
      </p:sp>
      <p:sp>
        <p:nvSpPr>
          <p:cNvPr id="9" name="Content Placeholder 5">
            <a:extLst>
              <a:ext uri="{FF2B5EF4-FFF2-40B4-BE49-F238E27FC236}">
                <a16:creationId xmlns:a16="http://schemas.microsoft.com/office/drawing/2014/main" id="{B1F1C0C6-0A7E-C54F-EA12-7166C79404C0}"/>
              </a:ext>
            </a:extLst>
          </p:cNvPr>
          <p:cNvSpPr txBox="1">
            <a:spLocks/>
          </p:cNvSpPr>
          <p:nvPr/>
        </p:nvSpPr>
        <p:spPr>
          <a:xfrm>
            <a:off x="3314106" y="1603897"/>
            <a:ext cx="8748563" cy="497577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 think </a:t>
            </a:r>
            <a:r>
              <a:rPr lang="en-US" dirty="0" err="1"/>
              <a:t>analysing</a:t>
            </a:r>
            <a:r>
              <a:rPr lang="en-US" dirty="0"/>
              <a:t> an image is a bit like tabular data analysis (you just use different tools).</a:t>
            </a:r>
          </a:p>
          <a:p>
            <a:pPr marL="0" indent="0">
              <a:buNone/>
            </a:pPr>
            <a:endParaRPr lang="en-US" dirty="0"/>
          </a:p>
          <a:p>
            <a:pPr marL="514350" indent="-514350">
              <a:buFont typeface="Arial" panose="020B0604020202020204" pitchFamily="34" charset="0"/>
              <a:buAutoNum type="arabicPeriod"/>
            </a:pPr>
            <a:r>
              <a:rPr lang="en-US" dirty="0"/>
              <a:t>Is it data?</a:t>
            </a:r>
          </a:p>
          <a:p>
            <a:pPr marL="514350" indent="-514350">
              <a:buFont typeface="Arial" panose="020B0604020202020204" pitchFamily="34" charset="0"/>
              <a:buAutoNum type="arabicPeriod"/>
            </a:pPr>
            <a:r>
              <a:rPr lang="en-US" dirty="0"/>
              <a:t>What does this data represent?</a:t>
            </a:r>
          </a:p>
          <a:p>
            <a:pPr marL="514350" indent="-514350">
              <a:buFont typeface="Arial" panose="020B0604020202020204" pitchFamily="34" charset="0"/>
              <a:buAutoNum type="arabicPeriod"/>
            </a:pPr>
            <a:r>
              <a:rPr lang="en-US" dirty="0"/>
              <a:t>What is the color of the two characters jackets?</a:t>
            </a:r>
          </a:p>
          <a:p>
            <a:pPr marL="514350" indent="-514350">
              <a:buFont typeface="Arial" panose="020B0604020202020204" pitchFamily="34" charset="0"/>
              <a:buAutoNum type="arabicPeriod"/>
            </a:pPr>
            <a:r>
              <a:rPr lang="en-US" dirty="0"/>
              <a:t>What is the person on the right holding?</a:t>
            </a:r>
          </a:p>
          <a:p>
            <a:pPr marL="514350" indent="-514350">
              <a:buFont typeface="Arial" panose="020B0604020202020204" pitchFamily="34" charset="0"/>
              <a:buAutoNum type="arabicPeriod"/>
            </a:pPr>
            <a:r>
              <a:rPr lang="en-US" dirty="0"/>
              <a:t>Is one standing higher than the other?</a:t>
            </a:r>
          </a:p>
        </p:txBody>
      </p:sp>
    </p:spTree>
    <p:extLst>
      <p:ext uri="{BB962C8B-B14F-4D97-AF65-F5344CB8AC3E}">
        <p14:creationId xmlns:p14="http://schemas.microsoft.com/office/powerpoint/2010/main" val="60059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1D199-5A0B-7C3D-45CC-B312041BB8C2}"/>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4D906C0-BD0B-9132-2DF5-0AA1116AF64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9BD05FB7-3E4A-EBBE-EF91-501D84977F7D}"/>
              </a:ext>
            </a:extLst>
          </p:cNvPr>
          <p:cNvSpPr>
            <a:spLocks noGrp="1"/>
          </p:cNvSpPr>
          <p:nvPr>
            <p:ph type="sldNum" sz="quarter" idx="12"/>
          </p:nvPr>
        </p:nvSpPr>
        <p:spPr/>
        <p:txBody>
          <a:bodyPr/>
          <a:lstStyle/>
          <a:p>
            <a:fld id="{6F3806FF-9E51-4331-BB90-F49EFA1FA4FC}" type="slidenum">
              <a:rPr lang="fr-FR" smtClean="0"/>
              <a:t>40</a:t>
            </a:fld>
            <a:endParaRPr lang="fr-FR"/>
          </a:p>
        </p:txBody>
      </p:sp>
      <p:pic>
        <p:nvPicPr>
          <p:cNvPr id="10" name="Picture 9" descr="r/pics - a group of soldiers in camouflage">
            <a:extLst>
              <a:ext uri="{FF2B5EF4-FFF2-40B4-BE49-F238E27FC236}">
                <a16:creationId xmlns:a16="http://schemas.microsoft.com/office/drawing/2014/main" id="{47C02868-3237-23C4-FC50-C573D038F77D}"/>
              </a:ext>
            </a:extLst>
          </p:cNvPr>
          <p:cNvPicPr>
            <a:picLocks noChangeAspect="1"/>
          </p:cNvPicPr>
          <p:nvPr/>
        </p:nvPicPr>
        <p:blipFill>
          <a:blip r:embed="rId4"/>
          <a:srcRect l="38665"/>
          <a:stretch>
            <a:fillRect/>
          </a:stretch>
        </p:blipFill>
        <p:spPr>
          <a:xfrm>
            <a:off x="886692" y="1517105"/>
            <a:ext cx="2289439" cy="4975770"/>
          </a:xfrm>
          <a:prstGeom prst="rect">
            <a:avLst/>
          </a:prstGeom>
        </p:spPr>
      </p:pic>
      <p:sp>
        <p:nvSpPr>
          <p:cNvPr id="8" name="Title 1">
            <a:extLst>
              <a:ext uri="{FF2B5EF4-FFF2-40B4-BE49-F238E27FC236}">
                <a16:creationId xmlns:a16="http://schemas.microsoft.com/office/drawing/2014/main" id="{9DC812F6-36CC-87C6-9D18-6C4A0B045577}"/>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as an </a:t>
            </a:r>
            <a:r>
              <a:rPr lang="en-GB" dirty="0">
                <a:solidFill>
                  <a:srgbClr val="7F7DB0"/>
                </a:solidFill>
              </a:rPr>
              <a:t>interpretation</a:t>
            </a:r>
          </a:p>
        </p:txBody>
      </p:sp>
      <p:sp>
        <p:nvSpPr>
          <p:cNvPr id="9" name="Content Placeholder 5">
            <a:extLst>
              <a:ext uri="{FF2B5EF4-FFF2-40B4-BE49-F238E27FC236}">
                <a16:creationId xmlns:a16="http://schemas.microsoft.com/office/drawing/2014/main" id="{42D582E6-3DCF-B69B-E5E9-CCA36267DD13}"/>
              </a:ext>
            </a:extLst>
          </p:cNvPr>
          <p:cNvSpPr txBox="1">
            <a:spLocks/>
          </p:cNvSpPr>
          <p:nvPr/>
        </p:nvSpPr>
        <p:spPr>
          <a:xfrm>
            <a:off x="3330884" y="1690687"/>
            <a:ext cx="8748563" cy="480218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eriod"/>
            </a:pPr>
            <a:r>
              <a:rPr lang="en-US" dirty="0"/>
              <a:t>Who is the character on the right?</a:t>
            </a:r>
          </a:p>
          <a:p>
            <a:pPr marL="514350" indent="-514350">
              <a:buFont typeface="Arial" panose="020B0604020202020204" pitchFamily="34" charset="0"/>
              <a:buAutoNum type="arabicPeriod"/>
            </a:pPr>
            <a:r>
              <a:rPr lang="en-US" dirty="0"/>
              <a:t>Who is the character on the left?</a:t>
            </a:r>
          </a:p>
          <a:p>
            <a:pPr marL="514350" indent="-514350">
              <a:buFont typeface="Arial" panose="020B0604020202020204" pitchFamily="34" charset="0"/>
              <a:buAutoNum type="arabicPeriod"/>
            </a:pPr>
            <a:r>
              <a:rPr lang="en-US" dirty="0"/>
              <a:t>Who is the person behind the camera?</a:t>
            </a:r>
          </a:p>
          <a:p>
            <a:pPr marL="514350" indent="-514350">
              <a:buFont typeface="Arial" panose="020B0604020202020204" pitchFamily="34" charset="0"/>
              <a:buAutoNum type="arabicPeriod"/>
            </a:pPr>
            <a:r>
              <a:rPr lang="en-US" dirty="0"/>
              <a:t>Where are they?</a:t>
            </a:r>
          </a:p>
          <a:p>
            <a:pPr marL="514350" indent="-514350">
              <a:buFont typeface="Arial" panose="020B0604020202020204" pitchFamily="34" charset="0"/>
              <a:buAutoNum type="arabicPeriod"/>
            </a:pPr>
            <a:r>
              <a:rPr lang="en-US" dirty="0"/>
              <a:t>What is the relationship between the two characters?</a:t>
            </a:r>
          </a:p>
          <a:p>
            <a:pPr marL="514350" indent="-514350">
              <a:buFont typeface="Arial" panose="020B0604020202020204" pitchFamily="34" charset="0"/>
              <a:buAutoNum type="arabicPeriod"/>
            </a:pPr>
            <a:endParaRPr lang="en-US" dirty="0"/>
          </a:p>
          <a:p>
            <a:pPr marL="0" indent="0">
              <a:buNone/>
            </a:pPr>
            <a:r>
              <a:rPr lang="en-US" dirty="0"/>
              <a:t>Data is always an incomplete representation of reality. An image can’t tell you what characters think, how they relate, what is outside the frame, while it is still important in order to understand the whole scene.</a:t>
            </a:r>
          </a:p>
        </p:txBody>
      </p:sp>
    </p:spTree>
    <p:extLst>
      <p:ext uri="{BB962C8B-B14F-4D97-AF65-F5344CB8AC3E}">
        <p14:creationId xmlns:p14="http://schemas.microsoft.com/office/powerpoint/2010/main" val="161727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487B4-967F-AA1B-9254-A5D1C52E3D8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8B81ACB-1D8A-47B2-3F8D-13FCE21504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0F173A48-4C58-C04E-DCAB-EBB0897981E5}"/>
              </a:ext>
            </a:extLst>
          </p:cNvPr>
          <p:cNvSpPr>
            <a:spLocks noGrp="1"/>
          </p:cNvSpPr>
          <p:nvPr>
            <p:ph type="sldNum" sz="quarter" idx="12"/>
          </p:nvPr>
        </p:nvSpPr>
        <p:spPr/>
        <p:txBody>
          <a:bodyPr/>
          <a:lstStyle/>
          <a:p>
            <a:fld id="{6F3806FF-9E51-4331-BB90-F49EFA1FA4FC}" type="slidenum">
              <a:rPr lang="fr-FR" smtClean="0"/>
              <a:t>41</a:t>
            </a:fld>
            <a:endParaRPr lang="fr-FR"/>
          </a:p>
        </p:txBody>
      </p:sp>
      <p:pic>
        <p:nvPicPr>
          <p:cNvPr id="10" name="Picture 9" descr="r/pics - a group of soldiers in camouflage">
            <a:extLst>
              <a:ext uri="{FF2B5EF4-FFF2-40B4-BE49-F238E27FC236}">
                <a16:creationId xmlns:a16="http://schemas.microsoft.com/office/drawing/2014/main" id="{10944B19-AF36-6621-1063-6E63AFE6A58F}"/>
              </a:ext>
            </a:extLst>
          </p:cNvPr>
          <p:cNvPicPr>
            <a:picLocks noChangeAspect="1"/>
          </p:cNvPicPr>
          <p:nvPr/>
        </p:nvPicPr>
        <p:blipFill>
          <a:blip r:embed="rId4"/>
          <a:srcRect l="38665"/>
          <a:stretch>
            <a:fillRect/>
          </a:stretch>
        </p:blipFill>
        <p:spPr>
          <a:xfrm>
            <a:off x="886692" y="1517105"/>
            <a:ext cx="2289439" cy="4975770"/>
          </a:xfrm>
          <a:prstGeom prst="rect">
            <a:avLst/>
          </a:prstGeom>
        </p:spPr>
      </p:pic>
      <p:sp>
        <p:nvSpPr>
          <p:cNvPr id="8" name="Title 1">
            <a:extLst>
              <a:ext uri="{FF2B5EF4-FFF2-40B4-BE49-F238E27FC236}">
                <a16:creationId xmlns:a16="http://schemas.microsoft.com/office/drawing/2014/main" id="{C90AAE83-96C5-AB59-4DD1-A765DD5BE8FE}"/>
              </a:ext>
            </a:extLst>
          </p:cNvPr>
          <p:cNvSpPr>
            <a:spLocks noGrp="1"/>
          </p:cNvSpPr>
          <p:nvPr>
            <p:ph type="title"/>
          </p:nvPr>
        </p:nvSpPr>
        <p:spPr>
          <a:xfrm>
            <a:off x="838200" y="365125"/>
            <a:ext cx="10515600" cy="1325563"/>
          </a:xfrm>
        </p:spPr>
        <p:txBody>
          <a:bodyPr/>
          <a:lstStyle/>
          <a:p>
            <a:r>
              <a:rPr lang="fr-FR" dirty="0">
                <a:solidFill>
                  <a:srgbClr val="0C0804"/>
                </a:solidFill>
              </a:rPr>
              <a:t>Raw data</a:t>
            </a:r>
            <a:endParaRPr lang="en-GB" dirty="0">
              <a:solidFill>
                <a:srgbClr val="7F7DB0"/>
              </a:solidFill>
            </a:endParaRPr>
          </a:p>
        </p:txBody>
      </p:sp>
      <p:sp>
        <p:nvSpPr>
          <p:cNvPr id="9" name="Content Placeholder 5">
            <a:extLst>
              <a:ext uri="{FF2B5EF4-FFF2-40B4-BE49-F238E27FC236}">
                <a16:creationId xmlns:a16="http://schemas.microsoft.com/office/drawing/2014/main" id="{BE0166A7-9DF7-70D5-4769-3A8AA97F8A38}"/>
              </a:ext>
            </a:extLst>
          </p:cNvPr>
          <p:cNvSpPr txBox="1">
            <a:spLocks/>
          </p:cNvSpPr>
          <p:nvPr/>
        </p:nvSpPr>
        <p:spPr>
          <a:xfrm>
            <a:off x="3330884" y="1329961"/>
            <a:ext cx="8748563" cy="18304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image was taken straight from a camera, without modification.</a:t>
            </a:r>
          </a:p>
          <a:p>
            <a:pPr marL="0" indent="0">
              <a:buNone/>
            </a:pPr>
            <a:r>
              <a:rPr lang="en-US" dirty="0"/>
              <a:t>Is this data “raw data”? (i.e. data that is unprocessed, as close to reality as possible)</a:t>
            </a:r>
          </a:p>
        </p:txBody>
      </p:sp>
      <p:grpSp>
        <p:nvGrpSpPr>
          <p:cNvPr id="3" name="Groupe 2">
            <a:extLst>
              <a:ext uri="{FF2B5EF4-FFF2-40B4-BE49-F238E27FC236}">
                <a16:creationId xmlns:a16="http://schemas.microsoft.com/office/drawing/2014/main" id="{A2DB963F-112C-BB0E-C936-2EE0571D60B0}"/>
              </a:ext>
            </a:extLst>
          </p:cNvPr>
          <p:cNvGrpSpPr/>
          <p:nvPr/>
        </p:nvGrpSpPr>
        <p:grpSpPr>
          <a:xfrm>
            <a:off x="3397027" y="3194108"/>
            <a:ext cx="7956773" cy="986486"/>
            <a:chOff x="807534" y="4779940"/>
            <a:chExt cx="7956773" cy="986486"/>
          </a:xfrm>
        </p:grpSpPr>
        <p:sp>
          <p:nvSpPr>
            <p:cNvPr id="5" name="Rectangle 4">
              <a:extLst>
                <a:ext uri="{FF2B5EF4-FFF2-40B4-BE49-F238E27FC236}">
                  <a16:creationId xmlns:a16="http://schemas.microsoft.com/office/drawing/2014/main" id="{2D92CD05-6A8F-B7F4-BC46-CC7E7B499F47}"/>
                </a:ext>
              </a:extLst>
            </p:cNvPr>
            <p:cNvSpPr/>
            <p:nvPr/>
          </p:nvSpPr>
          <p:spPr>
            <a:xfrm>
              <a:off x="807534" y="5273183"/>
              <a:ext cx="7956773" cy="493243"/>
            </a:xfrm>
            <a:prstGeom prst="rect">
              <a:avLst/>
            </a:prstGeom>
            <a:solidFill>
              <a:srgbClr val="F9D4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lumMod val="75000"/>
                      <a:lumOff val="25000"/>
                    </a:schemeClr>
                  </a:solidFill>
                  <a:latin typeface="Source Sans Pro" panose="020B0503030403020204" pitchFamily="34" charset="0"/>
                  <a:ea typeface="Source Sans Pro" panose="020B0503030403020204" pitchFamily="34" charset="0"/>
                </a:rPr>
                <a:t>Raw does not mean accurate, free from bias or free from human decisions</a:t>
              </a:r>
            </a:p>
          </p:txBody>
        </p:sp>
        <p:sp>
          <p:nvSpPr>
            <p:cNvPr id="6" name="Rectangle 5">
              <a:extLst>
                <a:ext uri="{FF2B5EF4-FFF2-40B4-BE49-F238E27FC236}">
                  <a16:creationId xmlns:a16="http://schemas.microsoft.com/office/drawing/2014/main" id="{26749373-746B-E866-91D2-B5F128E53C97}"/>
                </a:ext>
              </a:extLst>
            </p:cNvPr>
            <p:cNvSpPr/>
            <p:nvPr/>
          </p:nvSpPr>
          <p:spPr>
            <a:xfrm>
              <a:off x="807534" y="4779940"/>
              <a:ext cx="7956773" cy="493242"/>
            </a:xfrm>
            <a:prstGeom prst="rect">
              <a:avLst/>
            </a:prstGeom>
            <a:solidFill>
              <a:srgbClr val="EB6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itchFamily="2" charset="0"/>
                </a:rPr>
                <a:t>       “Raw” data is misleading</a:t>
              </a:r>
            </a:p>
          </p:txBody>
        </p:sp>
        <p:pic>
          <p:nvPicPr>
            <p:cNvPr id="7" name="Graphic 7" descr="Lightbulb outline">
              <a:extLst>
                <a:ext uri="{FF2B5EF4-FFF2-40B4-BE49-F238E27FC236}">
                  <a16:creationId xmlns:a16="http://schemas.microsoft.com/office/drawing/2014/main" id="{C87E5A44-11D5-F8B5-2C8B-A559C2D256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3902" y="4813618"/>
              <a:ext cx="425886" cy="425886"/>
            </a:xfrm>
            <a:prstGeom prst="rect">
              <a:avLst/>
            </a:prstGeom>
          </p:spPr>
        </p:pic>
      </p:grpSp>
      <p:sp>
        <p:nvSpPr>
          <p:cNvPr id="11" name="Content Placeholder 5">
            <a:extLst>
              <a:ext uri="{FF2B5EF4-FFF2-40B4-BE49-F238E27FC236}">
                <a16:creationId xmlns:a16="http://schemas.microsoft.com/office/drawing/2014/main" id="{47F8FB69-47E0-0E2F-956E-5C6EC17932D8}"/>
              </a:ext>
            </a:extLst>
          </p:cNvPr>
          <p:cNvSpPr txBox="1">
            <a:spLocks/>
          </p:cNvSpPr>
          <p:nvPr/>
        </p:nvSpPr>
        <p:spPr>
          <a:xfrm>
            <a:off x="3330884" y="4353237"/>
            <a:ext cx="8748563" cy="2504763"/>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Raw data from a camera (or sensors, in general) is also an interpretation of reality:</a:t>
            </a:r>
          </a:p>
          <a:p>
            <a:pPr>
              <a:buFontTx/>
              <a:buChar char="-"/>
            </a:pPr>
            <a:r>
              <a:rPr lang="en-US" sz="2400" dirty="0" err="1"/>
              <a:t>Colours</a:t>
            </a:r>
            <a:r>
              <a:rPr lang="en-US" sz="2400" dirty="0"/>
              <a:t> depend on the camera </a:t>
            </a:r>
            <a:r>
              <a:rPr lang="en-US" sz="2400" dirty="0" err="1"/>
              <a:t>colour</a:t>
            </a:r>
            <a:r>
              <a:rPr lang="en-US" sz="2400" dirty="0"/>
              <a:t> science and lens</a:t>
            </a:r>
          </a:p>
          <a:p>
            <a:pPr>
              <a:buFontTx/>
              <a:buChar char="-"/>
            </a:pPr>
            <a:r>
              <a:rPr lang="en-US" sz="2400" dirty="0"/>
              <a:t>Infrared and ultraviolet light is (typically) cut off</a:t>
            </a:r>
          </a:p>
          <a:p>
            <a:pPr>
              <a:buFontTx/>
              <a:buChar char="-"/>
            </a:pPr>
            <a:r>
              <a:rPr lang="en-US" sz="2400" dirty="0"/>
              <a:t>Resolution is limited, you cannot zoom as much as you want</a:t>
            </a:r>
          </a:p>
          <a:p>
            <a:pPr>
              <a:buFontTx/>
              <a:buChar char="-"/>
            </a:pPr>
            <a:r>
              <a:rPr lang="en-US" sz="2400" dirty="0"/>
              <a:t>Proportions vary depending on the focal length of the lens</a:t>
            </a:r>
          </a:p>
        </p:txBody>
      </p:sp>
    </p:spTree>
    <p:extLst>
      <p:ext uri="{BB962C8B-B14F-4D97-AF65-F5344CB8AC3E}">
        <p14:creationId xmlns:p14="http://schemas.microsoft.com/office/powerpoint/2010/main" val="382137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6F12A-B3D6-5CD3-729D-1D0483E6486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581D260-D483-E28D-52CC-D20CB6EFE39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E79E462C-9B36-C2F6-7D00-27762D4874F2}"/>
              </a:ext>
            </a:extLst>
          </p:cNvPr>
          <p:cNvSpPr>
            <a:spLocks noGrp="1"/>
          </p:cNvSpPr>
          <p:nvPr>
            <p:ph type="sldNum" sz="quarter" idx="12"/>
          </p:nvPr>
        </p:nvSpPr>
        <p:spPr/>
        <p:txBody>
          <a:bodyPr/>
          <a:lstStyle/>
          <a:p>
            <a:fld id="{6F3806FF-9E51-4331-BB90-F49EFA1FA4FC}" type="slidenum">
              <a:rPr lang="fr-FR" smtClean="0"/>
              <a:t>42</a:t>
            </a:fld>
            <a:endParaRPr lang="fr-FR"/>
          </a:p>
        </p:txBody>
      </p:sp>
      <p:pic>
        <p:nvPicPr>
          <p:cNvPr id="10" name="Picture 9" descr="r/pics - a group of soldiers in camouflage">
            <a:extLst>
              <a:ext uri="{FF2B5EF4-FFF2-40B4-BE49-F238E27FC236}">
                <a16:creationId xmlns:a16="http://schemas.microsoft.com/office/drawing/2014/main" id="{D427F693-19D8-10EE-FA29-59029E685E81}"/>
              </a:ext>
            </a:extLst>
          </p:cNvPr>
          <p:cNvPicPr>
            <a:picLocks noChangeAspect="1"/>
          </p:cNvPicPr>
          <p:nvPr/>
        </p:nvPicPr>
        <p:blipFill>
          <a:blip r:embed="rId4"/>
          <a:srcRect l="38665"/>
          <a:stretch>
            <a:fillRect/>
          </a:stretch>
        </p:blipFill>
        <p:spPr>
          <a:xfrm>
            <a:off x="886692" y="1517105"/>
            <a:ext cx="2289439" cy="4975770"/>
          </a:xfrm>
          <a:prstGeom prst="rect">
            <a:avLst/>
          </a:prstGeom>
        </p:spPr>
      </p:pic>
      <p:sp>
        <p:nvSpPr>
          <p:cNvPr id="9" name="Content Placeholder 5">
            <a:extLst>
              <a:ext uri="{FF2B5EF4-FFF2-40B4-BE49-F238E27FC236}">
                <a16:creationId xmlns:a16="http://schemas.microsoft.com/office/drawing/2014/main" id="{545F29BB-4D7D-F2A8-291B-602FCF91864F}"/>
              </a:ext>
            </a:extLst>
          </p:cNvPr>
          <p:cNvSpPr txBox="1">
            <a:spLocks/>
          </p:cNvSpPr>
          <p:nvPr/>
        </p:nvSpPr>
        <p:spPr>
          <a:xfrm>
            <a:off x="3330884" y="1598530"/>
            <a:ext cx="8748563" cy="5259469"/>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How and what data is recorded is always dependent on human decisions, processes, techniques…</a:t>
            </a:r>
          </a:p>
          <a:p>
            <a:r>
              <a:rPr lang="en-US" dirty="0"/>
              <a:t>For data created by humans (surveys, manual input), it’s easy to see potential errors and pitfalls</a:t>
            </a:r>
          </a:p>
          <a:p>
            <a:r>
              <a:rPr lang="en-US" dirty="0"/>
              <a:t>When data is automatically gathered (through automatic procedures, software, machines, sensors…), we tend to see it as more truthful or accurate</a:t>
            </a:r>
          </a:p>
          <a:p>
            <a:pPr lvl="1"/>
            <a:r>
              <a:rPr lang="en-US" dirty="0"/>
              <a:t>Very misleading! We decide how this data is created and stored</a:t>
            </a:r>
          </a:p>
          <a:p>
            <a:pPr lvl="1"/>
            <a:r>
              <a:rPr lang="en-US" dirty="0"/>
              <a:t>This gets dangerous when we don’t know or understand how this data is created and interpreted by the machine (you probably look at images everyday, do you know how cameras work?)</a:t>
            </a:r>
          </a:p>
          <a:p>
            <a:pPr lvl="1"/>
            <a:r>
              <a:rPr lang="en-US" dirty="0"/>
              <a:t>Hardware and software are prone to errors and bugs too</a:t>
            </a:r>
          </a:p>
          <a:p>
            <a:pPr lvl="1"/>
            <a:endParaRPr lang="en-US" dirty="0"/>
          </a:p>
          <a:p>
            <a:pPr lvl="1"/>
            <a:endParaRPr lang="en-US" dirty="0"/>
          </a:p>
          <a:p>
            <a:endParaRPr lang="en-US" dirty="0"/>
          </a:p>
          <a:p>
            <a:pPr marL="0" indent="0">
              <a:buNone/>
            </a:pPr>
            <a:endParaRPr lang="en-US" dirty="0"/>
          </a:p>
          <a:p>
            <a:pPr marL="0" indent="0">
              <a:buNone/>
            </a:pPr>
            <a:endParaRPr lang="en-US" dirty="0"/>
          </a:p>
        </p:txBody>
      </p:sp>
      <p:sp>
        <p:nvSpPr>
          <p:cNvPr id="14" name="Title 1">
            <a:extLst>
              <a:ext uri="{FF2B5EF4-FFF2-40B4-BE49-F238E27FC236}">
                <a16:creationId xmlns:a16="http://schemas.microsoft.com/office/drawing/2014/main" id="{8B584400-62EE-76EC-07B6-2984576C1E9D}"/>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as an </a:t>
            </a:r>
            <a:r>
              <a:rPr lang="en-GB" dirty="0">
                <a:solidFill>
                  <a:srgbClr val="7F7DB0"/>
                </a:solidFill>
              </a:rPr>
              <a:t>interpretation</a:t>
            </a:r>
          </a:p>
        </p:txBody>
      </p:sp>
    </p:spTree>
    <p:extLst>
      <p:ext uri="{BB962C8B-B14F-4D97-AF65-F5344CB8AC3E}">
        <p14:creationId xmlns:p14="http://schemas.microsoft.com/office/powerpoint/2010/main" val="218426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1166D-78E1-D996-9F5D-767D4EDFEE5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E13BEC8C-351D-5592-6985-5EC2D7D3960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13EBE99D-442F-3A3A-56D1-8EF9D1478FAA}"/>
              </a:ext>
            </a:extLst>
          </p:cNvPr>
          <p:cNvSpPr>
            <a:spLocks noGrp="1"/>
          </p:cNvSpPr>
          <p:nvPr>
            <p:ph type="sldNum" sz="quarter" idx="12"/>
          </p:nvPr>
        </p:nvSpPr>
        <p:spPr/>
        <p:txBody>
          <a:bodyPr/>
          <a:lstStyle/>
          <a:p>
            <a:fld id="{6F3806FF-9E51-4331-BB90-F49EFA1FA4FC}" type="slidenum">
              <a:rPr lang="fr-FR" smtClean="0"/>
              <a:t>43</a:t>
            </a:fld>
            <a:endParaRPr lang="fr-FR"/>
          </a:p>
        </p:txBody>
      </p:sp>
      <p:pic>
        <p:nvPicPr>
          <p:cNvPr id="10" name="Picture 9" descr="r/pics - a group of soldiers in camouflage">
            <a:extLst>
              <a:ext uri="{FF2B5EF4-FFF2-40B4-BE49-F238E27FC236}">
                <a16:creationId xmlns:a16="http://schemas.microsoft.com/office/drawing/2014/main" id="{FB9F26F1-2AE9-39DE-7AA5-B26E0A2FD831}"/>
              </a:ext>
            </a:extLst>
          </p:cNvPr>
          <p:cNvPicPr>
            <a:picLocks noChangeAspect="1"/>
          </p:cNvPicPr>
          <p:nvPr/>
        </p:nvPicPr>
        <p:blipFill>
          <a:blip r:embed="rId4"/>
          <a:srcRect l="38665"/>
          <a:stretch>
            <a:fillRect/>
          </a:stretch>
        </p:blipFill>
        <p:spPr>
          <a:xfrm>
            <a:off x="886692" y="1517105"/>
            <a:ext cx="2289439" cy="4975770"/>
          </a:xfrm>
          <a:prstGeom prst="rect">
            <a:avLst/>
          </a:prstGeom>
        </p:spPr>
      </p:pic>
      <p:sp>
        <p:nvSpPr>
          <p:cNvPr id="9" name="Content Placeholder 5">
            <a:extLst>
              <a:ext uri="{FF2B5EF4-FFF2-40B4-BE49-F238E27FC236}">
                <a16:creationId xmlns:a16="http://schemas.microsoft.com/office/drawing/2014/main" id="{F36FE005-2534-28F5-6950-8C48D656FA49}"/>
              </a:ext>
            </a:extLst>
          </p:cNvPr>
          <p:cNvSpPr txBox="1">
            <a:spLocks/>
          </p:cNvSpPr>
          <p:nvPr/>
        </p:nvSpPr>
        <p:spPr>
          <a:xfrm>
            <a:off x="3330884" y="1598530"/>
            <a:ext cx="8748563" cy="52594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 </a:t>
            </a:r>
            <a:r>
              <a:rPr lang="en-US" dirty="0">
                <a:solidFill>
                  <a:srgbClr val="7F7DB0"/>
                </a:solidFill>
              </a:rPr>
              <a:t>dataset </a:t>
            </a:r>
            <a:r>
              <a:rPr lang="en-US" dirty="0"/>
              <a:t>is also an interpretation: it contains what is considered relevant to </a:t>
            </a:r>
            <a:r>
              <a:rPr lang="en-US" dirty="0" err="1"/>
              <a:t>analyse</a:t>
            </a:r>
            <a:r>
              <a:rPr lang="en-US" dirty="0"/>
              <a:t> a phenomenon.</a:t>
            </a:r>
          </a:p>
          <a:p>
            <a:pPr marL="0" indent="0">
              <a:buNone/>
            </a:pPr>
            <a:r>
              <a:rPr lang="en-US" dirty="0"/>
              <a:t>“Some elements are privileged by inclusion, while others are denied relevance through exclusion” (Travis D. Williams, Raw Data is an Oxymoron)</a:t>
            </a:r>
          </a:p>
          <a:p>
            <a:pPr marL="0" indent="0">
              <a:buNone/>
            </a:pPr>
            <a:endParaRPr lang="en-US" dirty="0"/>
          </a:p>
          <a:p>
            <a:pPr marL="0" indent="0">
              <a:buNone/>
            </a:pPr>
            <a:r>
              <a:rPr lang="en-US" dirty="0"/>
              <a:t>Similarly, the framing of this picture is what was deemed relevant by the photographer to capture the scene.</a:t>
            </a:r>
          </a:p>
          <a:p>
            <a:pPr marL="0" indent="0">
              <a:buNone/>
            </a:pPr>
            <a:endParaRPr lang="en-US" dirty="0"/>
          </a:p>
        </p:txBody>
      </p:sp>
      <p:sp>
        <p:nvSpPr>
          <p:cNvPr id="14" name="Title 1">
            <a:extLst>
              <a:ext uri="{FF2B5EF4-FFF2-40B4-BE49-F238E27FC236}">
                <a16:creationId xmlns:a16="http://schemas.microsoft.com/office/drawing/2014/main" id="{B23B4DD3-801A-5E9A-7F04-5241857265BD}"/>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as an </a:t>
            </a:r>
            <a:r>
              <a:rPr lang="en-GB" dirty="0">
                <a:solidFill>
                  <a:srgbClr val="7F7DB0"/>
                </a:solidFill>
              </a:rPr>
              <a:t>interpretation</a:t>
            </a:r>
          </a:p>
        </p:txBody>
      </p:sp>
    </p:spTree>
    <p:extLst>
      <p:ext uri="{BB962C8B-B14F-4D97-AF65-F5344CB8AC3E}">
        <p14:creationId xmlns:p14="http://schemas.microsoft.com/office/powerpoint/2010/main" val="3132997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1927-8C70-0B97-4785-AA71AD89AA9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87855D8-24E0-522B-D1A4-B187C7A3788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13490536-08C1-ABE5-9C08-D08588C467EE}"/>
              </a:ext>
            </a:extLst>
          </p:cNvPr>
          <p:cNvSpPr>
            <a:spLocks noGrp="1"/>
          </p:cNvSpPr>
          <p:nvPr>
            <p:ph type="sldNum" sz="quarter" idx="12"/>
          </p:nvPr>
        </p:nvSpPr>
        <p:spPr/>
        <p:txBody>
          <a:bodyPr/>
          <a:lstStyle/>
          <a:p>
            <a:fld id="{6F3806FF-9E51-4331-BB90-F49EFA1FA4FC}" type="slidenum">
              <a:rPr lang="fr-FR" smtClean="0"/>
              <a:t>44</a:t>
            </a:fld>
            <a:endParaRPr lang="fr-FR"/>
          </a:p>
        </p:txBody>
      </p:sp>
      <p:pic>
        <p:nvPicPr>
          <p:cNvPr id="10" name="Picture 9" descr="r/pics - a group of soldiers in camouflage">
            <a:extLst>
              <a:ext uri="{FF2B5EF4-FFF2-40B4-BE49-F238E27FC236}">
                <a16:creationId xmlns:a16="http://schemas.microsoft.com/office/drawing/2014/main" id="{9EFF6905-AF31-6E40-A3B4-F769BA0C8EC3}"/>
              </a:ext>
            </a:extLst>
          </p:cNvPr>
          <p:cNvPicPr>
            <a:picLocks noChangeAspect="1"/>
          </p:cNvPicPr>
          <p:nvPr/>
        </p:nvPicPr>
        <p:blipFill>
          <a:blip r:embed="rId4"/>
          <a:stretch>
            <a:fillRect/>
          </a:stretch>
        </p:blipFill>
        <p:spPr>
          <a:xfrm>
            <a:off x="838200" y="1471711"/>
            <a:ext cx="3860503" cy="5146080"/>
          </a:xfrm>
          <a:prstGeom prst="rect">
            <a:avLst/>
          </a:prstGeom>
        </p:spPr>
      </p:pic>
      <p:sp>
        <p:nvSpPr>
          <p:cNvPr id="8" name="Title 1">
            <a:extLst>
              <a:ext uri="{FF2B5EF4-FFF2-40B4-BE49-F238E27FC236}">
                <a16:creationId xmlns:a16="http://schemas.microsoft.com/office/drawing/2014/main" id="{2D5E5B69-CD25-7E87-23EF-9B9C50A9AEB9}"/>
              </a:ext>
            </a:extLst>
          </p:cNvPr>
          <p:cNvSpPr>
            <a:spLocks noGrp="1"/>
          </p:cNvSpPr>
          <p:nvPr>
            <p:ph type="title"/>
          </p:nvPr>
        </p:nvSpPr>
        <p:spPr>
          <a:xfrm>
            <a:off x="838200" y="365125"/>
            <a:ext cx="10515600" cy="1325563"/>
          </a:xfrm>
        </p:spPr>
        <p:txBody>
          <a:bodyPr/>
          <a:lstStyle/>
          <a:p>
            <a:r>
              <a:rPr lang="fr-FR" dirty="0">
                <a:solidFill>
                  <a:srgbClr val="0C0804"/>
                </a:solidFill>
              </a:rPr>
              <a:t>D</a:t>
            </a:r>
            <a:r>
              <a:rPr lang="en-GB" dirty="0" err="1">
                <a:solidFill>
                  <a:srgbClr val="0C0804"/>
                </a:solidFill>
              </a:rPr>
              <a:t>ata</a:t>
            </a:r>
            <a:r>
              <a:rPr lang="en-GB" dirty="0">
                <a:solidFill>
                  <a:srgbClr val="0C0804"/>
                </a:solidFill>
              </a:rPr>
              <a:t> as an </a:t>
            </a:r>
            <a:r>
              <a:rPr lang="en-GB" dirty="0">
                <a:solidFill>
                  <a:srgbClr val="7F7DB0"/>
                </a:solidFill>
              </a:rPr>
              <a:t>interpretation</a:t>
            </a:r>
          </a:p>
        </p:txBody>
      </p:sp>
      <p:sp>
        <p:nvSpPr>
          <p:cNvPr id="9" name="Rectangle 8">
            <a:extLst>
              <a:ext uri="{FF2B5EF4-FFF2-40B4-BE49-F238E27FC236}">
                <a16:creationId xmlns:a16="http://schemas.microsoft.com/office/drawing/2014/main" id="{CEC43953-C297-752C-6F78-31D3E2D2531E}"/>
              </a:ext>
            </a:extLst>
          </p:cNvPr>
          <p:cNvSpPr/>
          <p:nvPr/>
        </p:nvSpPr>
        <p:spPr>
          <a:xfrm>
            <a:off x="838199" y="1471711"/>
            <a:ext cx="1519107" cy="5146080"/>
          </a:xfrm>
          <a:prstGeom prst="rect">
            <a:avLst/>
          </a:prstGeom>
          <a:solidFill>
            <a:srgbClr val="0C08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Montserrat" panose="00000500000000000000" pitchFamily="2" charset="0"/>
              </a:rPr>
              <a:t>MISSING DATA</a:t>
            </a:r>
          </a:p>
        </p:txBody>
      </p:sp>
      <p:sp>
        <p:nvSpPr>
          <p:cNvPr id="13" name="Content Placeholder 5">
            <a:extLst>
              <a:ext uri="{FF2B5EF4-FFF2-40B4-BE49-F238E27FC236}">
                <a16:creationId xmlns:a16="http://schemas.microsoft.com/office/drawing/2014/main" id="{38D9DF0A-77AE-0FD3-24D8-1CA1AE278E08}"/>
              </a:ext>
            </a:extLst>
          </p:cNvPr>
          <p:cNvSpPr txBox="1">
            <a:spLocks/>
          </p:cNvSpPr>
          <p:nvPr/>
        </p:nvSpPr>
        <p:spPr>
          <a:xfrm>
            <a:off x="5125673" y="1690687"/>
            <a:ext cx="6953774" cy="5030788"/>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There is missing data in this picture.</a:t>
            </a:r>
          </a:p>
          <a:p>
            <a:pPr marL="514350" indent="-514350">
              <a:buFont typeface="+mj-lt"/>
              <a:buAutoNum type="arabicPeriod"/>
            </a:pPr>
            <a:r>
              <a:rPr lang="en-US" dirty="0"/>
              <a:t>Does this change your interpretation of the scene?</a:t>
            </a:r>
          </a:p>
          <a:p>
            <a:pPr marL="0" indent="0">
              <a:buNone/>
            </a:pPr>
            <a:endParaRPr lang="en-US" dirty="0"/>
          </a:p>
          <a:p>
            <a:pPr marL="0" indent="0">
              <a:buNone/>
            </a:pPr>
            <a:r>
              <a:rPr lang="en-US" dirty="0"/>
              <a:t>You uncovered the missing data.</a:t>
            </a:r>
          </a:p>
          <a:p>
            <a:pPr marL="514350" indent="-514350">
              <a:buFont typeface="+mj-lt"/>
              <a:buAutoNum type="arabicPeriod" startAt="2"/>
            </a:pPr>
            <a:r>
              <a:rPr lang="en-US" dirty="0"/>
              <a:t>Does this change your interpretation of the scene?</a:t>
            </a:r>
          </a:p>
          <a:p>
            <a:pPr marL="514350" indent="-514350">
              <a:buFont typeface="+mj-lt"/>
              <a:buAutoNum type="arabicPeriod" startAt="2"/>
            </a:pPr>
            <a:endParaRPr lang="en-US" dirty="0"/>
          </a:p>
          <a:p>
            <a:pPr marL="0" indent="0">
              <a:buNone/>
            </a:pPr>
            <a:r>
              <a:rPr lang="en-US" dirty="0"/>
              <a:t>Notice how you interpretation might change between: unknown missing data, known missing data, “full” (?) data (it’s the same with tabular data)</a:t>
            </a:r>
          </a:p>
        </p:txBody>
      </p:sp>
    </p:spTree>
    <p:extLst>
      <p:ext uri="{BB962C8B-B14F-4D97-AF65-F5344CB8AC3E}">
        <p14:creationId xmlns:p14="http://schemas.microsoft.com/office/powerpoint/2010/main" val="80712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DA640-E960-2288-E429-049A3C1B9420}"/>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F3F41BB8-20B4-59AD-98FD-4CCB0C6457F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B6CDDB42-6FB8-A520-B301-D9786C8C3CB4}"/>
              </a:ext>
            </a:extLst>
          </p:cNvPr>
          <p:cNvSpPr>
            <a:spLocks noGrp="1"/>
          </p:cNvSpPr>
          <p:nvPr>
            <p:ph type="sldNum" sz="quarter" idx="12"/>
          </p:nvPr>
        </p:nvSpPr>
        <p:spPr/>
        <p:txBody>
          <a:bodyPr/>
          <a:lstStyle/>
          <a:p>
            <a:fld id="{6F3806FF-9E51-4331-BB90-F49EFA1FA4FC}" type="slidenum">
              <a:rPr lang="fr-FR" smtClean="0"/>
              <a:t>45</a:t>
            </a:fld>
            <a:endParaRPr lang="fr-FR"/>
          </a:p>
        </p:txBody>
      </p:sp>
      <p:sp>
        <p:nvSpPr>
          <p:cNvPr id="10" name="Content Placeholder 5">
            <a:extLst>
              <a:ext uri="{FF2B5EF4-FFF2-40B4-BE49-F238E27FC236}">
                <a16:creationId xmlns:a16="http://schemas.microsoft.com/office/drawing/2014/main" id="{72709067-A3A3-B3EB-B8E1-0D4E0A1417B5}"/>
              </a:ext>
            </a:extLst>
          </p:cNvPr>
          <p:cNvSpPr>
            <a:spLocks noGrp="1"/>
          </p:cNvSpPr>
          <p:nvPr>
            <p:ph idx="1"/>
          </p:nvPr>
        </p:nvSpPr>
        <p:spPr>
          <a:xfrm>
            <a:off x="783350" y="764467"/>
            <a:ext cx="10637506" cy="4987744"/>
          </a:xfrm>
        </p:spPr>
        <p:txBody>
          <a:bodyPr>
            <a:normAutofit/>
          </a:bodyPr>
          <a:lstStyle/>
          <a:p>
            <a:pPr marL="0" indent="0">
              <a:buNone/>
            </a:pPr>
            <a:r>
              <a:rPr lang="en-US" noProof="0" dirty="0">
                <a:solidFill>
                  <a:srgbClr val="0C0804"/>
                </a:solidFill>
              </a:rPr>
              <a:t>There is one question you NEVER ask yourself</a:t>
            </a:r>
          </a:p>
        </p:txBody>
      </p:sp>
      <p:pic>
        <p:nvPicPr>
          <p:cNvPr id="5" name="Picture 4" descr="r/pics - a group of soldiers in camouflage">
            <a:extLst>
              <a:ext uri="{FF2B5EF4-FFF2-40B4-BE49-F238E27FC236}">
                <a16:creationId xmlns:a16="http://schemas.microsoft.com/office/drawing/2014/main" id="{09983EB4-E522-3F6E-18E5-E4A9E772AAB2}"/>
              </a:ext>
            </a:extLst>
          </p:cNvPr>
          <p:cNvPicPr>
            <a:picLocks noChangeAspect="1"/>
          </p:cNvPicPr>
          <p:nvPr/>
        </p:nvPicPr>
        <p:blipFill>
          <a:blip r:embed="rId4"/>
          <a:srcRect l="38665"/>
          <a:stretch>
            <a:fillRect/>
          </a:stretch>
        </p:blipFill>
        <p:spPr>
          <a:xfrm>
            <a:off x="1327687" y="2901863"/>
            <a:ext cx="1557824" cy="3385712"/>
          </a:xfrm>
          <a:prstGeom prst="rect">
            <a:avLst/>
          </a:prstGeom>
        </p:spPr>
      </p:pic>
      <p:graphicFrame>
        <p:nvGraphicFramePr>
          <p:cNvPr id="9" name="Tableau 4">
            <a:extLst>
              <a:ext uri="{FF2B5EF4-FFF2-40B4-BE49-F238E27FC236}">
                <a16:creationId xmlns:a16="http://schemas.microsoft.com/office/drawing/2014/main" id="{2B8486A5-F00C-4A49-5B7C-3CF8F2F7D2B0}"/>
              </a:ext>
            </a:extLst>
          </p:cNvPr>
          <p:cNvGraphicFramePr>
            <a:graphicFrameLocks noGrp="1"/>
          </p:cNvGraphicFramePr>
          <p:nvPr>
            <p:extLst>
              <p:ext uri="{D42A27DB-BD31-4B8C-83A1-F6EECF244321}">
                <p14:modId xmlns:p14="http://schemas.microsoft.com/office/powerpoint/2010/main" val="3284185086"/>
              </p:ext>
            </p:extLst>
          </p:nvPr>
        </p:nvGraphicFramePr>
        <p:xfrm>
          <a:off x="7590321" y="3697526"/>
          <a:ext cx="3875638" cy="1794387"/>
        </p:xfrm>
        <a:graphic>
          <a:graphicData uri="http://schemas.openxmlformats.org/drawingml/2006/table">
            <a:tbl>
              <a:tblPr>
                <a:tableStyleId>{5C22544A-7EE6-4342-B048-85BDC9FD1C3A}</a:tableStyleId>
              </a:tblPr>
              <a:tblGrid>
                <a:gridCol w="1455793">
                  <a:extLst>
                    <a:ext uri="{9D8B030D-6E8A-4147-A177-3AD203B41FA5}">
                      <a16:colId xmlns:a16="http://schemas.microsoft.com/office/drawing/2014/main" val="161275789"/>
                    </a:ext>
                  </a:extLst>
                </a:gridCol>
                <a:gridCol w="1613853">
                  <a:extLst>
                    <a:ext uri="{9D8B030D-6E8A-4147-A177-3AD203B41FA5}">
                      <a16:colId xmlns:a16="http://schemas.microsoft.com/office/drawing/2014/main" val="581948292"/>
                    </a:ext>
                  </a:extLst>
                </a:gridCol>
                <a:gridCol w="805992">
                  <a:extLst>
                    <a:ext uri="{9D8B030D-6E8A-4147-A177-3AD203B41FA5}">
                      <a16:colId xmlns:a16="http://schemas.microsoft.com/office/drawing/2014/main" val="272041966"/>
                    </a:ext>
                  </a:extLst>
                </a:gridCol>
              </a:tblGrid>
              <a:tr h="282307">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name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body_temperature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location</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893570"/>
                  </a:ext>
                </a:extLst>
              </a:tr>
              <a:tr h="282307">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Térébenthine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37.5</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mouth</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4389093"/>
                  </a:ext>
                </a:extLst>
              </a:tr>
              <a:tr h="282307">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Gonzaguette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37.3</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mouth</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4797116"/>
                  </a:ext>
                </a:extLst>
              </a:tr>
              <a:tr h="282307">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Arlette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36.4</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armpit</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9243013"/>
                  </a:ext>
                </a:extLst>
              </a:tr>
              <a:tr h="282307">
                <a:tc>
                  <a:txBody>
                    <a:bodyPr/>
                    <a:lstStyle/>
                    <a:p>
                      <a:pPr algn="l" fontAlgn="b">
                        <a:buNone/>
                      </a:pPr>
                      <a:r>
                        <a:rPr lang="fr-FR" sz="1200" u="none" strike="noStrike">
                          <a:effectLst/>
                          <a:latin typeface="Source Sans Pro" panose="020B0503030403020204" pitchFamily="34" charset="0"/>
                          <a:ea typeface="Source Sans Pro" panose="020B0503030403020204" pitchFamily="34" charset="0"/>
                        </a:rPr>
                        <a:t>Henri-Clotaire</a:t>
                      </a:r>
                      <a:endParaRPr lang="fr-FR" sz="1200" b="0" i="0" u="none" strike="noStrike">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48.5</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forehead</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9901510"/>
                  </a:ext>
                </a:extLst>
              </a:tr>
              <a:tr h="382852">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Jehanne-Bertrude</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200" u="none" strike="noStrike" dirty="0">
                          <a:effectLst/>
                          <a:latin typeface="Source Sans Pro" panose="020B0503030403020204" pitchFamily="34" charset="0"/>
                          <a:ea typeface="Source Sans Pro" panose="020B0503030403020204" pitchFamily="34" charset="0"/>
                        </a:rPr>
                        <a:t>39.1</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FR" sz="1200" u="none" strike="noStrike" dirty="0" err="1">
                          <a:effectLst/>
                          <a:latin typeface="Source Sans Pro" panose="020B0503030403020204" pitchFamily="34" charset="0"/>
                          <a:ea typeface="Source Sans Pro" panose="020B0503030403020204" pitchFamily="34" charset="0"/>
                        </a:rPr>
                        <a:t>mouth</a:t>
                      </a:r>
                      <a:endParaRPr lang="fr-FR" sz="1200" b="0" i="0" u="none" strike="noStrike" dirty="0">
                        <a:solidFill>
                          <a:srgbClr val="000000"/>
                        </a:solidFill>
                        <a:effectLst/>
                        <a:latin typeface="Source Sans Pro" panose="020B0503030403020204" pitchFamily="34" charset="0"/>
                        <a:ea typeface="Source Sans Pro" panose="020B050303040302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80457"/>
                  </a:ext>
                </a:extLst>
              </a:tr>
            </a:tbl>
          </a:graphicData>
        </a:graphic>
      </p:graphicFrame>
      <p:pic>
        <p:nvPicPr>
          <p:cNvPr id="7" name="Picture 6" descr="https://upload.wikimedia.org/wikipedia/en/b/b9/MagrittePipe.jpg?utm_source=en.wikipedia.org&amp;utm_campaign=imageinfo&amp;utm_content=original">
            <a:extLst>
              <a:ext uri="{FF2B5EF4-FFF2-40B4-BE49-F238E27FC236}">
                <a16:creationId xmlns:a16="http://schemas.microsoft.com/office/drawing/2014/main" id="{0A9F3C59-3104-CC7F-9002-4CCAAA294DC9}"/>
              </a:ext>
            </a:extLst>
          </p:cNvPr>
          <p:cNvPicPr>
            <a:picLocks noChangeAspect="1"/>
          </p:cNvPicPr>
          <p:nvPr/>
        </p:nvPicPr>
        <p:blipFill>
          <a:blip r:embed="rId5"/>
          <a:srcRect b="25568"/>
          <a:stretch>
            <a:fillRect/>
          </a:stretch>
        </p:blipFill>
        <p:spPr>
          <a:xfrm>
            <a:off x="3359033" y="3823552"/>
            <a:ext cx="3451794" cy="1794386"/>
          </a:xfrm>
          <a:prstGeom prst="rect">
            <a:avLst/>
          </a:prstGeom>
        </p:spPr>
      </p:pic>
      <p:pic>
        <p:nvPicPr>
          <p:cNvPr id="17" name="Image 16" descr="Une femme âgée déçue">
            <a:extLst>
              <a:ext uri="{FF2B5EF4-FFF2-40B4-BE49-F238E27FC236}">
                <a16:creationId xmlns:a16="http://schemas.microsoft.com/office/drawing/2014/main" id="{46CDAF67-8D08-2A0B-DDA1-51FF89DD1DBA}"/>
              </a:ext>
            </a:extLst>
          </p:cNvPr>
          <p:cNvPicPr>
            <a:picLocks noChangeAspect="1"/>
          </p:cNvPicPr>
          <p:nvPr/>
        </p:nvPicPr>
        <p:blipFill>
          <a:blip r:embed="rId6">
            <a:extLst>
              <a:ext uri="{28A0092B-C50C-407E-A947-70E740481C1C}">
                <a14:useLocalDpi xmlns:a14="http://schemas.microsoft.com/office/drawing/2010/main" val="0"/>
              </a:ext>
            </a:extLst>
          </a:blip>
          <a:srcRect l="32965" r="14709" b="62058"/>
          <a:stretch>
            <a:fillRect/>
          </a:stretch>
        </p:blipFill>
        <p:spPr>
          <a:xfrm>
            <a:off x="3840607" y="3545831"/>
            <a:ext cx="676148" cy="680826"/>
          </a:xfrm>
          <a:prstGeom prst="rect">
            <a:avLst/>
          </a:prstGeom>
        </p:spPr>
      </p:pic>
      <p:sp>
        <p:nvSpPr>
          <p:cNvPr id="19" name="ZoneTexte 18">
            <a:extLst>
              <a:ext uri="{FF2B5EF4-FFF2-40B4-BE49-F238E27FC236}">
                <a16:creationId xmlns:a16="http://schemas.microsoft.com/office/drawing/2014/main" id="{5F880328-F4F4-95DC-4746-8DDAB0BA38AE}"/>
              </a:ext>
            </a:extLst>
          </p:cNvPr>
          <p:cNvSpPr txBox="1"/>
          <p:nvPr/>
        </p:nvSpPr>
        <p:spPr>
          <a:xfrm>
            <a:off x="3047036" y="1590814"/>
            <a:ext cx="6094070" cy="1569660"/>
          </a:xfrm>
          <a:prstGeom prst="rect">
            <a:avLst/>
          </a:prstGeom>
          <a:noFill/>
        </p:spPr>
        <p:txBody>
          <a:bodyPr wrap="square">
            <a:spAutoFit/>
          </a:bodyPr>
          <a:lstStyle/>
          <a:p>
            <a:pPr marL="0" indent="0" algn="ctr">
              <a:buNone/>
            </a:pPr>
            <a:r>
              <a:rPr lang="en-US" sz="9600" cap="small" noProof="0" dirty="0">
                <a:solidFill>
                  <a:srgbClr val="7F7DB0"/>
                </a:solidFill>
              </a:rPr>
              <a:t>Why</a:t>
            </a:r>
            <a:endParaRPr lang="en-US" sz="5400" cap="small" dirty="0">
              <a:solidFill>
                <a:srgbClr val="7F7DB0"/>
              </a:solidFill>
            </a:endParaRPr>
          </a:p>
        </p:txBody>
      </p:sp>
    </p:spTree>
    <p:extLst>
      <p:ext uri="{BB962C8B-B14F-4D97-AF65-F5344CB8AC3E}">
        <p14:creationId xmlns:p14="http://schemas.microsoft.com/office/powerpoint/2010/main" val="4707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3979-0FB9-FE9F-5C13-9E7AEC74456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13C792D-941B-8DED-51DA-1A4AD95497C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A793850B-B4DC-B905-A2BC-96BEA342EC79}"/>
              </a:ext>
            </a:extLst>
          </p:cNvPr>
          <p:cNvSpPr>
            <a:spLocks noGrp="1"/>
          </p:cNvSpPr>
          <p:nvPr>
            <p:ph type="sldNum" sz="quarter" idx="12"/>
          </p:nvPr>
        </p:nvSpPr>
        <p:spPr/>
        <p:txBody>
          <a:bodyPr/>
          <a:lstStyle/>
          <a:p>
            <a:fld id="{6F3806FF-9E51-4331-BB90-F49EFA1FA4FC}" type="slidenum">
              <a:rPr lang="fr-FR" smtClean="0"/>
              <a:t>46</a:t>
            </a:fld>
            <a:endParaRPr lang="fr-FR"/>
          </a:p>
        </p:txBody>
      </p:sp>
      <p:sp>
        <p:nvSpPr>
          <p:cNvPr id="14" name="Title 1">
            <a:extLst>
              <a:ext uri="{FF2B5EF4-FFF2-40B4-BE49-F238E27FC236}">
                <a16:creationId xmlns:a16="http://schemas.microsoft.com/office/drawing/2014/main" id="{88EFB7C2-F1E0-7FA2-E58B-F25287C48408}"/>
              </a:ext>
            </a:extLst>
          </p:cNvPr>
          <p:cNvSpPr>
            <a:spLocks noGrp="1"/>
          </p:cNvSpPr>
          <p:nvPr>
            <p:ph type="title"/>
          </p:nvPr>
        </p:nvSpPr>
        <p:spPr>
          <a:xfrm>
            <a:off x="838200" y="365125"/>
            <a:ext cx="10515600" cy="1325563"/>
          </a:xfrm>
        </p:spPr>
        <p:txBody>
          <a:bodyPr/>
          <a:lstStyle/>
          <a:p>
            <a:r>
              <a:rPr lang="fr-FR" dirty="0">
                <a:solidFill>
                  <a:srgbClr val="7F7DB0"/>
                </a:solidFill>
              </a:rPr>
              <a:t>Why</a:t>
            </a:r>
            <a:r>
              <a:rPr lang="fr-FR" dirty="0">
                <a:solidFill>
                  <a:srgbClr val="0C0804"/>
                </a:solidFill>
              </a:rPr>
              <a:t> </a:t>
            </a:r>
            <a:r>
              <a:rPr lang="fr-FR" dirty="0" err="1">
                <a:solidFill>
                  <a:srgbClr val="0C0804"/>
                </a:solidFill>
              </a:rPr>
              <a:t>does</a:t>
            </a:r>
            <a:r>
              <a:rPr lang="fr-FR" dirty="0">
                <a:solidFill>
                  <a:srgbClr val="0C0804"/>
                </a:solidFill>
              </a:rPr>
              <a:t> the data </a:t>
            </a:r>
            <a:r>
              <a:rPr lang="fr-FR" dirty="0" err="1">
                <a:solidFill>
                  <a:srgbClr val="0C0804"/>
                </a:solidFill>
              </a:rPr>
              <a:t>exist</a:t>
            </a:r>
            <a:r>
              <a:rPr lang="fr-FR" dirty="0">
                <a:solidFill>
                  <a:srgbClr val="0C0804"/>
                </a:solidFill>
              </a:rPr>
              <a:t>?</a:t>
            </a:r>
            <a:endParaRPr lang="en-GB" dirty="0">
              <a:solidFill>
                <a:srgbClr val="7F7DB0"/>
              </a:solidFill>
            </a:endParaRPr>
          </a:p>
        </p:txBody>
      </p:sp>
      <p:sp>
        <p:nvSpPr>
          <p:cNvPr id="3" name="Content Placeholder 5">
            <a:extLst>
              <a:ext uri="{FF2B5EF4-FFF2-40B4-BE49-F238E27FC236}">
                <a16:creationId xmlns:a16="http://schemas.microsoft.com/office/drawing/2014/main" id="{59330C1A-F32F-9BB8-4805-91D0DD297B52}"/>
              </a:ext>
            </a:extLst>
          </p:cNvPr>
          <p:cNvSpPr>
            <a:spLocks noGrp="1"/>
          </p:cNvSpPr>
          <p:nvPr>
            <p:ph idx="1"/>
          </p:nvPr>
        </p:nvSpPr>
        <p:spPr>
          <a:xfrm>
            <a:off x="1086446" y="1733731"/>
            <a:ext cx="10267354" cy="4987744"/>
          </a:xfrm>
        </p:spPr>
        <p:txBody>
          <a:bodyPr>
            <a:normAutofit/>
          </a:bodyPr>
          <a:lstStyle/>
          <a:p>
            <a:pPr marL="0" indent="0">
              <a:buNone/>
            </a:pPr>
            <a:r>
              <a:rPr lang="en-US" noProof="0" dirty="0">
                <a:solidFill>
                  <a:srgbClr val="0C0804"/>
                </a:solidFill>
              </a:rPr>
              <a:t>ASK YOURSELF THIS QUESTION </a:t>
            </a:r>
            <a:r>
              <a:rPr lang="en-US" sz="1400" noProof="0" dirty="0">
                <a:solidFill>
                  <a:srgbClr val="0C0804"/>
                </a:solidFill>
              </a:rPr>
              <a:t>(you never do and this makes me mad)</a:t>
            </a:r>
            <a:endParaRPr lang="en-US" sz="1600" noProof="0" dirty="0">
              <a:solidFill>
                <a:srgbClr val="0C0804"/>
              </a:solidFill>
            </a:endParaRPr>
          </a:p>
          <a:p>
            <a:pPr marL="0" indent="0">
              <a:buNone/>
            </a:pPr>
            <a:r>
              <a:rPr lang="en-US" b="1" dirty="0">
                <a:solidFill>
                  <a:srgbClr val="0C0804"/>
                </a:solidFill>
              </a:rPr>
              <a:t>Why is the data gathered in the first place?</a:t>
            </a:r>
          </a:p>
          <a:p>
            <a:pPr marL="0" indent="0">
              <a:buNone/>
            </a:pPr>
            <a:r>
              <a:rPr lang="en-US" dirty="0">
                <a:solidFill>
                  <a:srgbClr val="0C0804"/>
                </a:solidFill>
              </a:rPr>
              <a:t>We don’t gather data for fun, it is done with a </a:t>
            </a:r>
            <a:r>
              <a:rPr lang="en-US" dirty="0">
                <a:solidFill>
                  <a:srgbClr val="7F7DB0"/>
                </a:solidFill>
              </a:rPr>
              <a:t>purpose</a:t>
            </a:r>
            <a:r>
              <a:rPr lang="en-US" dirty="0">
                <a:solidFill>
                  <a:srgbClr val="0C0804"/>
                </a:solidFill>
              </a:rPr>
              <a:t> in mind and within a </a:t>
            </a:r>
            <a:r>
              <a:rPr lang="en-US" dirty="0">
                <a:solidFill>
                  <a:srgbClr val="7F7DB0"/>
                </a:solidFill>
              </a:rPr>
              <a:t>context</a:t>
            </a:r>
          </a:p>
          <a:p>
            <a:r>
              <a:rPr lang="en-US" dirty="0">
                <a:solidFill>
                  <a:srgbClr val="0C0804"/>
                </a:solidFill>
              </a:rPr>
              <a:t>It is very different to </a:t>
            </a:r>
            <a:r>
              <a:rPr lang="en-US" dirty="0" err="1">
                <a:solidFill>
                  <a:srgbClr val="0C0804"/>
                </a:solidFill>
              </a:rPr>
              <a:t>analyse</a:t>
            </a:r>
            <a:r>
              <a:rPr lang="en-US" dirty="0">
                <a:solidFill>
                  <a:srgbClr val="0C0804"/>
                </a:solidFill>
              </a:rPr>
              <a:t> data gathered for administrative purpose (healthcare data, financial data, police reports…), or for specific research projects </a:t>
            </a:r>
          </a:p>
          <a:p>
            <a:r>
              <a:rPr lang="en-US" dirty="0">
                <a:solidFill>
                  <a:srgbClr val="0C0804"/>
                </a:solidFill>
              </a:rPr>
              <a:t>Also depends on who gathered the data (independent pollsters, researchers, administrations, police…)</a:t>
            </a:r>
          </a:p>
          <a:p>
            <a:r>
              <a:rPr lang="en-US" dirty="0">
                <a:solidFill>
                  <a:srgbClr val="0C0804"/>
                </a:solidFill>
              </a:rPr>
              <a:t>Data has a social, cultural, economic and political context</a:t>
            </a:r>
          </a:p>
          <a:p>
            <a:endParaRPr lang="en-US" noProof="0" dirty="0">
              <a:solidFill>
                <a:srgbClr val="0C0804"/>
              </a:solidFill>
            </a:endParaRPr>
          </a:p>
        </p:txBody>
      </p:sp>
    </p:spTree>
    <p:extLst>
      <p:ext uri="{BB962C8B-B14F-4D97-AF65-F5344CB8AC3E}">
        <p14:creationId xmlns:p14="http://schemas.microsoft.com/office/powerpoint/2010/main" val="15373684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A907-A6C6-D5B2-A5EA-C901134E206E}"/>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350E78D-438A-EF86-F704-311404E0FBB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D37BD095-875F-964D-5D30-FDE936944CCE}"/>
              </a:ext>
            </a:extLst>
          </p:cNvPr>
          <p:cNvSpPr>
            <a:spLocks noGrp="1"/>
          </p:cNvSpPr>
          <p:nvPr>
            <p:ph type="sldNum" sz="quarter" idx="12"/>
          </p:nvPr>
        </p:nvSpPr>
        <p:spPr/>
        <p:txBody>
          <a:bodyPr/>
          <a:lstStyle/>
          <a:p>
            <a:fld id="{6F3806FF-9E51-4331-BB90-F49EFA1FA4FC}" type="slidenum">
              <a:rPr lang="fr-FR" smtClean="0"/>
              <a:t>47</a:t>
            </a:fld>
            <a:endParaRPr lang="fr-FR"/>
          </a:p>
        </p:txBody>
      </p:sp>
      <p:sp>
        <p:nvSpPr>
          <p:cNvPr id="14" name="Title 1">
            <a:extLst>
              <a:ext uri="{FF2B5EF4-FFF2-40B4-BE49-F238E27FC236}">
                <a16:creationId xmlns:a16="http://schemas.microsoft.com/office/drawing/2014/main" id="{9BF2133E-3A14-8B32-C5B1-643D0947A39A}"/>
              </a:ext>
            </a:extLst>
          </p:cNvPr>
          <p:cNvSpPr>
            <a:spLocks noGrp="1"/>
          </p:cNvSpPr>
          <p:nvPr>
            <p:ph type="title"/>
          </p:nvPr>
        </p:nvSpPr>
        <p:spPr>
          <a:xfrm>
            <a:off x="838200" y="365125"/>
            <a:ext cx="10515600" cy="1325563"/>
          </a:xfrm>
        </p:spPr>
        <p:txBody>
          <a:bodyPr/>
          <a:lstStyle/>
          <a:p>
            <a:r>
              <a:rPr lang="fr-FR" dirty="0">
                <a:solidFill>
                  <a:srgbClr val="7F7DB0"/>
                </a:solidFill>
              </a:rPr>
              <a:t>Why</a:t>
            </a:r>
            <a:r>
              <a:rPr lang="fr-FR" dirty="0">
                <a:solidFill>
                  <a:srgbClr val="0C0804"/>
                </a:solidFill>
              </a:rPr>
              <a:t> </a:t>
            </a:r>
            <a:r>
              <a:rPr lang="fr-FR" dirty="0" err="1">
                <a:solidFill>
                  <a:srgbClr val="0C0804"/>
                </a:solidFill>
              </a:rPr>
              <a:t>does</a:t>
            </a:r>
            <a:r>
              <a:rPr lang="fr-FR" dirty="0">
                <a:solidFill>
                  <a:srgbClr val="0C0804"/>
                </a:solidFill>
              </a:rPr>
              <a:t> the data </a:t>
            </a:r>
            <a:r>
              <a:rPr lang="fr-FR" dirty="0" err="1">
                <a:solidFill>
                  <a:srgbClr val="0C0804"/>
                </a:solidFill>
              </a:rPr>
              <a:t>exist</a:t>
            </a:r>
            <a:r>
              <a:rPr lang="fr-FR" dirty="0">
                <a:solidFill>
                  <a:srgbClr val="0C0804"/>
                </a:solidFill>
              </a:rPr>
              <a:t>?</a:t>
            </a:r>
            <a:endParaRPr lang="en-GB" dirty="0">
              <a:solidFill>
                <a:srgbClr val="7F7DB0"/>
              </a:solidFill>
            </a:endParaRPr>
          </a:p>
        </p:txBody>
      </p:sp>
      <p:sp>
        <p:nvSpPr>
          <p:cNvPr id="3" name="Content Placeholder 5">
            <a:extLst>
              <a:ext uri="{FF2B5EF4-FFF2-40B4-BE49-F238E27FC236}">
                <a16:creationId xmlns:a16="http://schemas.microsoft.com/office/drawing/2014/main" id="{329195DF-37C8-E18E-D35D-4BA98CEB2053}"/>
              </a:ext>
            </a:extLst>
          </p:cNvPr>
          <p:cNvSpPr>
            <a:spLocks noGrp="1"/>
          </p:cNvSpPr>
          <p:nvPr>
            <p:ph idx="1"/>
          </p:nvPr>
        </p:nvSpPr>
        <p:spPr>
          <a:xfrm>
            <a:off x="1086446" y="1733731"/>
            <a:ext cx="10267354" cy="4987744"/>
          </a:xfrm>
        </p:spPr>
        <p:txBody>
          <a:bodyPr>
            <a:normAutofit/>
          </a:bodyPr>
          <a:lstStyle/>
          <a:p>
            <a:pPr marL="0" indent="0">
              <a:buNone/>
            </a:pPr>
            <a:r>
              <a:rPr lang="en-US" noProof="0" dirty="0">
                <a:solidFill>
                  <a:srgbClr val="0C0804"/>
                </a:solidFill>
              </a:rPr>
              <a:t>What can you ask yourself?</a:t>
            </a:r>
          </a:p>
          <a:p>
            <a:r>
              <a:rPr lang="en-US" dirty="0">
                <a:solidFill>
                  <a:srgbClr val="0C0804"/>
                </a:solidFill>
              </a:rPr>
              <a:t>Who collected the data? For what purpose? Does this align with the question I want to answer with this data?</a:t>
            </a:r>
          </a:p>
          <a:p>
            <a:r>
              <a:rPr lang="en-US" dirty="0">
                <a:solidFill>
                  <a:srgbClr val="0C0804"/>
                </a:solidFill>
              </a:rPr>
              <a:t>Is there data that was NOT gathered that could be relevant to my work? People that were excluded? Omitted variables?</a:t>
            </a:r>
          </a:p>
          <a:p>
            <a:r>
              <a:rPr lang="en-US" dirty="0">
                <a:solidFill>
                  <a:srgbClr val="0C0804"/>
                </a:solidFill>
              </a:rPr>
              <a:t>Were some variables considered more important than others? How rigorous was the collection?</a:t>
            </a:r>
          </a:p>
          <a:p>
            <a:r>
              <a:rPr lang="en-US" dirty="0">
                <a:solidFill>
                  <a:srgbClr val="0C0804"/>
                </a:solidFill>
              </a:rPr>
              <a:t>Are there incentives in the data collection process? Do they favor some data over others?</a:t>
            </a:r>
          </a:p>
          <a:p>
            <a:r>
              <a:rPr lang="en-US" dirty="0">
                <a:solidFill>
                  <a:srgbClr val="0C0804"/>
                </a:solidFill>
              </a:rPr>
              <a:t>Given the exact same data collection methodology, does the data carry the same meaning over time? Does it change? </a:t>
            </a:r>
          </a:p>
          <a:p>
            <a:pPr marL="0" indent="0">
              <a:buNone/>
            </a:pPr>
            <a:endParaRPr lang="en-US" dirty="0">
              <a:solidFill>
                <a:srgbClr val="0C0804"/>
              </a:solidFill>
            </a:endParaRPr>
          </a:p>
          <a:p>
            <a:endParaRPr lang="en-US" noProof="0" dirty="0">
              <a:solidFill>
                <a:srgbClr val="0C0804"/>
              </a:solidFill>
            </a:endParaRPr>
          </a:p>
        </p:txBody>
      </p:sp>
    </p:spTree>
    <p:extLst>
      <p:ext uri="{BB962C8B-B14F-4D97-AF65-F5344CB8AC3E}">
        <p14:creationId xmlns:p14="http://schemas.microsoft.com/office/powerpoint/2010/main" val="2603351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Data as </a:t>
            </a:r>
            <a:r>
              <a:rPr lang="en-GB" dirty="0" err="1">
                <a:solidFill>
                  <a:srgbClr val="7F7DB0"/>
                </a:solidFill>
              </a:rPr>
              <a:t>capta</a:t>
            </a:r>
            <a:endParaRPr lang="en-GB" dirty="0">
              <a:solidFill>
                <a:srgbClr val="7F7DB0"/>
              </a:solidFill>
            </a:endParaRPr>
          </a:p>
        </p:txBody>
      </p:sp>
      <p:sp>
        <p:nvSpPr>
          <p:cNvPr id="7" name="Content Placeholder 5">
            <a:extLst>
              <a:ext uri="{FF2B5EF4-FFF2-40B4-BE49-F238E27FC236}">
                <a16:creationId xmlns:a16="http://schemas.microsoft.com/office/drawing/2014/main" id="{B2A8505E-5AAF-26E7-608E-EEA13F130CD3}"/>
              </a:ext>
            </a:extLst>
          </p:cNvPr>
          <p:cNvSpPr>
            <a:spLocks noGrp="1"/>
          </p:cNvSpPr>
          <p:nvPr>
            <p:ph idx="1"/>
          </p:nvPr>
        </p:nvSpPr>
        <p:spPr>
          <a:xfrm>
            <a:off x="838200" y="1781784"/>
            <a:ext cx="10397648" cy="1563396"/>
          </a:xfrm>
        </p:spPr>
        <p:txBody>
          <a:bodyPr>
            <a:normAutofit/>
          </a:bodyPr>
          <a:lstStyle/>
          <a:p>
            <a:pPr marL="0" indent="0">
              <a:buNone/>
            </a:pPr>
            <a:r>
              <a:rPr lang="fr-FR" dirty="0"/>
              <a:t>Johanna Drucker (</a:t>
            </a:r>
            <a:r>
              <a:rPr lang="fr-FR" dirty="0" err="1"/>
              <a:t>researcher</a:t>
            </a:r>
            <a:r>
              <a:rPr lang="fr-FR" dirty="0"/>
              <a:t> in digital </a:t>
            </a:r>
            <a:r>
              <a:rPr lang="fr-FR" dirty="0" err="1"/>
              <a:t>humanities</a:t>
            </a:r>
            <a:r>
              <a:rPr lang="fr-FR" dirty="0"/>
              <a:t>) </a:t>
            </a:r>
            <a:r>
              <a:rPr lang="en-US" dirty="0"/>
              <a:t>talks of </a:t>
            </a:r>
            <a:r>
              <a:rPr lang="en-US" dirty="0" err="1">
                <a:solidFill>
                  <a:srgbClr val="7F7DB0"/>
                </a:solidFill>
              </a:rPr>
              <a:t>capta</a:t>
            </a:r>
            <a:r>
              <a:rPr lang="en-US" dirty="0"/>
              <a:t>: “</a:t>
            </a:r>
            <a:r>
              <a:rPr lang="en-GB" i="1" dirty="0"/>
              <a:t>Data are </a:t>
            </a:r>
            <a:r>
              <a:rPr lang="en-GB" i="1" dirty="0" err="1"/>
              <a:t>capta</a:t>
            </a:r>
            <a:r>
              <a:rPr lang="en-GB" dirty="0"/>
              <a:t>, taken not given, constructed as an interpretation of the phenomenal world, not inherent in it.”</a:t>
            </a:r>
          </a:p>
        </p:txBody>
      </p:sp>
      <p:sp>
        <p:nvSpPr>
          <p:cNvPr id="2" name="Espace réservé du numéro de diapositive 1">
            <a:extLst>
              <a:ext uri="{FF2B5EF4-FFF2-40B4-BE49-F238E27FC236}">
                <a16:creationId xmlns:a16="http://schemas.microsoft.com/office/drawing/2014/main" id="{365872AF-1820-3AB0-816A-766F55221A5C}"/>
              </a:ext>
            </a:extLst>
          </p:cNvPr>
          <p:cNvSpPr>
            <a:spLocks noGrp="1"/>
          </p:cNvSpPr>
          <p:nvPr>
            <p:ph type="sldNum" sz="quarter" idx="12"/>
          </p:nvPr>
        </p:nvSpPr>
        <p:spPr/>
        <p:txBody>
          <a:bodyPr/>
          <a:lstStyle/>
          <a:p>
            <a:fld id="{6F3806FF-9E51-4331-BB90-F49EFA1FA4FC}" type="slidenum">
              <a:rPr lang="fr-FR" smtClean="0"/>
              <a:t>48</a:t>
            </a:fld>
            <a:endParaRPr lang="fr-FR"/>
          </a:p>
        </p:txBody>
      </p:sp>
      <p:pic>
        <p:nvPicPr>
          <p:cNvPr id="9" name="Picture 8" descr="A drawing of a tree&#10;&#10;Description automatically generated">
            <a:extLst>
              <a:ext uri="{FF2B5EF4-FFF2-40B4-BE49-F238E27FC236}">
                <a16:creationId xmlns:a16="http://schemas.microsoft.com/office/drawing/2014/main" id="{AB4A95D1-6715-1128-F403-6ABAC72493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152" y="3140132"/>
            <a:ext cx="2667464" cy="3294432"/>
          </a:xfrm>
          <a:prstGeom prst="rect">
            <a:avLst/>
          </a:prstGeom>
        </p:spPr>
      </p:pic>
      <p:sp>
        <p:nvSpPr>
          <p:cNvPr id="13" name="Content Placeholder 5">
            <a:extLst>
              <a:ext uri="{FF2B5EF4-FFF2-40B4-BE49-F238E27FC236}">
                <a16:creationId xmlns:a16="http://schemas.microsoft.com/office/drawing/2014/main" id="{D4E8E860-A60D-84D6-923C-61121754CB78}"/>
              </a:ext>
            </a:extLst>
          </p:cNvPr>
          <p:cNvSpPr txBox="1">
            <a:spLocks/>
          </p:cNvSpPr>
          <p:nvPr/>
        </p:nvSpPr>
        <p:spPr>
          <a:xfrm>
            <a:off x="4025492" y="3207415"/>
            <a:ext cx="7793128" cy="32854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dirty="0" err="1"/>
              <a:t>Also</a:t>
            </a:r>
            <a:r>
              <a:rPr lang="fr-FR" dirty="0"/>
              <a:t>: </a:t>
            </a:r>
            <a:r>
              <a:rPr lang="en-US" dirty="0"/>
              <a:t>“</a:t>
            </a:r>
            <a:r>
              <a:rPr lang="en-GB" i="1" dirty="0"/>
              <a:t>Data are never neutral, but always constructed from some point of view, with a specific set of values and beliefs</a:t>
            </a:r>
            <a:r>
              <a:rPr lang="en-GB" dirty="0"/>
              <a:t>.”</a:t>
            </a:r>
            <a:r>
              <a:rPr lang="fr-FR" dirty="0"/>
              <a:t> </a:t>
            </a:r>
          </a:p>
          <a:p>
            <a:pPr marL="0" indent="0">
              <a:buNone/>
            </a:pPr>
            <a:r>
              <a:rPr lang="en-GB" dirty="0"/>
              <a:t>Check out </a:t>
            </a:r>
            <a:r>
              <a:rPr lang="en-GB" i="1" dirty="0">
                <a:solidFill>
                  <a:srgbClr val="7F7DB0"/>
                </a:solidFill>
              </a:rPr>
              <a:t>The Digital Humanities Coursebook</a:t>
            </a:r>
            <a:r>
              <a:rPr lang="en-GB" dirty="0"/>
              <a:t>, which offer a fresh perspective and counterpoint to typical data science courses (+ </a:t>
            </a:r>
            <a:r>
              <a:rPr lang="fr-FR" i="1" dirty="0">
                <a:solidFill>
                  <a:srgbClr val="7F7DB0"/>
                </a:solidFill>
              </a:rPr>
              <a:t>Raw Data </a:t>
            </a:r>
            <a:r>
              <a:rPr lang="fr-FR" i="1" dirty="0" err="1">
                <a:solidFill>
                  <a:srgbClr val="7F7DB0"/>
                </a:solidFill>
              </a:rPr>
              <a:t>is</a:t>
            </a:r>
            <a:r>
              <a:rPr lang="fr-FR" i="1" dirty="0">
                <a:solidFill>
                  <a:srgbClr val="7F7DB0"/>
                </a:solidFill>
              </a:rPr>
              <a:t> an Oxymoron</a:t>
            </a:r>
            <a:r>
              <a:rPr lang="fr-FR" i="1" dirty="0"/>
              <a:t> </a:t>
            </a:r>
            <a:r>
              <a:rPr lang="fr-FR" sz="1900" i="1" dirty="0"/>
              <a:t>+ </a:t>
            </a:r>
            <a:r>
              <a:rPr lang="en-US" sz="1900" i="1" dirty="0">
                <a:solidFill>
                  <a:srgbClr val="7F7DB0"/>
                </a:solidFill>
              </a:rPr>
              <a:t>All Data Are Local: Thinking Critically in a Data-Driven Society</a:t>
            </a:r>
            <a:r>
              <a:rPr lang="en-US" sz="1900" i="1" dirty="0"/>
              <a:t> (I haven’t check it yet)</a:t>
            </a:r>
            <a:r>
              <a:rPr lang="en-GB" dirty="0"/>
              <a:t>)</a:t>
            </a:r>
            <a:endParaRPr lang="fr-FR" b="1" dirty="0"/>
          </a:p>
        </p:txBody>
      </p:sp>
    </p:spTree>
    <p:extLst>
      <p:ext uri="{BB962C8B-B14F-4D97-AF65-F5344CB8AC3E}">
        <p14:creationId xmlns:p14="http://schemas.microsoft.com/office/powerpoint/2010/main" val="30829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97D54-9223-0A47-0A26-E205D260A92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FF9FBC4-9BC3-4685-0C12-46690257949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22A19AC6-BD86-5309-08D2-F45974FF84C5}"/>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“Data” takeaway</a:t>
            </a:r>
            <a:endParaRPr lang="en-GB" dirty="0">
              <a:solidFill>
                <a:srgbClr val="7F7DB0"/>
              </a:solidFill>
            </a:endParaRPr>
          </a:p>
        </p:txBody>
      </p:sp>
      <p:sp>
        <p:nvSpPr>
          <p:cNvPr id="7" name="Content Placeholder 5">
            <a:extLst>
              <a:ext uri="{FF2B5EF4-FFF2-40B4-BE49-F238E27FC236}">
                <a16:creationId xmlns:a16="http://schemas.microsoft.com/office/drawing/2014/main" id="{B31C0527-5EB6-025F-A564-86FA687A4565}"/>
              </a:ext>
            </a:extLst>
          </p:cNvPr>
          <p:cNvSpPr>
            <a:spLocks noGrp="1"/>
          </p:cNvSpPr>
          <p:nvPr>
            <p:ph idx="1"/>
          </p:nvPr>
        </p:nvSpPr>
        <p:spPr>
          <a:xfrm>
            <a:off x="838200" y="1781783"/>
            <a:ext cx="10397648" cy="4939691"/>
          </a:xfrm>
        </p:spPr>
        <p:txBody>
          <a:bodyPr>
            <a:normAutofit/>
          </a:bodyPr>
          <a:lstStyle/>
          <a:p>
            <a:r>
              <a:rPr lang="en-GB" dirty="0"/>
              <a:t>You already have a sense of some data being “good” or “bad”, that it may require “cleaning”, and thus that </a:t>
            </a:r>
            <a:r>
              <a:rPr lang="en-GB" b="1" dirty="0"/>
              <a:t>data should be questioned</a:t>
            </a:r>
          </a:p>
          <a:p>
            <a:r>
              <a:rPr lang="en-GB" dirty="0"/>
              <a:t>However, you keep thinking of data as the first step in all your projects, while it comes much later: there are first your phenomena of interest, how, why and what you (don’t) collect, and how correct this representation is (hence, why we talk about </a:t>
            </a:r>
            <a:r>
              <a:rPr lang="en-GB" dirty="0" err="1"/>
              <a:t>capta</a:t>
            </a:r>
            <a:r>
              <a:rPr lang="en-GB" dirty="0"/>
              <a:t>)</a:t>
            </a:r>
          </a:p>
          <a:p>
            <a:pPr lvl="1"/>
            <a:r>
              <a:rPr lang="en-GB" dirty="0"/>
              <a:t>These are </a:t>
            </a:r>
            <a:r>
              <a:rPr lang="en-GB" b="1" dirty="0"/>
              <a:t>supplementary sources of errors and misinterpretations</a:t>
            </a:r>
            <a:endParaRPr lang="en-GB" dirty="0"/>
          </a:p>
          <a:p>
            <a:r>
              <a:rPr lang="en-GB" dirty="0"/>
              <a:t>In the end, while contextualisation matters, you still need to make do with what you have: data will </a:t>
            </a:r>
            <a:r>
              <a:rPr lang="en-GB" b="1" dirty="0"/>
              <a:t>always </a:t>
            </a:r>
            <a:r>
              <a:rPr lang="en-GB" dirty="0"/>
              <a:t>be imperfect</a:t>
            </a:r>
          </a:p>
        </p:txBody>
      </p:sp>
      <p:sp>
        <p:nvSpPr>
          <p:cNvPr id="2" name="Espace réservé du numéro de diapositive 1">
            <a:extLst>
              <a:ext uri="{FF2B5EF4-FFF2-40B4-BE49-F238E27FC236}">
                <a16:creationId xmlns:a16="http://schemas.microsoft.com/office/drawing/2014/main" id="{6C60A029-FF9F-585A-74D1-962FEE57876A}"/>
              </a:ext>
            </a:extLst>
          </p:cNvPr>
          <p:cNvSpPr>
            <a:spLocks noGrp="1"/>
          </p:cNvSpPr>
          <p:nvPr>
            <p:ph type="sldNum" sz="quarter" idx="12"/>
          </p:nvPr>
        </p:nvSpPr>
        <p:spPr/>
        <p:txBody>
          <a:bodyPr/>
          <a:lstStyle/>
          <a:p>
            <a:fld id="{6F3806FF-9E51-4331-BB90-F49EFA1FA4FC}" type="slidenum">
              <a:rPr lang="fr-FR" smtClean="0"/>
              <a:t>49</a:t>
            </a:fld>
            <a:endParaRPr lang="fr-FR"/>
          </a:p>
        </p:txBody>
      </p:sp>
    </p:spTree>
    <p:extLst>
      <p:ext uri="{BB962C8B-B14F-4D97-AF65-F5344CB8AC3E}">
        <p14:creationId xmlns:p14="http://schemas.microsoft.com/office/powerpoint/2010/main" val="112912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C3D1D-CBD3-62BE-A276-09AE1B5377A5}"/>
            </a:ext>
          </a:extLst>
        </p:cNvPr>
        <p:cNvGrpSpPr/>
        <p:nvPr/>
      </p:nvGrpSpPr>
      <p:grpSpPr>
        <a:xfrm>
          <a:off x="0" y="0"/>
          <a:ext cx="0" cy="0"/>
          <a:chOff x="0" y="0"/>
          <a:chExt cx="0" cy="0"/>
        </a:xfrm>
      </p:grpSpPr>
      <p:pic>
        <p:nvPicPr>
          <p:cNvPr id="8" name="Vidéo 7" title="Lignes pastel ondulantes">
            <a:hlinkClick r:id="" action="ppaction://media"/>
            <a:extLst>
              <a:ext uri="{FF2B5EF4-FFF2-40B4-BE49-F238E27FC236}">
                <a16:creationId xmlns:a16="http://schemas.microsoft.com/office/drawing/2014/main" id="{EA02F997-9699-D51D-F9ED-EBBFB3ECABA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87680" y="1216152"/>
            <a:ext cx="7641142" cy="2359152"/>
          </a:xfrm>
          <a:prstGeom prst="rect">
            <a:avLst/>
          </a:prstGeom>
          <a:ln w="38100">
            <a:noFill/>
            <a:extLst>
              <a:ext uri="{C807C97D-BFC1-408E-A445-0C87EB9F89A2}">
                <ask:lineSketchStyleProps xmlns:ask="http://schemas.microsoft.com/office/drawing/2018/sketchyshapes" sd="1219033472">
                  <a:custGeom>
                    <a:avLst/>
                    <a:gdLst>
                      <a:gd name="connsiteX0" fmla="*/ 0 w 7641142"/>
                      <a:gd name="connsiteY0" fmla="*/ 0 h 2359152"/>
                      <a:gd name="connsiteX1" fmla="*/ 7641142 w 7641142"/>
                      <a:gd name="connsiteY1" fmla="*/ 0 h 2359152"/>
                      <a:gd name="connsiteX2" fmla="*/ 7641142 w 7641142"/>
                      <a:gd name="connsiteY2" fmla="*/ 2359152 h 2359152"/>
                      <a:gd name="connsiteX3" fmla="*/ 0 w 7641142"/>
                      <a:gd name="connsiteY3" fmla="*/ 2359152 h 2359152"/>
                      <a:gd name="connsiteX4" fmla="*/ 0 w 7641142"/>
                      <a:gd name="connsiteY4" fmla="*/ 0 h 235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1142" h="2359152" fill="none" extrusionOk="0">
                        <a:moveTo>
                          <a:pt x="0" y="0"/>
                        </a:moveTo>
                        <a:cubicBezTo>
                          <a:pt x="1032195" y="-49533"/>
                          <a:pt x="4516862" y="-14809"/>
                          <a:pt x="7641142" y="0"/>
                        </a:cubicBezTo>
                        <a:cubicBezTo>
                          <a:pt x="7728781" y="267330"/>
                          <a:pt x="7568463" y="1688535"/>
                          <a:pt x="7641142" y="2359152"/>
                        </a:cubicBezTo>
                        <a:cubicBezTo>
                          <a:pt x="5837839" y="2310921"/>
                          <a:pt x="1020150" y="2443607"/>
                          <a:pt x="0" y="2359152"/>
                        </a:cubicBezTo>
                        <a:cubicBezTo>
                          <a:pt x="-38581" y="1678113"/>
                          <a:pt x="63341" y="877017"/>
                          <a:pt x="0" y="0"/>
                        </a:cubicBezTo>
                        <a:close/>
                      </a:path>
                      <a:path w="7641142" h="2359152" stroke="0" extrusionOk="0">
                        <a:moveTo>
                          <a:pt x="0" y="0"/>
                        </a:moveTo>
                        <a:cubicBezTo>
                          <a:pt x="1745228" y="118645"/>
                          <a:pt x="6420641" y="116012"/>
                          <a:pt x="7641142" y="0"/>
                        </a:cubicBezTo>
                        <a:cubicBezTo>
                          <a:pt x="7508260" y="321175"/>
                          <a:pt x="7726093" y="2085955"/>
                          <a:pt x="7641142" y="2359152"/>
                        </a:cubicBezTo>
                        <a:cubicBezTo>
                          <a:pt x="5313076" y="2493752"/>
                          <a:pt x="1528308" y="2201956"/>
                          <a:pt x="0" y="2359152"/>
                        </a:cubicBezTo>
                        <a:cubicBezTo>
                          <a:pt x="-20187" y="1749834"/>
                          <a:pt x="-152480" y="1001244"/>
                          <a:pt x="0" y="0"/>
                        </a:cubicBezTo>
                        <a:close/>
                      </a:path>
                    </a:pathLst>
                  </a:custGeom>
                  <ask:type>
                    <ask:lineSketchNone/>
                  </ask:type>
                </ask:lineSketchStyleProps>
              </a:ext>
            </a:extLst>
          </a:ln>
        </p:spPr>
      </p:pic>
      <p:sp>
        <p:nvSpPr>
          <p:cNvPr id="2" name="Title 1">
            <a:extLst>
              <a:ext uri="{FF2B5EF4-FFF2-40B4-BE49-F238E27FC236}">
                <a16:creationId xmlns:a16="http://schemas.microsoft.com/office/drawing/2014/main" id="{2935717B-E4A2-3E46-161D-A97C45423522}"/>
              </a:ext>
            </a:extLst>
          </p:cNvPr>
          <p:cNvSpPr>
            <a:spLocks noGrp="1"/>
          </p:cNvSpPr>
          <p:nvPr>
            <p:ph type="title"/>
          </p:nvPr>
        </p:nvSpPr>
        <p:spPr>
          <a:xfrm>
            <a:off x="599947" y="1758337"/>
            <a:ext cx="10515600" cy="1325563"/>
          </a:xfrm>
        </p:spPr>
        <p:txBody>
          <a:bodyPr>
            <a:normAutofit/>
          </a:bodyPr>
          <a:lstStyle/>
          <a:p>
            <a:r>
              <a:rPr lang="en-US" sz="6600" dirty="0">
                <a:solidFill>
                  <a:srgbClr val="FDFBF9"/>
                </a:solidFill>
              </a:rPr>
              <a:t>I. Defining needs</a:t>
            </a:r>
          </a:p>
        </p:txBody>
      </p:sp>
      <p:pic>
        <p:nvPicPr>
          <p:cNvPr id="4" name="Picture 3" descr="A blue and black background&#10;&#10;Description automatically generated">
            <a:extLst>
              <a:ext uri="{FF2B5EF4-FFF2-40B4-BE49-F238E27FC236}">
                <a16:creationId xmlns:a16="http://schemas.microsoft.com/office/drawing/2014/main" id="{45E7CD43-E1AE-D9FE-5C6C-9817A0D87A42}"/>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3" name="Espace réservé du numéro de diapositive 2">
            <a:extLst>
              <a:ext uri="{FF2B5EF4-FFF2-40B4-BE49-F238E27FC236}">
                <a16:creationId xmlns:a16="http://schemas.microsoft.com/office/drawing/2014/main" id="{3D92390B-D4AE-2475-6A46-34236A70B6EC}"/>
              </a:ext>
            </a:extLst>
          </p:cNvPr>
          <p:cNvSpPr>
            <a:spLocks noGrp="1"/>
          </p:cNvSpPr>
          <p:nvPr>
            <p:ph type="sldNum" sz="quarter" idx="12"/>
          </p:nvPr>
        </p:nvSpPr>
        <p:spPr/>
        <p:txBody>
          <a:bodyPr/>
          <a:lstStyle/>
          <a:p>
            <a:fld id="{6F3806FF-9E51-4331-BB90-F49EFA1FA4FC}" type="slidenum">
              <a:rPr lang="fr-FR" smtClean="0"/>
              <a:t>50</a:t>
            </a:fld>
            <a:endParaRPr lang="fr-FR"/>
          </a:p>
        </p:txBody>
      </p:sp>
      <p:pic>
        <p:nvPicPr>
          <p:cNvPr id="12" name="Image 11" descr="Une femme d'affaires montre du doigt">
            <a:extLst>
              <a:ext uri="{FF2B5EF4-FFF2-40B4-BE49-F238E27FC236}">
                <a16:creationId xmlns:a16="http://schemas.microsoft.com/office/drawing/2014/main" id="{FF368ED8-D9D3-9357-475C-22989B5E3EE9}"/>
              </a:ext>
            </a:extLst>
          </p:cNvPr>
          <p:cNvPicPr>
            <a:picLocks noChangeAspect="1"/>
          </p:cNvPicPr>
          <p:nvPr/>
        </p:nvPicPr>
        <p:blipFill>
          <a:blip r:embed="rId6">
            <a:extLst>
              <a:ext uri="{28A0092B-C50C-407E-A947-70E740481C1C}">
                <a14:useLocalDpi xmlns:a14="http://schemas.microsoft.com/office/drawing/2010/main" val="0"/>
              </a:ext>
            </a:extLst>
          </a:blip>
          <a:srcRect b="65466"/>
          <a:stretch>
            <a:fillRect/>
          </a:stretch>
        </p:blipFill>
        <p:spPr>
          <a:xfrm flipH="1">
            <a:off x="6916421" y="3501072"/>
            <a:ext cx="4199126" cy="3356927"/>
          </a:xfrm>
          <a:prstGeom prst="rect">
            <a:avLst/>
          </a:prstGeom>
        </p:spPr>
      </p:pic>
    </p:spTree>
    <p:extLst>
      <p:ext uri="{BB962C8B-B14F-4D97-AF65-F5344CB8AC3E}">
        <p14:creationId xmlns:p14="http://schemas.microsoft.com/office/powerpoint/2010/main" val="410680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2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Back to business</a:t>
            </a:r>
            <a:endParaRPr lang="en-GB" dirty="0">
              <a:solidFill>
                <a:srgbClr val="7F7DB0"/>
              </a:solidFill>
            </a:endParaRPr>
          </a:p>
        </p:txBody>
      </p:sp>
      <p:sp>
        <p:nvSpPr>
          <p:cNvPr id="7" name="Content Placeholder 5">
            <a:extLst>
              <a:ext uri="{FF2B5EF4-FFF2-40B4-BE49-F238E27FC236}">
                <a16:creationId xmlns:a16="http://schemas.microsoft.com/office/drawing/2014/main" id="{FC300C2B-1BDD-F4BC-C8A5-62C978980393}"/>
              </a:ext>
            </a:extLst>
          </p:cNvPr>
          <p:cNvSpPr>
            <a:spLocks noGrp="1"/>
          </p:cNvSpPr>
          <p:nvPr>
            <p:ph idx="1"/>
          </p:nvPr>
        </p:nvSpPr>
        <p:spPr>
          <a:xfrm>
            <a:off x="838200" y="1781784"/>
            <a:ext cx="10397648" cy="5076216"/>
          </a:xfrm>
        </p:spPr>
        <p:txBody>
          <a:bodyPr>
            <a:normAutofit/>
          </a:bodyPr>
          <a:lstStyle/>
          <a:p>
            <a:r>
              <a:rPr lang="fr-FR" dirty="0" err="1"/>
              <a:t>Let’s</a:t>
            </a:r>
            <a:r>
              <a:rPr lang="fr-FR" dirty="0"/>
              <a:t> stop </a:t>
            </a:r>
            <a:r>
              <a:rPr lang="fr-FR" dirty="0" err="1"/>
              <a:t>philosophy</a:t>
            </a:r>
            <a:r>
              <a:rPr lang="fr-FR" dirty="0"/>
              <a:t> for </a:t>
            </a:r>
            <a:r>
              <a:rPr lang="fr-FR" dirty="0" err="1"/>
              <a:t>now</a:t>
            </a:r>
            <a:r>
              <a:rPr lang="fr-FR" dirty="0"/>
              <a:t> and focus on more </a:t>
            </a:r>
            <a:r>
              <a:rPr lang="fr-FR" dirty="0" err="1"/>
              <a:t>practical</a:t>
            </a:r>
            <a:r>
              <a:rPr lang="fr-FR" dirty="0"/>
              <a:t> </a:t>
            </a:r>
            <a:r>
              <a:rPr lang="fr-FR" dirty="0" err="1"/>
              <a:t>things</a:t>
            </a:r>
            <a:endParaRPr lang="fr-FR" dirty="0"/>
          </a:p>
          <a:p>
            <a:r>
              <a:rPr lang="fr-FR" dirty="0"/>
              <a:t>As a data </a:t>
            </a:r>
            <a:r>
              <a:rPr lang="fr-FR" dirty="0" err="1"/>
              <a:t>worker</a:t>
            </a:r>
            <a:r>
              <a:rPr lang="fr-FR" dirty="0"/>
              <a:t>, </a:t>
            </a:r>
            <a:r>
              <a:rPr lang="fr-FR" dirty="0" err="1"/>
              <a:t>your</a:t>
            </a:r>
            <a:r>
              <a:rPr lang="fr-FR" dirty="0"/>
              <a:t> </a:t>
            </a:r>
            <a:r>
              <a:rPr lang="fr-FR" dirty="0" err="1"/>
              <a:t>projects</a:t>
            </a:r>
            <a:r>
              <a:rPr lang="fr-FR" dirty="0"/>
              <a:t> </a:t>
            </a:r>
            <a:r>
              <a:rPr lang="fr-FR" dirty="0" err="1"/>
              <a:t>always</a:t>
            </a:r>
            <a:r>
              <a:rPr lang="fr-FR" dirty="0"/>
              <a:t> start </a:t>
            </a:r>
            <a:r>
              <a:rPr lang="fr-FR" dirty="0" err="1"/>
              <a:t>with</a:t>
            </a:r>
            <a:r>
              <a:rPr lang="fr-FR" dirty="0"/>
              <a:t> a </a:t>
            </a:r>
            <a:r>
              <a:rPr lang="fr-FR" dirty="0" err="1">
                <a:solidFill>
                  <a:srgbClr val="7F7DB0"/>
                </a:solidFill>
              </a:rPr>
              <a:t>query</a:t>
            </a:r>
            <a:r>
              <a:rPr lang="fr-FR" dirty="0"/>
              <a:t>, by a client, </a:t>
            </a:r>
            <a:r>
              <a:rPr lang="fr-FR" dirty="0" err="1"/>
              <a:t>product</a:t>
            </a:r>
            <a:r>
              <a:rPr lang="fr-FR" dirty="0"/>
              <a:t> </a:t>
            </a:r>
            <a:r>
              <a:rPr lang="fr-FR" dirty="0" err="1"/>
              <a:t>owner</a:t>
            </a:r>
            <a:r>
              <a:rPr lang="fr-FR" dirty="0"/>
              <a:t>, boss...</a:t>
            </a:r>
          </a:p>
          <a:p>
            <a:r>
              <a:rPr lang="fr-FR" dirty="0"/>
              <a:t>First </a:t>
            </a:r>
            <a:r>
              <a:rPr lang="fr-FR" dirty="0" err="1"/>
              <a:t>task</a:t>
            </a:r>
            <a:r>
              <a:rPr lang="fr-FR" dirty="0"/>
              <a:t> </a:t>
            </a:r>
            <a:r>
              <a:rPr lang="fr-FR" dirty="0" err="1"/>
              <a:t>you</a:t>
            </a:r>
            <a:r>
              <a:rPr lang="fr-FR" dirty="0"/>
              <a:t> </a:t>
            </a:r>
            <a:r>
              <a:rPr lang="fr-FR" dirty="0" err="1"/>
              <a:t>will</a:t>
            </a:r>
            <a:r>
              <a:rPr lang="fr-FR" dirty="0"/>
              <a:t> do on </a:t>
            </a:r>
            <a:r>
              <a:rPr lang="fr-FR" dirty="0" err="1"/>
              <a:t>any</a:t>
            </a:r>
            <a:r>
              <a:rPr lang="fr-FR" dirty="0"/>
              <a:t> new </a:t>
            </a:r>
            <a:r>
              <a:rPr lang="fr-FR" dirty="0" err="1"/>
              <a:t>project</a:t>
            </a:r>
            <a:r>
              <a:rPr lang="fr-FR" dirty="0"/>
              <a:t>: </a:t>
            </a:r>
            <a:r>
              <a:rPr lang="fr-FR" dirty="0">
                <a:solidFill>
                  <a:srgbClr val="7F7DB0"/>
                </a:solidFill>
              </a:rPr>
              <a:t>planning</a:t>
            </a:r>
            <a:r>
              <a:rPr lang="fr-FR" dirty="0"/>
              <a:t>.</a:t>
            </a:r>
          </a:p>
        </p:txBody>
      </p:sp>
      <p:sp>
        <p:nvSpPr>
          <p:cNvPr id="2" name="Espace réservé du numéro de diapositive 1">
            <a:extLst>
              <a:ext uri="{FF2B5EF4-FFF2-40B4-BE49-F238E27FC236}">
                <a16:creationId xmlns:a16="http://schemas.microsoft.com/office/drawing/2014/main" id="{41E05097-6D61-C95F-AE46-DBC36EF6DC6E}"/>
              </a:ext>
            </a:extLst>
          </p:cNvPr>
          <p:cNvSpPr>
            <a:spLocks noGrp="1"/>
          </p:cNvSpPr>
          <p:nvPr>
            <p:ph type="sldNum" sz="quarter" idx="12"/>
          </p:nvPr>
        </p:nvSpPr>
        <p:spPr/>
        <p:txBody>
          <a:bodyPr/>
          <a:lstStyle/>
          <a:p>
            <a:fld id="{6F3806FF-9E51-4331-BB90-F49EFA1FA4FC}" type="slidenum">
              <a:rPr lang="fr-FR" smtClean="0"/>
              <a:t>51</a:t>
            </a:fld>
            <a:endParaRPr lang="fr-FR"/>
          </a:p>
        </p:txBody>
      </p:sp>
      <p:grpSp>
        <p:nvGrpSpPr>
          <p:cNvPr id="10" name="Groupe 9">
            <a:extLst>
              <a:ext uri="{FF2B5EF4-FFF2-40B4-BE49-F238E27FC236}">
                <a16:creationId xmlns:a16="http://schemas.microsoft.com/office/drawing/2014/main" id="{3B0AD17A-3543-18D2-1DAD-3D28BF97390D}"/>
              </a:ext>
            </a:extLst>
          </p:cNvPr>
          <p:cNvGrpSpPr/>
          <p:nvPr/>
        </p:nvGrpSpPr>
        <p:grpSpPr>
          <a:xfrm>
            <a:off x="807534" y="5153217"/>
            <a:ext cx="10240421" cy="1155035"/>
            <a:chOff x="807534" y="4779940"/>
            <a:chExt cx="10240421" cy="1155035"/>
          </a:xfrm>
        </p:grpSpPr>
        <p:sp>
          <p:nvSpPr>
            <p:cNvPr id="11" name="Rectangle 10">
              <a:extLst>
                <a:ext uri="{FF2B5EF4-FFF2-40B4-BE49-F238E27FC236}">
                  <a16:creationId xmlns:a16="http://schemas.microsoft.com/office/drawing/2014/main" id="{34D33B6C-E253-4E66-7E72-2ED0C2CA6427}"/>
                </a:ext>
              </a:extLst>
            </p:cNvPr>
            <p:cNvSpPr/>
            <p:nvPr/>
          </p:nvSpPr>
          <p:spPr>
            <a:xfrm>
              <a:off x="807534" y="5273183"/>
              <a:ext cx="10240421" cy="661792"/>
            </a:xfrm>
            <a:prstGeom prst="rect">
              <a:avLst/>
            </a:prstGeom>
            <a:solidFill>
              <a:srgbClr val="C8EA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lumMod val="75000"/>
                      <a:lumOff val="25000"/>
                    </a:schemeClr>
                  </a:solidFill>
                  <a:latin typeface="Source Sans Pro" panose="020B0503030403020204" pitchFamily="34" charset="0"/>
                  <a:ea typeface="Source Sans Pro" panose="020B0503030403020204" pitchFamily="34" charset="0"/>
                </a:rPr>
                <a:t>As soon as you get your first job, keep in mind you are the specialist who knows how to make data talk (and no longer a student). This is also applicable to your interviews.</a:t>
              </a:r>
            </a:p>
          </p:txBody>
        </p:sp>
        <p:sp>
          <p:nvSpPr>
            <p:cNvPr id="12" name="Rectangle 11">
              <a:extLst>
                <a:ext uri="{FF2B5EF4-FFF2-40B4-BE49-F238E27FC236}">
                  <a16:creationId xmlns:a16="http://schemas.microsoft.com/office/drawing/2014/main" id="{40F2AB44-5D56-80B1-B4E4-B41FB6235DD1}"/>
                </a:ext>
              </a:extLst>
            </p:cNvPr>
            <p:cNvSpPr/>
            <p:nvPr/>
          </p:nvSpPr>
          <p:spPr>
            <a:xfrm>
              <a:off x="807534" y="4779940"/>
              <a:ext cx="10240421" cy="493242"/>
            </a:xfrm>
            <a:prstGeom prst="rect">
              <a:avLst/>
            </a:prstGeom>
            <a:solidFill>
              <a:srgbClr val="1891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itchFamily="2" charset="0"/>
                </a:rPr>
                <a:t>       Tip</a:t>
              </a:r>
            </a:p>
          </p:txBody>
        </p:sp>
        <p:pic>
          <p:nvPicPr>
            <p:cNvPr id="13" name="Graphic 7" descr="Lightbulb outline">
              <a:extLst>
                <a:ext uri="{FF2B5EF4-FFF2-40B4-BE49-F238E27FC236}">
                  <a16:creationId xmlns:a16="http://schemas.microsoft.com/office/drawing/2014/main" id="{6CB8CB04-D342-11C5-5737-1962D5A920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813618"/>
              <a:ext cx="425886" cy="425886"/>
            </a:xfrm>
            <a:prstGeom prst="rect">
              <a:avLst/>
            </a:prstGeom>
          </p:spPr>
        </p:pic>
      </p:grpSp>
      <p:grpSp>
        <p:nvGrpSpPr>
          <p:cNvPr id="3" name="Groupe 2">
            <a:extLst>
              <a:ext uri="{FF2B5EF4-FFF2-40B4-BE49-F238E27FC236}">
                <a16:creationId xmlns:a16="http://schemas.microsoft.com/office/drawing/2014/main" id="{F6038A0A-F104-9040-5B20-36D99FBB9E74}"/>
              </a:ext>
            </a:extLst>
          </p:cNvPr>
          <p:cNvGrpSpPr/>
          <p:nvPr/>
        </p:nvGrpSpPr>
        <p:grpSpPr>
          <a:xfrm>
            <a:off x="8558112" y="2568163"/>
            <a:ext cx="3669428" cy="2471865"/>
            <a:chOff x="8558112" y="2568163"/>
            <a:chExt cx="3669428" cy="2471865"/>
          </a:xfrm>
        </p:grpSpPr>
        <p:pic>
          <p:nvPicPr>
            <p:cNvPr id="5" name="Picture 4" descr="Businessman presenting">
              <a:extLst>
                <a:ext uri="{FF2B5EF4-FFF2-40B4-BE49-F238E27FC236}">
                  <a16:creationId xmlns:a16="http://schemas.microsoft.com/office/drawing/2014/main" id="{A2075BE6-18A5-FBB0-15F2-05FE856DB226}"/>
                </a:ext>
              </a:extLst>
            </p:cNvPr>
            <p:cNvPicPr>
              <a:picLocks noChangeAspect="1"/>
            </p:cNvPicPr>
            <p:nvPr/>
          </p:nvPicPr>
          <p:blipFill>
            <a:blip r:embed="rId5">
              <a:alphaModFix/>
              <a:extLst>
                <a:ext uri="{28A0092B-C50C-407E-A947-70E740481C1C}">
                  <a14:useLocalDpi xmlns:a14="http://schemas.microsoft.com/office/drawing/2010/main" val="0"/>
                </a:ext>
              </a:extLst>
            </a:blip>
            <a:srcRect b="54859"/>
            <a:stretch>
              <a:fillRect/>
            </a:stretch>
          </p:blipFill>
          <p:spPr>
            <a:xfrm rot="702010" flipH="1">
              <a:off x="10135110" y="2568163"/>
              <a:ext cx="2025463" cy="1881074"/>
            </a:xfrm>
            <a:prstGeom prst="rect">
              <a:avLst/>
            </a:prstGeom>
          </p:spPr>
        </p:pic>
        <p:sp>
          <p:nvSpPr>
            <p:cNvPr id="14" name="ZoneTexte 6">
              <a:extLst>
                <a:ext uri="{FF2B5EF4-FFF2-40B4-BE49-F238E27FC236}">
                  <a16:creationId xmlns:a16="http://schemas.microsoft.com/office/drawing/2014/main" id="{718DF614-252B-1092-D54E-1EA5CC006657}"/>
                </a:ext>
              </a:extLst>
            </p:cNvPr>
            <p:cNvSpPr txBox="1"/>
            <p:nvPr/>
          </p:nvSpPr>
          <p:spPr>
            <a:xfrm rot="660539">
              <a:off x="8705465" y="4256928"/>
              <a:ext cx="2923661" cy="338554"/>
            </a:xfrm>
            <a:prstGeom prst="rect">
              <a:avLst/>
            </a:prstGeom>
            <a:noFill/>
          </p:spPr>
          <p:txBody>
            <a:bodyPr wrap="square" rtlCol="0">
              <a:spAutoFit/>
            </a:bodyPr>
            <a:lstStyle/>
            <a:p>
              <a:r>
                <a:rPr lang="en-GB" sz="1600" dirty="0">
                  <a:solidFill>
                    <a:schemeClr val="tx1">
                      <a:lumMod val="75000"/>
                      <a:lumOff val="25000"/>
                    </a:schemeClr>
                  </a:solidFill>
                  <a:latin typeface="Esteban" panose="020B0604020202020204" charset="0"/>
                </a:rPr>
                <a:t>Bernard, 1968 HEC graduate</a:t>
              </a:r>
            </a:p>
          </p:txBody>
        </p:sp>
        <p:pic>
          <p:nvPicPr>
            <p:cNvPr id="8" name="Image 7">
              <a:extLst>
                <a:ext uri="{FF2B5EF4-FFF2-40B4-BE49-F238E27FC236}">
                  <a16:creationId xmlns:a16="http://schemas.microsoft.com/office/drawing/2014/main" id="{DC1DA583-2287-78B0-47DB-6AE4CC5949DF}"/>
                </a:ext>
              </a:extLst>
            </p:cNvPr>
            <p:cNvPicPr>
              <a:picLocks noChangeAspect="1"/>
            </p:cNvPicPr>
            <p:nvPr/>
          </p:nvPicPr>
          <p:blipFill>
            <a:blip r:embed="rId6"/>
            <a:srcRect l="27600" t="33716" r="27100" b="11385"/>
            <a:stretch>
              <a:fillRect/>
            </a:stretch>
          </p:blipFill>
          <p:spPr>
            <a:xfrm rot="645103">
              <a:off x="8558112" y="4546786"/>
              <a:ext cx="3669428" cy="493242"/>
            </a:xfrm>
            <a:prstGeom prst="rect">
              <a:avLst/>
            </a:prstGeom>
          </p:spPr>
        </p:pic>
      </p:grpSp>
    </p:spTree>
    <p:extLst>
      <p:ext uri="{BB962C8B-B14F-4D97-AF65-F5344CB8AC3E}">
        <p14:creationId xmlns:p14="http://schemas.microsoft.com/office/powerpoint/2010/main" val="66962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Planning</a:t>
            </a:r>
            <a:r>
              <a:rPr lang="en-GB" dirty="0">
                <a:solidFill>
                  <a:schemeClr val="tx1">
                    <a:lumMod val="75000"/>
                    <a:lumOff val="25000"/>
                  </a:schemeClr>
                </a:solidFill>
              </a:rPr>
              <a:t> analyses (1)</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2845756"/>
          </a:xfrm>
        </p:spPr>
        <p:txBody>
          <a:bodyPr>
            <a:normAutofit fontScale="92500" lnSpcReduction="10000"/>
          </a:bodyPr>
          <a:lstStyle/>
          <a:p>
            <a:pPr marL="0" indent="0">
              <a:buNone/>
            </a:pPr>
            <a:r>
              <a:rPr lang="en-US" dirty="0"/>
              <a:t>Good practice: prepare a </a:t>
            </a:r>
            <a:r>
              <a:rPr lang="en-US" dirty="0">
                <a:solidFill>
                  <a:srgbClr val="7F7DB0"/>
                </a:solidFill>
              </a:rPr>
              <a:t>data analysis plan </a:t>
            </a:r>
            <a:r>
              <a:rPr lang="en-US" dirty="0"/>
              <a:t>(a roadmap)</a:t>
            </a:r>
            <a:endParaRPr lang="en-US" dirty="0">
              <a:solidFill>
                <a:srgbClr val="7F7DB0"/>
              </a:solidFill>
            </a:endParaRPr>
          </a:p>
          <a:p>
            <a:pPr marL="0" indent="0">
              <a:buNone/>
            </a:pPr>
            <a:endParaRPr lang="en-US" dirty="0"/>
          </a:p>
          <a:p>
            <a:pPr marL="0" indent="0">
              <a:buNone/>
            </a:pPr>
            <a:r>
              <a:rPr lang="en-US" dirty="0"/>
              <a:t>What to plan: data collection, variable selection and modifications, imputation, weighting, which models, etc. etc.</a:t>
            </a:r>
          </a:p>
          <a:p>
            <a:pPr marL="0" indent="0">
              <a:buNone/>
            </a:pPr>
            <a:endParaRPr lang="en-US" dirty="0"/>
          </a:p>
          <a:p>
            <a:pPr marL="0" indent="0">
              <a:buNone/>
            </a:pPr>
            <a:r>
              <a:rPr lang="en-US" dirty="0"/>
              <a:t>Choosing the right tools (e.g. programming language) is also more important than you think</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grpSp>
        <p:nvGrpSpPr>
          <p:cNvPr id="3" name="Groupe 2">
            <a:extLst>
              <a:ext uri="{FF2B5EF4-FFF2-40B4-BE49-F238E27FC236}">
                <a16:creationId xmlns:a16="http://schemas.microsoft.com/office/drawing/2014/main" id="{7AA711BD-7494-D477-8FB2-B96D68149C39}"/>
              </a:ext>
            </a:extLst>
          </p:cNvPr>
          <p:cNvGrpSpPr/>
          <p:nvPr/>
        </p:nvGrpSpPr>
        <p:grpSpPr>
          <a:xfrm>
            <a:off x="807534" y="5153217"/>
            <a:ext cx="10240421" cy="1155035"/>
            <a:chOff x="807534" y="4779940"/>
            <a:chExt cx="10240421" cy="1155035"/>
          </a:xfrm>
        </p:grpSpPr>
        <p:sp>
          <p:nvSpPr>
            <p:cNvPr id="5" name="Rectangle 4">
              <a:extLst>
                <a:ext uri="{FF2B5EF4-FFF2-40B4-BE49-F238E27FC236}">
                  <a16:creationId xmlns:a16="http://schemas.microsoft.com/office/drawing/2014/main" id="{3ADF5C47-42A1-F3AD-0343-7A57BA6A731F}"/>
                </a:ext>
              </a:extLst>
            </p:cNvPr>
            <p:cNvSpPr/>
            <p:nvPr/>
          </p:nvSpPr>
          <p:spPr>
            <a:xfrm>
              <a:off x="807534" y="5273183"/>
              <a:ext cx="10240421" cy="661792"/>
            </a:xfrm>
            <a:prstGeom prst="rect">
              <a:avLst/>
            </a:prstGeom>
            <a:solidFill>
              <a:srgbClr val="C8EA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lumMod val="75000"/>
                      <a:lumOff val="25000"/>
                    </a:schemeClr>
                  </a:solidFill>
                  <a:latin typeface="Source Sans Pro" panose="020B0503030403020204" pitchFamily="34" charset="0"/>
                  <a:ea typeface="Source Sans Pro" panose="020B0503030403020204" pitchFamily="34" charset="0"/>
                </a:rPr>
                <a:t>Sometimes (in clinical research for example), </a:t>
              </a:r>
              <a:r>
                <a:rPr lang="en-US" u="sng" dirty="0">
                  <a:solidFill>
                    <a:schemeClr val="tx1">
                      <a:lumMod val="75000"/>
                      <a:lumOff val="25000"/>
                    </a:schemeClr>
                  </a:solidFill>
                  <a:latin typeface="Source Sans Pro" panose="020B0503030403020204" pitchFamily="34" charset="0"/>
                  <a:ea typeface="Source Sans Pro" panose="020B0503030403020204" pitchFamily="34" charset="0"/>
                </a:rPr>
                <a:t>all</a:t>
              </a:r>
              <a:r>
                <a:rPr lang="en-US" dirty="0">
                  <a:solidFill>
                    <a:schemeClr val="tx1">
                      <a:lumMod val="75000"/>
                      <a:lumOff val="25000"/>
                    </a:schemeClr>
                  </a:solidFill>
                  <a:latin typeface="Source Sans Pro" panose="020B0503030403020204" pitchFamily="34" charset="0"/>
                  <a:ea typeface="Source Sans Pro" panose="020B0503030403020204" pitchFamily="34" charset="0"/>
                </a:rPr>
                <a:t> analyses must be planned.</a:t>
              </a:r>
            </a:p>
            <a:p>
              <a:r>
                <a:rPr lang="en-US" dirty="0">
                  <a:solidFill>
                    <a:schemeClr val="tx1">
                      <a:lumMod val="75000"/>
                      <a:lumOff val="25000"/>
                    </a:schemeClr>
                  </a:solidFill>
                  <a:latin typeface="Source Sans Pro" panose="020B0503030403020204" pitchFamily="34" charset="0"/>
                  <a:ea typeface="Source Sans Pro" panose="020B0503030403020204" pitchFamily="34" charset="0"/>
                </a:rPr>
                <a:t>If you decide to change even one thing, you must discard the data and start everything from scratch.</a:t>
              </a:r>
            </a:p>
          </p:txBody>
        </p:sp>
        <p:sp>
          <p:nvSpPr>
            <p:cNvPr id="7" name="Rectangle 6">
              <a:extLst>
                <a:ext uri="{FF2B5EF4-FFF2-40B4-BE49-F238E27FC236}">
                  <a16:creationId xmlns:a16="http://schemas.microsoft.com/office/drawing/2014/main" id="{AC749CBE-0560-37C9-36C5-0EC5F179F4AF}"/>
                </a:ext>
              </a:extLst>
            </p:cNvPr>
            <p:cNvSpPr/>
            <p:nvPr/>
          </p:nvSpPr>
          <p:spPr>
            <a:xfrm>
              <a:off x="807534" y="4779940"/>
              <a:ext cx="10240421" cy="493242"/>
            </a:xfrm>
            <a:prstGeom prst="rect">
              <a:avLst/>
            </a:prstGeom>
            <a:solidFill>
              <a:srgbClr val="1891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itchFamily="2" charset="0"/>
                </a:rPr>
                <a:t>       Did you know?</a:t>
              </a:r>
            </a:p>
          </p:txBody>
        </p:sp>
        <p:pic>
          <p:nvPicPr>
            <p:cNvPr id="8" name="Graphic 7" descr="Lightbulb outline">
              <a:extLst>
                <a:ext uri="{FF2B5EF4-FFF2-40B4-BE49-F238E27FC236}">
                  <a16:creationId xmlns:a16="http://schemas.microsoft.com/office/drawing/2014/main" id="{415E6234-E7D2-BF89-1CBF-596D3B2F22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813618"/>
              <a:ext cx="425886" cy="425886"/>
            </a:xfrm>
            <a:prstGeom prst="rect">
              <a:avLst/>
            </a:prstGeom>
          </p:spPr>
        </p:pic>
      </p:grpSp>
      <p:sp>
        <p:nvSpPr>
          <p:cNvPr id="10" name="Espace réservé du numéro de diapositive 9">
            <a:extLst>
              <a:ext uri="{FF2B5EF4-FFF2-40B4-BE49-F238E27FC236}">
                <a16:creationId xmlns:a16="http://schemas.microsoft.com/office/drawing/2014/main" id="{7BCCE1E2-BB6B-DE90-D0AF-9190D83972FC}"/>
              </a:ext>
            </a:extLst>
          </p:cNvPr>
          <p:cNvSpPr>
            <a:spLocks noGrp="1"/>
          </p:cNvSpPr>
          <p:nvPr>
            <p:ph type="sldNum" sz="quarter" idx="12"/>
          </p:nvPr>
        </p:nvSpPr>
        <p:spPr/>
        <p:txBody>
          <a:bodyPr/>
          <a:lstStyle/>
          <a:p>
            <a:fld id="{6F3806FF-9E51-4331-BB90-F49EFA1FA4FC}" type="slidenum">
              <a:rPr lang="fr-FR" smtClean="0"/>
              <a:t>52</a:t>
            </a:fld>
            <a:endParaRPr lang="fr-FR"/>
          </a:p>
        </p:txBody>
      </p:sp>
    </p:spTree>
    <p:extLst>
      <p:ext uri="{BB962C8B-B14F-4D97-AF65-F5344CB8AC3E}">
        <p14:creationId xmlns:p14="http://schemas.microsoft.com/office/powerpoint/2010/main" val="82717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Planning</a:t>
            </a:r>
            <a:r>
              <a:rPr lang="en-GB" dirty="0">
                <a:solidFill>
                  <a:schemeClr val="tx1">
                    <a:lumMod val="75000"/>
                    <a:lumOff val="25000"/>
                  </a:schemeClr>
                </a:solidFill>
              </a:rPr>
              <a:t> analyses (2)</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2"/>
            <a:ext cx="10824712" cy="5076215"/>
          </a:xfrm>
        </p:spPr>
        <p:txBody>
          <a:bodyPr>
            <a:normAutofit fontScale="92500" lnSpcReduction="10000"/>
          </a:bodyPr>
          <a:lstStyle/>
          <a:p>
            <a:r>
              <a:rPr lang="en-US" dirty="0"/>
              <a:t>In some jobs, a </a:t>
            </a:r>
            <a:r>
              <a:rPr lang="en-US" dirty="0">
                <a:solidFill>
                  <a:srgbClr val="7F7DB0"/>
                </a:solidFill>
              </a:rPr>
              <a:t>data analysis plan </a:t>
            </a:r>
            <a:r>
              <a:rPr lang="en-US" dirty="0"/>
              <a:t>may be a requirement (in this case, you have a predetermined layout to follow)</a:t>
            </a:r>
          </a:p>
          <a:p>
            <a:r>
              <a:rPr lang="en-US" dirty="0"/>
              <a:t>If not, you should put:</a:t>
            </a:r>
          </a:p>
          <a:p>
            <a:pPr lvl="1"/>
            <a:r>
              <a:rPr lang="en-US" dirty="0"/>
              <a:t>Data collection methodology</a:t>
            </a:r>
          </a:p>
          <a:p>
            <a:pPr lvl="1"/>
            <a:r>
              <a:rPr lang="en-US" dirty="0"/>
              <a:t>Quick description of the metadata: variables, their types, how many observations, are there clusters, is it a sample or administrative data…</a:t>
            </a:r>
          </a:p>
          <a:p>
            <a:pPr lvl="1"/>
            <a:r>
              <a:rPr lang="en-US" dirty="0"/>
              <a:t>The question you are trying to answer</a:t>
            </a:r>
          </a:p>
          <a:p>
            <a:pPr lvl="1"/>
            <a:r>
              <a:rPr lang="en-US" dirty="0"/>
              <a:t>Software/languages you are going to use</a:t>
            </a:r>
          </a:p>
          <a:p>
            <a:pPr lvl="1"/>
            <a:r>
              <a:rPr lang="en-US" dirty="0"/>
              <a:t>Variables selected for analyses</a:t>
            </a:r>
          </a:p>
          <a:p>
            <a:pPr lvl="1"/>
            <a:r>
              <a:rPr lang="en-US" dirty="0"/>
              <a:t>What analyses will be made</a:t>
            </a:r>
          </a:p>
          <a:p>
            <a:pPr lvl="1"/>
            <a:r>
              <a:rPr lang="en-US" dirty="0"/>
              <a:t>How results will be interpreted (coefficients? Metrics? Graphs? Something else?)</a:t>
            </a:r>
          </a:p>
          <a:p>
            <a:pPr lvl="1"/>
            <a:endParaRPr lang="en-US" dirty="0"/>
          </a:p>
          <a:p>
            <a:r>
              <a:rPr lang="en-US" dirty="0"/>
              <a:t>Ideally, do this </a:t>
            </a:r>
            <a:r>
              <a:rPr lang="en-US" dirty="0">
                <a:solidFill>
                  <a:srgbClr val="7F7DB0"/>
                </a:solidFill>
              </a:rPr>
              <a:t>before</a:t>
            </a:r>
            <a:r>
              <a:rPr lang="en-US" dirty="0"/>
              <a:t> taking deep looks at the data (otherwise, you might be biased by the results you have already found)</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D4ED991C-7AED-4222-3EC4-414BF667799D}"/>
              </a:ext>
            </a:extLst>
          </p:cNvPr>
          <p:cNvSpPr>
            <a:spLocks noGrp="1"/>
          </p:cNvSpPr>
          <p:nvPr>
            <p:ph type="sldNum" sz="quarter" idx="12"/>
          </p:nvPr>
        </p:nvSpPr>
        <p:spPr/>
        <p:txBody>
          <a:bodyPr/>
          <a:lstStyle/>
          <a:p>
            <a:fld id="{6F3806FF-9E51-4331-BB90-F49EFA1FA4FC}" type="slidenum">
              <a:rPr lang="fr-FR" smtClean="0"/>
              <a:t>53</a:t>
            </a:fld>
            <a:endParaRPr lang="fr-FR"/>
          </a:p>
        </p:txBody>
      </p:sp>
    </p:spTree>
    <p:extLst>
      <p:ext uri="{BB962C8B-B14F-4D97-AF65-F5344CB8AC3E}">
        <p14:creationId xmlns:p14="http://schemas.microsoft.com/office/powerpoint/2010/main" val="41566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3A81-1D07-6F47-21C2-131A03F658C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19315E51-3CD3-2DFD-8410-A5A411925D1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F90B122F-59DC-33D8-7338-832C12D81DA2}"/>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Instant culture</a:t>
            </a:r>
          </a:p>
        </p:txBody>
      </p:sp>
      <p:sp>
        <p:nvSpPr>
          <p:cNvPr id="9" name="Content Placeholder 5">
            <a:extLst>
              <a:ext uri="{FF2B5EF4-FFF2-40B4-BE49-F238E27FC236}">
                <a16:creationId xmlns:a16="http://schemas.microsoft.com/office/drawing/2014/main" id="{AA056019-C68B-1F03-5782-60DA0FC8B1CA}"/>
              </a:ext>
            </a:extLst>
          </p:cNvPr>
          <p:cNvSpPr>
            <a:spLocks noGrp="1"/>
          </p:cNvSpPr>
          <p:nvPr>
            <p:ph idx="1"/>
          </p:nvPr>
        </p:nvSpPr>
        <p:spPr>
          <a:xfrm>
            <a:off x="838200" y="5467149"/>
            <a:ext cx="10622872" cy="1244369"/>
          </a:xfrm>
        </p:spPr>
        <p:txBody>
          <a:bodyPr>
            <a:normAutofit/>
          </a:bodyPr>
          <a:lstStyle/>
          <a:p>
            <a:pPr marL="0" indent="0">
              <a:buNone/>
            </a:pPr>
            <a:r>
              <a:rPr lang="en-US" dirty="0"/>
              <a:t>Have you ever heard of </a:t>
            </a:r>
            <a:r>
              <a:rPr lang="en-US" b="1" dirty="0"/>
              <a:t>p-hacking</a:t>
            </a:r>
            <a:r>
              <a:rPr lang="en-US" dirty="0"/>
              <a:t>?</a:t>
            </a:r>
          </a:p>
          <a:p>
            <a:pPr marL="0" indent="0">
              <a:buNone/>
            </a:pPr>
            <a:r>
              <a:rPr lang="en-US" dirty="0"/>
              <a:t>Is it good? Bad?</a:t>
            </a:r>
          </a:p>
        </p:txBody>
      </p:sp>
      <p:sp>
        <p:nvSpPr>
          <p:cNvPr id="2" name="Content Placeholder 5">
            <a:extLst>
              <a:ext uri="{FF2B5EF4-FFF2-40B4-BE49-F238E27FC236}">
                <a16:creationId xmlns:a16="http://schemas.microsoft.com/office/drawing/2014/main" id="{0608B7DE-31A6-8185-78B1-AEFA648B4360}"/>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CC976D3-0446-AEB5-9E14-69E97526A342}"/>
              </a:ext>
            </a:extLst>
          </p:cNvPr>
          <p:cNvSpPr>
            <a:spLocks noGrp="1"/>
          </p:cNvSpPr>
          <p:nvPr>
            <p:ph type="sldNum" sz="quarter" idx="12"/>
          </p:nvPr>
        </p:nvSpPr>
        <p:spPr/>
        <p:txBody>
          <a:bodyPr/>
          <a:lstStyle/>
          <a:p>
            <a:fld id="{6F3806FF-9E51-4331-BB90-F49EFA1FA4FC}" type="slidenum">
              <a:rPr lang="fr-FR" smtClean="0"/>
              <a:t>54</a:t>
            </a:fld>
            <a:endParaRPr lang="fr-FR"/>
          </a:p>
        </p:txBody>
      </p:sp>
      <p:pic>
        <p:nvPicPr>
          <p:cNvPr id="8" name="Image 7" descr="Ronald Coase — Wikipédia">
            <a:extLst>
              <a:ext uri="{FF2B5EF4-FFF2-40B4-BE49-F238E27FC236}">
                <a16:creationId xmlns:a16="http://schemas.microsoft.com/office/drawing/2014/main" id="{5B975E58-F03D-E40E-7EFA-C628DA6C3D1D}"/>
              </a:ext>
            </a:extLst>
          </p:cNvPr>
          <p:cNvPicPr>
            <a:picLocks noChangeAspect="1"/>
          </p:cNvPicPr>
          <p:nvPr/>
        </p:nvPicPr>
        <p:blipFill>
          <a:blip r:embed="rId4"/>
          <a:srcRect l="34630" t="24064" r="35714" b="39366"/>
          <a:stretch>
            <a:fillRect/>
          </a:stretch>
        </p:blipFill>
        <p:spPr>
          <a:xfrm rot="3263180">
            <a:off x="9590681" y="283809"/>
            <a:ext cx="969934" cy="1262090"/>
          </a:xfrm>
          <a:prstGeom prst="ellipse">
            <a:avLst/>
          </a:prstGeom>
          <a:ln>
            <a:noFill/>
          </a:ln>
          <a:effectLst>
            <a:softEdge rad="112500"/>
          </a:effectLst>
        </p:spPr>
      </p:pic>
      <p:pic>
        <p:nvPicPr>
          <p:cNvPr id="7" name="Graphique 6" descr="France Culture — Wikipédia">
            <a:extLst>
              <a:ext uri="{FF2B5EF4-FFF2-40B4-BE49-F238E27FC236}">
                <a16:creationId xmlns:a16="http://schemas.microsoft.com/office/drawing/2014/main" id="{AE78CCDB-E6E1-FB62-28A2-122FB3DA20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80229" y="167233"/>
            <a:ext cx="1523455" cy="1523455"/>
          </a:xfrm>
          <a:prstGeom prst="rect">
            <a:avLst/>
          </a:prstGeom>
        </p:spPr>
      </p:pic>
      <p:pic>
        <p:nvPicPr>
          <p:cNvPr id="11" name="Image 10" descr="Une image contenant texte, Tracé, ligne, Police&#10;&#10;Description générée automatiquement">
            <a:extLst>
              <a:ext uri="{FF2B5EF4-FFF2-40B4-BE49-F238E27FC236}">
                <a16:creationId xmlns:a16="http://schemas.microsoft.com/office/drawing/2014/main" id="{7835B5F0-967F-EB31-D590-80ED4443028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9027" y="1843089"/>
            <a:ext cx="8654105" cy="3412061"/>
          </a:xfrm>
          <a:prstGeom prst="rect">
            <a:avLst/>
          </a:prstGeom>
        </p:spPr>
      </p:pic>
      <p:sp>
        <p:nvSpPr>
          <p:cNvPr id="12" name="Content Placeholder 5">
            <a:extLst>
              <a:ext uri="{FF2B5EF4-FFF2-40B4-BE49-F238E27FC236}">
                <a16:creationId xmlns:a16="http://schemas.microsoft.com/office/drawing/2014/main" id="{545F8FCB-EC20-C085-1711-E0CE3D12C698}"/>
              </a:ext>
            </a:extLst>
          </p:cNvPr>
          <p:cNvSpPr txBox="1">
            <a:spLocks/>
          </p:cNvSpPr>
          <p:nvPr/>
        </p:nvSpPr>
        <p:spPr>
          <a:xfrm>
            <a:off x="9425424" y="2781257"/>
            <a:ext cx="4071295" cy="183882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dirty="0"/>
              <a:t>Is there a</a:t>
            </a:r>
            <a:br>
              <a:rPr lang="en-US" sz="3600" dirty="0"/>
            </a:br>
            <a:r>
              <a:rPr lang="en-US" sz="3600" b="1" dirty="0">
                <a:solidFill>
                  <a:srgbClr val="BA0820"/>
                </a:solidFill>
              </a:rPr>
              <a:t>correlation</a:t>
            </a:r>
            <a:br>
              <a:rPr lang="en-US" sz="3600" b="1" dirty="0">
                <a:solidFill>
                  <a:srgbClr val="BA0820"/>
                </a:solidFill>
              </a:rPr>
            </a:br>
            <a:r>
              <a:rPr lang="en-US" sz="3600" dirty="0"/>
              <a:t>here?</a:t>
            </a:r>
          </a:p>
        </p:txBody>
      </p:sp>
      <p:sp>
        <p:nvSpPr>
          <p:cNvPr id="13" name="Rectangle 12">
            <a:extLst>
              <a:ext uri="{FF2B5EF4-FFF2-40B4-BE49-F238E27FC236}">
                <a16:creationId xmlns:a16="http://schemas.microsoft.com/office/drawing/2014/main" id="{389B0C27-4C1E-80C0-CFA3-AC466048E87D}"/>
              </a:ext>
            </a:extLst>
          </p:cNvPr>
          <p:cNvSpPr/>
          <p:nvPr/>
        </p:nvSpPr>
        <p:spPr>
          <a:xfrm>
            <a:off x="4514248" y="2088682"/>
            <a:ext cx="1193533" cy="173255"/>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Description de cette image, également commentée ci-après">
            <a:extLst>
              <a:ext uri="{FF2B5EF4-FFF2-40B4-BE49-F238E27FC236}">
                <a16:creationId xmlns:a16="http://schemas.microsoft.com/office/drawing/2014/main" id="{004ED2C2-A9F4-73E9-CB37-185EEC7B3135}"/>
              </a:ext>
            </a:extLst>
          </p:cNvPr>
          <p:cNvPicPr>
            <a:picLocks noChangeAspect="1"/>
          </p:cNvPicPr>
          <p:nvPr/>
        </p:nvPicPr>
        <p:blipFill>
          <a:blip r:embed="rId7"/>
          <a:srcRect l="27768" t="1439" r="22110" b="60979"/>
          <a:stretch>
            <a:fillRect/>
          </a:stretch>
        </p:blipFill>
        <p:spPr>
          <a:xfrm>
            <a:off x="5342486" y="380024"/>
            <a:ext cx="1193533" cy="1285122"/>
          </a:xfrm>
          <a:prstGeom prst="ellipse">
            <a:avLst/>
          </a:prstGeom>
          <a:ln>
            <a:noFill/>
          </a:ln>
          <a:effectLst>
            <a:softEdge rad="112500"/>
          </a:effectLst>
        </p:spPr>
      </p:pic>
    </p:spTree>
    <p:extLst>
      <p:ext uri="{BB962C8B-B14F-4D97-AF65-F5344CB8AC3E}">
        <p14:creationId xmlns:p14="http://schemas.microsoft.com/office/powerpoint/2010/main" val="103308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42" presetClass="path" presetSubtype="0" accel="50000" decel="50000" fill="hold" nodeType="withEffect">
                                  <p:stCondLst>
                                    <p:cond delay="0"/>
                                  </p:stCondLst>
                                  <p:childTnLst>
                                    <p:animMotion origin="layout" path="M -2.08333E-6 -3.33333E-6 L 0.09818 0.00417 " pathEditMode="relative" rAng="0" ptsTypes="AA">
                                      <p:cBhvr>
                                        <p:cTn id="10" dur="15000" fill="hold"/>
                                        <p:tgtEl>
                                          <p:spTgt spid="8"/>
                                        </p:tgtEl>
                                        <p:attrNameLst>
                                          <p:attrName>ppt_x</p:attrName>
                                          <p:attrName>ppt_y</p:attrName>
                                        </p:attrNameLst>
                                      </p:cBhvr>
                                      <p:rCtr x="4909" y="208"/>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par>
                                <p:cTn id="17" presetID="42" presetClass="path" presetSubtype="0" accel="50000" decel="50000" fill="hold" nodeType="withEffect">
                                  <p:stCondLst>
                                    <p:cond delay="0"/>
                                  </p:stCondLst>
                                  <p:childTnLst>
                                    <p:animMotion origin="layout" path="M 0.09818 0.00417 L 5E-6 -2.22222E-6 " pathEditMode="relative" rAng="0" ptsTypes="AA">
                                      <p:cBhvr>
                                        <p:cTn id="18" dur="15000" fill="hold"/>
                                        <p:tgtEl>
                                          <p:spTgt spid="8"/>
                                        </p:tgtEl>
                                        <p:attrNameLst>
                                          <p:attrName>ppt_x</p:attrName>
                                          <p:attrName>ppt_y</p:attrName>
                                        </p:attrNameLst>
                                      </p:cBhvr>
                                      <p:rCtr x="-4818"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Planning</a:t>
            </a:r>
            <a:r>
              <a:rPr lang="en-GB" dirty="0">
                <a:solidFill>
                  <a:schemeClr val="tx1">
                    <a:lumMod val="75000"/>
                    <a:lumOff val="25000"/>
                  </a:schemeClr>
                </a:solidFill>
              </a:rPr>
              <a:t> analyses (3)</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3"/>
            <a:ext cx="10622872" cy="4929735"/>
          </a:xfrm>
        </p:spPr>
        <p:txBody>
          <a:bodyPr>
            <a:normAutofit/>
          </a:bodyPr>
          <a:lstStyle/>
          <a:p>
            <a:r>
              <a:rPr lang="en-US" dirty="0">
                <a:solidFill>
                  <a:srgbClr val="7F7DB0"/>
                </a:solidFill>
              </a:rPr>
              <a:t>In practice</a:t>
            </a:r>
            <a:r>
              <a:rPr lang="en-US" dirty="0"/>
              <a:t>, you may somewhat deviate from your analysis plan and add to it (</a:t>
            </a:r>
            <a:r>
              <a:rPr lang="en-US" i="1" dirty="0"/>
              <a:t>post hoc</a:t>
            </a:r>
            <a:r>
              <a:rPr lang="en-US" dirty="0"/>
              <a:t>)</a:t>
            </a:r>
          </a:p>
          <a:p>
            <a:pPr lvl="1"/>
            <a:r>
              <a:rPr lang="en-US" dirty="0"/>
              <a:t>See it as a baseline for your work…</a:t>
            </a:r>
          </a:p>
          <a:p>
            <a:pPr lvl="1"/>
            <a:r>
              <a:rPr lang="en-US" dirty="0"/>
              <a:t>…but don’t push it just to get significant </a:t>
            </a:r>
            <a:br>
              <a:rPr lang="en-US" dirty="0"/>
            </a:br>
            <a:r>
              <a:rPr lang="en-US" dirty="0"/>
              <a:t>results (“</a:t>
            </a:r>
            <a:r>
              <a:rPr lang="en-US" dirty="0">
                <a:solidFill>
                  <a:srgbClr val="7F7DB0"/>
                </a:solidFill>
              </a:rPr>
              <a:t>p-hacking</a:t>
            </a:r>
            <a:r>
              <a:rPr lang="en-US" dirty="0"/>
              <a:t>”)</a:t>
            </a:r>
          </a:p>
          <a:p>
            <a:pPr lvl="1"/>
            <a:r>
              <a:rPr lang="en-US" dirty="0"/>
              <a:t>“If you torture the data long enough, it </a:t>
            </a:r>
            <a:br>
              <a:rPr lang="en-US" dirty="0"/>
            </a:br>
            <a:r>
              <a:rPr lang="en-US" dirty="0"/>
              <a:t>will confess to anything” (Coase R.)</a:t>
            </a:r>
          </a:p>
          <a:p>
            <a:r>
              <a:rPr lang="en-US" dirty="0"/>
              <a:t>After you have started working on your data, keep your final methodology and results somewhere:</a:t>
            </a:r>
          </a:p>
          <a:p>
            <a:pPr lvl="1"/>
            <a:r>
              <a:rPr lang="en-US" dirty="0"/>
              <a:t>Cleaning and modifications in the data that you have made</a:t>
            </a:r>
          </a:p>
          <a:p>
            <a:pPr lvl="1"/>
            <a:r>
              <a:rPr lang="en-US" dirty="0"/>
              <a:t>Analyses you have done</a:t>
            </a:r>
          </a:p>
          <a:p>
            <a:pPr lvl="1"/>
            <a:r>
              <a:rPr lang="en-US" dirty="0"/>
              <a:t>Graphs, tables, etc.</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5" name="Image 4" descr="Une image contenant texte, Tracé, ligne, Police&#10;&#10;Description générée automatiquement">
            <a:extLst>
              <a:ext uri="{FF2B5EF4-FFF2-40B4-BE49-F238E27FC236}">
                <a16:creationId xmlns:a16="http://schemas.microsoft.com/office/drawing/2014/main" id="{D74EEE3D-D15A-FDEF-6EE4-C6FC998A09F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60552" y="2336938"/>
            <a:ext cx="5058305" cy="1994342"/>
          </a:xfrm>
          <a:prstGeom prst="rect">
            <a:avLst/>
          </a:prstGeom>
        </p:spPr>
      </p:pic>
      <p:sp>
        <p:nvSpPr>
          <p:cNvPr id="3" name="Espace réservé du numéro de diapositive 2">
            <a:extLst>
              <a:ext uri="{FF2B5EF4-FFF2-40B4-BE49-F238E27FC236}">
                <a16:creationId xmlns:a16="http://schemas.microsoft.com/office/drawing/2014/main" id="{7E0DECE3-2195-60BC-6CC3-70279CFA860E}"/>
              </a:ext>
            </a:extLst>
          </p:cNvPr>
          <p:cNvSpPr>
            <a:spLocks noGrp="1"/>
          </p:cNvSpPr>
          <p:nvPr>
            <p:ph type="sldNum" sz="quarter" idx="12"/>
          </p:nvPr>
        </p:nvSpPr>
        <p:spPr/>
        <p:txBody>
          <a:bodyPr/>
          <a:lstStyle/>
          <a:p>
            <a:fld id="{6F3806FF-9E51-4331-BB90-F49EFA1FA4FC}" type="slidenum">
              <a:rPr lang="fr-FR" smtClean="0"/>
              <a:t>55</a:t>
            </a:fld>
            <a:endParaRPr lang="fr-FR"/>
          </a:p>
        </p:txBody>
      </p:sp>
    </p:spTree>
    <p:extLst>
      <p:ext uri="{BB962C8B-B14F-4D97-AF65-F5344CB8AC3E}">
        <p14:creationId xmlns:p14="http://schemas.microsoft.com/office/powerpoint/2010/main" val="207546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BE1C-F38E-9E13-5030-0F0B2203B02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332588D-66E6-4E2C-F2B2-C07CDB2C26C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5C271D6-3F23-80EC-3E0C-2357494C79CB}"/>
              </a:ext>
            </a:extLst>
          </p:cNvPr>
          <p:cNvSpPr>
            <a:spLocks noGrp="1"/>
          </p:cNvSpPr>
          <p:nvPr>
            <p:ph type="title"/>
          </p:nvPr>
        </p:nvSpPr>
        <p:spPr>
          <a:xfrm>
            <a:off x="838200" y="365125"/>
            <a:ext cx="10515600" cy="1325563"/>
          </a:xfrm>
        </p:spPr>
        <p:txBody>
          <a:bodyPr/>
          <a:lstStyle/>
          <a:p>
            <a:r>
              <a:rPr lang="en-GB" dirty="0">
                <a:solidFill>
                  <a:srgbClr val="7F7DB0"/>
                </a:solidFill>
              </a:rPr>
              <a:t>R exercise (~</a:t>
            </a:r>
            <a:r>
              <a:rPr lang="en-GB">
                <a:solidFill>
                  <a:srgbClr val="7F7DB0"/>
                </a:solidFill>
              </a:rPr>
              <a:t>1 hour)</a:t>
            </a:r>
            <a:endParaRPr lang="en-GB" dirty="0">
              <a:solidFill>
                <a:srgbClr val="7F7DB0"/>
              </a:solidFill>
            </a:endParaRPr>
          </a:p>
        </p:txBody>
      </p:sp>
      <p:sp>
        <p:nvSpPr>
          <p:cNvPr id="2" name="Content Placeholder 5">
            <a:extLst>
              <a:ext uri="{FF2B5EF4-FFF2-40B4-BE49-F238E27FC236}">
                <a16:creationId xmlns:a16="http://schemas.microsoft.com/office/drawing/2014/main" id="{F8BB5167-4553-778D-6481-D2FE6437D4AE}"/>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FB00D7A5-EC01-7849-2350-1076950E76C5}"/>
              </a:ext>
            </a:extLst>
          </p:cNvPr>
          <p:cNvSpPr>
            <a:spLocks noGrp="1"/>
          </p:cNvSpPr>
          <p:nvPr>
            <p:ph type="sldNum" sz="quarter" idx="12"/>
          </p:nvPr>
        </p:nvSpPr>
        <p:spPr/>
        <p:txBody>
          <a:bodyPr/>
          <a:lstStyle/>
          <a:p>
            <a:fld id="{6F3806FF-9E51-4331-BB90-F49EFA1FA4FC}" type="slidenum">
              <a:rPr lang="fr-FR" smtClean="0"/>
              <a:t>56</a:t>
            </a:fld>
            <a:endParaRPr lang="fr-FR"/>
          </a:p>
        </p:txBody>
      </p:sp>
      <p:sp>
        <p:nvSpPr>
          <p:cNvPr id="8" name="Espace réservé du contenu 7">
            <a:extLst>
              <a:ext uri="{FF2B5EF4-FFF2-40B4-BE49-F238E27FC236}">
                <a16:creationId xmlns:a16="http://schemas.microsoft.com/office/drawing/2014/main" id="{71168A44-E836-F9AA-6304-D294419A83C0}"/>
              </a:ext>
            </a:extLst>
          </p:cNvPr>
          <p:cNvSpPr>
            <a:spLocks noGrp="1"/>
          </p:cNvSpPr>
          <p:nvPr>
            <p:ph idx="1"/>
          </p:nvPr>
        </p:nvSpPr>
        <p:spPr>
          <a:xfrm>
            <a:off x="4237383" y="1934184"/>
            <a:ext cx="10515600" cy="4351338"/>
          </a:xfrm>
        </p:spPr>
        <p:txBody>
          <a:bodyPr/>
          <a:lstStyle/>
          <a:p>
            <a:pPr marL="0" indent="0">
              <a:buNone/>
            </a:pPr>
            <a:r>
              <a:rPr lang="fr-FR" dirty="0"/>
              <a:t>Open the file C1E1.qmd in </a:t>
            </a:r>
            <a:r>
              <a:rPr lang="fr-FR" dirty="0" err="1"/>
              <a:t>RStudio</a:t>
            </a:r>
            <a:r>
              <a:rPr lang="fr-FR" dirty="0"/>
              <a:t> or Positron</a:t>
            </a:r>
          </a:p>
        </p:txBody>
      </p:sp>
      <p:pic>
        <p:nvPicPr>
          <p:cNvPr id="7" name="Image 6" descr="Un homme d'affaires tient une pancarte au-dessus de sa tête">
            <a:extLst>
              <a:ext uri="{FF2B5EF4-FFF2-40B4-BE49-F238E27FC236}">
                <a16:creationId xmlns:a16="http://schemas.microsoft.com/office/drawing/2014/main" id="{D5102A18-D233-01E5-F68C-6BF92AF581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1690688"/>
            <a:ext cx="3013552" cy="8042468"/>
          </a:xfrm>
          <a:prstGeom prst="rect">
            <a:avLst/>
          </a:prstGeom>
        </p:spPr>
      </p:pic>
      <p:sp>
        <p:nvSpPr>
          <p:cNvPr id="9" name="Espace réservé du contenu 7">
            <a:extLst>
              <a:ext uri="{FF2B5EF4-FFF2-40B4-BE49-F238E27FC236}">
                <a16:creationId xmlns:a16="http://schemas.microsoft.com/office/drawing/2014/main" id="{60BCE0CE-2B93-385D-0C3D-70D3FB861D93}"/>
              </a:ext>
            </a:extLst>
          </p:cNvPr>
          <p:cNvSpPr txBox="1">
            <a:spLocks/>
          </p:cNvSpPr>
          <p:nvPr/>
        </p:nvSpPr>
        <p:spPr>
          <a:xfrm>
            <a:off x="1244706" y="1934184"/>
            <a:ext cx="2363198" cy="1690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800" dirty="0"/>
              <a:t>TIME TO</a:t>
            </a:r>
          </a:p>
          <a:p>
            <a:pPr marL="0" indent="0" algn="ctr">
              <a:buFont typeface="Arial" panose="020B0604020202020204" pitchFamily="34" charset="0"/>
              <a:buNone/>
            </a:pPr>
            <a:r>
              <a:rPr lang="fr-FR" sz="4800" dirty="0"/>
              <a:t>WORK</a:t>
            </a:r>
          </a:p>
        </p:txBody>
      </p:sp>
    </p:spTree>
    <p:extLst>
      <p:ext uri="{BB962C8B-B14F-4D97-AF65-F5344CB8AC3E}">
        <p14:creationId xmlns:p14="http://schemas.microsoft.com/office/powerpoint/2010/main" val="28194168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6A1A-67A0-A875-B983-00679D985E9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7190803-22DA-EA8F-FFA3-BA368AE65F1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DA28828C-E5A9-27F2-B502-B719FBC832BD}"/>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a:t>
            </a:r>
            <a:r>
              <a:rPr lang="en-GB" dirty="0">
                <a:solidFill>
                  <a:srgbClr val="7F7DB0"/>
                </a:solidFill>
              </a:rPr>
              <a:t>analyses</a:t>
            </a:r>
            <a:r>
              <a:rPr lang="en-GB" dirty="0">
                <a:solidFill>
                  <a:schemeClr val="tx1">
                    <a:lumMod val="75000"/>
                    <a:lumOff val="25000"/>
                  </a:schemeClr>
                </a:solidFill>
              </a:rPr>
              <a:t>?</a:t>
            </a:r>
            <a:endParaRPr lang="en-GB" dirty="0">
              <a:solidFill>
                <a:srgbClr val="7F7DB0"/>
              </a:solidFill>
            </a:endParaRPr>
          </a:p>
        </p:txBody>
      </p:sp>
      <p:sp>
        <p:nvSpPr>
          <p:cNvPr id="2" name="Content Placeholder 5">
            <a:extLst>
              <a:ext uri="{FF2B5EF4-FFF2-40B4-BE49-F238E27FC236}">
                <a16:creationId xmlns:a16="http://schemas.microsoft.com/office/drawing/2014/main" id="{6E554E50-C44D-8B2D-FED4-222AFC774BE6}"/>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474A53DF-9E5B-DC4A-96E3-3D2AF6044E3E}"/>
              </a:ext>
            </a:extLst>
          </p:cNvPr>
          <p:cNvSpPr>
            <a:spLocks noGrp="1"/>
          </p:cNvSpPr>
          <p:nvPr>
            <p:ph type="sldNum" sz="quarter" idx="12"/>
          </p:nvPr>
        </p:nvSpPr>
        <p:spPr/>
        <p:txBody>
          <a:bodyPr/>
          <a:lstStyle/>
          <a:p>
            <a:fld id="{6F3806FF-9E51-4331-BB90-F49EFA1FA4FC}" type="slidenum">
              <a:rPr lang="fr-FR" smtClean="0"/>
              <a:t>57</a:t>
            </a:fld>
            <a:endParaRPr lang="fr-FR"/>
          </a:p>
        </p:txBody>
      </p:sp>
      <p:sp>
        <p:nvSpPr>
          <p:cNvPr id="7" name="Espace réservé du contenu 6">
            <a:extLst>
              <a:ext uri="{FF2B5EF4-FFF2-40B4-BE49-F238E27FC236}">
                <a16:creationId xmlns:a16="http://schemas.microsoft.com/office/drawing/2014/main" id="{FFBEFC67-0DB3-156F-CBC9-02F865EB25AE}"/>
              </a:ext>
            </a:extLst>
          </p:cNvPr>
          <p:cNvSpPr>
            <a:spLocks noGrp="1"/>
          </p:cNvSpPr>
          <p:nvPr>
            <p:ph idx="1"/>
          </p:nvPr>
        </p:nvSpPr>
        <p:spPr>
          <a:xfrm>
            <a:off x="838200" y="1825625"/>
            <a:ext cx="10515600" cy="4801317"/>
          </a:xfrm>
        </p:spPr>
        <p:txBody>
          <a:bodyPr>
            <a:normAutofit/>
          </a:bodyPr>
          <a:lstStyle/>
          <a:p>
            <a:r>
              <a:rPr lang="fr-FR" dirty="0"/>
              <a:t>Descriptive</a:t>
            </a:r>
          </a:p>
          <a:p>
            <a:pPr lvl="1"/>
            <a:r>
              <a:rPr lang="fr-FR" dirty="0" err="1"/>
              <a:t>It’s</a:t>
            </a:r>
            <a:r>
              <a:rPr lang="fr-FR" dirty="0"/>
              <a:t> a </a:t>
            </a:r>
            <a:r>
              <a:rPr lang="fr-FR" dirty="0" err="1"/>
              <a:t>requirement</a:t>
            </a:r>
            <a:r>
              <a:rPr lang="fr-FR" dirty="0"/>
              <a:t>, </a:t>
            </a:r>
            <a:r>
              <a:rPr lang="fr-FR" dirty="0" err="1"/>
              <a:t>always</a:t>
            </a:r>
            <a:r>
              <a:rPr lang="fr-FR" dirty="0"/>
              <a:t> </a:t>
            </a:r>
            <a:r>
              <a:rPr lang="fr-FR" dirty="0" err="1"/>
              <a:t>describe</a:t>
            </a:r>
            <a:r>
              <a:rPr lang="fr-FR" dirty="0"/>
              <a:t> </a:t>
            </a:r>
            <a:r>
              <a:rPr lang="fr-FR" dirty="0" err="1"/>
              <a:t>your</a:t>
            </a:r>
            <a:r>
              <a:rPr lang="fr-FR" dirty="0"/>
              <a:t> data</a:t>
            </a:r>
          </a:p>
          <a:p>
            <a:pPr lvl="1"/>
            <a:r>
              <a:rPr lang="fr-FR" dirty="0"/>
              <a:t>This </a:t>
            </a:r>
            <a:r>
              <a:rPr lang="fr-FR" dirty="0" err="1"/>
              <a:t>is</a:t>
            </a:r>
            <a:r>
              <a:rPr lang="fr-FR" dirty="0"/>
              <a:t> </a:t>
            </a:r>
            <a:r>
              <a:rPr lang="fr-FR" dirty="0" err="1"/>
              <a:t>useful</a:t>
            </a:r>
            <a:r>
              <a:rPr lang="fr-FR" dirty="0"/>
              <a:t> </a:t>
            </a:r>
            <a:r>
              <a:rPr lang="fr-FR" dirty="0" err="1"/>
              <a:t>both</a:t>
            </a:r>
            <a:r>
              <a:rPr lang="fr-FR" dirty="0"/>
              <a:t> for the </a:t>
            </a:r>
            <a:r>
              <a:rPr lang="fr-FR" dirty="0" err="1"/>
              <a:t>decision</a:t>
            </a:r>
            <a:r>
              <a:rPr lang="fr-FR" dirty="0"/>
              <a:t> maker to </a:t>
            </a:r>
            <a:r>
              <a:rPr lang="fr-FR" dirty="0" err="1"/>
              <a:t>understand</a:t>
            </a:r>
            <a:r>
              <a:rPr lang="fr-FR" dirty="0"/>
              <a:t> </a:t>
            </a:r>
            <a:r>
              <a:rPr lang="fr-FR" dirty="0" err="1"/>
              <a:t>your</a:t>
            </a:r>
            <a:r>
              <a:rPr lang="fr-FR" dirty="0"/>
              <a:t> data, but </a:t>
            </a:r>
            <a:r>
              <a:rPr lang="fr-FR" dirty="0" err="1"/>
              <a:t>especially</a:t>
            </a:r>
            <a:r>
              <a:rPr lang="fr-FR" dirty="0"/>
              <a:t> for </a:t>
            </a:r>
            <a:r>
              <a:rPr lang="fr-FR" dirty="0" err="1">
                <a:solidFill>
                  <a:srgbClr val="7F7DB0"/>
                </a:solidFill>
              </a:rPr>
              <a:t>you</a:t>
            </a:r>
            <a:endParaRPr lang="fr-FR" dirty="0">
              <a:solidFill>
                <a:srgbClr val="7F7DB0"/>
              </a:solidFill>
            </a:endParaRPr>
          </a:p>
          <a:p>
            <a:r>
              <a:rPr lang="fr-FR" dirty="0" err="1"/>
              <a:t>Exploratory</a:t>
            </a:r>
            <a:endParaRPr lang="fr-FR" dirty="0"/>
          </a:p>
          <a:p>
            <a:pPr lvl="1"/>
            <a:r>
              <a:rPr lang="fr-FR" dirty="0" err="1"/>
              <a:t>Everything</a:t>
            </a:r>
            <a:r>
              <a:rPr lang="fr-FR" dirty="0"/>
              <a:t> </a:t>
            </a:r>
            <a:r>
              <a:rPr lang="fr-FR" dirty="0" err="1"/>
              <a:t>you</a:t>
            </a:r>
            <a:r>
              <a:rPr lang="fr-FR" dirty="0"/>
              <a:t> do can </a:t>
            </a:r>
            <a:r>
              <a:rPr lang="fr-FR" dirty="0" err="1"/>
              <a:t>be</a:t>
            </a:r>
            <a:r>
              <a:rPr lang="fr-FR" dirty="0"/>
              <a:t> </a:t>
            </a:r>
            <a:r>
              <a:rPr lang="fr-FR" dirty="0" err="1"/>
              <a:t>exploratory</a:t>
            </a:r>
            <a:r>
              <a:rPr lang="fr-FR" dirty="0"/>
              <a:t> (</a:t>
            </a:r>
            <a:r>
              <a:rPr lang="fr-FR" dirty="0" err="1"/>
              <a:t>it’s</a:t>
            </a:r>
            <a:r>
              <a:rPr lang="fr-FR" dirty="0"/>
              <a:t> an attitude, more </a:t>
            </a:r>
            <a:r>
              <a:rPr lang="fr-FR" dirty="0" err="1"/>
              <a:t>than</a:t>
            </a:r>
            <a:r>
              <a:rPr lang="fr-FR" dirty="0"/>
              <a:t> a set of techniques)</a:t>
            </a:r>
          </a:p>
          <a:p>
            <a:pPr lvl="1"/>
            <a:r>
              <a:rPr lang="fr-FR" dirty="0" err="1"/>
              <a:t>Dimensionality</a:t>
            </a:r>
            <a:r>
              <a:rPr lang="fr-FR" dirty="0"/>
              <a:t> </a:t>
            </a:r>
            <a:r>
              <a:rPr lang="fr-FR" dirty="0" err="1"/>
              <a:t>reduction</a:t>
            </a:r>
            <a:r>
              <a:rPr lang="fr-FR" dirty="0"/>
              <a:t> techniques (principal components </a:t>
            </a:r>
            <a:r>
              <a:rPr lang="fr-FR" dirty="0" err="1"/>
              <a:t>analysis</a:t>
            </a:r>
            <a:r>
              <a:rPr lang="fr-FR" dirty="0"/>
              <a:t>, multiple </a:t>
            </a:r>
            <a:r>
              <a:rPr lang="fr-FR" dirty="0" err="1"/>
              <a:t>correspondence</a:t>
            </a:r>
            <a:r>
              <a:rPr lang="fr-FR" dirty="0"/>
              <a:t> </a:t>
            </a:r>
            <a:r>
              <a:rPr lang="fr-FR" dirty="0" err="1"/>
              <a:t>analysis</a:t>
            </a:r>
            <a:r>
              <a:rPr lang="fr-FR" dirty="0"/>
              <a:t>…) </a:t>
            </a:r>
            <a:r>
              <a:rPr lang="fr-FR" dirty="0" err="1"/>
              <a:t>allow</a:t>
            </a:r>
            <a:r>
              <a:rPr lang="fr-FR" dirty="0"/>
              <a:t> </a:t>
            </a:r>
            <a:r>
              <a:rPr lang="fr-FR" dirty="0" err="1"/>
              <a:t>you</a:t>
            </a:r>
            <a:r>
              <a:rPr lang="fr-FR" dirty="0"/>
              <a:t> to </a:t>
            </a:r>
            <a:r>
              <a:rPr lang="fr-FR" dirty="0" err="1"/>
              <a:t>find</a:t>
            </a:r>
            <a:r>
              <a:rPr lang="fr-FR" dirty="0"/>
              <a:t> latent </a:t>
            </a:r>
            <a:r>
              <a:rPr lang="fr-FR" dirty="0" err="1"/>
              <a:t>factors</a:t>
            </a:r>
            <a:r>
              <a:rPr lang="fr-FR" dirty="0"/>
              <a:t> (~</a:t>
            </a:r>
            <a:r>
              <a:rPr lang="fr-FR" dirty="0" err="1"/>
              <a:t>underlying</a:t>
            </a:r>
            <a:r>
              <a:rPr lang="fr-FR" dirty="0"/>
              <a:t> variables) </a:t>
            </a:r>
            <a:r>
              <a:rPr lang="fr-FR" dirty="0" err="1"/>
              <a:t>from</a:t>
            </a:r>
            <a:r>
              <a:rPr lang="fr-FR" dirty="0"/>
              <a:t> </a:t>
            </a:r>
            <a:r>
              <a:rPr lang="fr-FR" dirty="0" err="1"/>
              <a:t>what</a:t>
            </a:r>
            <a:r>
              <a:rPr lang="fr-FR" dirty="0"/>
              <a:t> </a:t>
            </a:r>
            <a:r>
              <a:rPr lang="fr-FR" dirty="0" err="1"/>
              <a:t>you</a:t>
            </a:r>
            <a:r>
              <a:rPr lang="fr-FR" dirty="0"/>
              <a:t> have</a:t>
            </a:r>
          </a:p>
          <a:p>
            <a:r>
              <a:rPr lang="fr-FR" dirty="0" err="1"/>
              <a:t>Modelling</a:t>
            </a:r>
            <a:endParaRPr lang="fr-FR" dirty="0"/>
          </a:p>
          <a:p>
            <a:pPr lvl="1"/>
            <a:r>
              <a:rPr lang="fr-FR" dirty="0" err="1"/>
              <a:t>See</a:t>
            </a:r>
            <a:r>
              <a:rPr lang="fr-FR" dirty="0"/>
              <a:t> </a:t>
            </a:r>
            <a:r>
              <a:rPr lang="fr-FR" dirty="0" err="1"/>
              <a:t>next</a:t>
            </a:r>
            <a:r>
              <a:rPr lang="fr-FR" dirty="0"/>
              <a:t> slides</a:t>
            </a:r>
          </a:p>
        </p:txBody>
      </p:sp>
    </p:spTree>
    <p:extLst>
      <p:ext uri="{BB962C8B-B14F-4D97-AF65-F5344CB8AC3E}">
        <p14:creationId xmlns:p14="http://schemas.microsoft.com/office/powerpoint/2010/main" val="12845060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AB60C-44E9-FF9A-60E7-0E6D9DAA391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1104087-E720-EE1B-968E-23B6A5B2EF3F}"/>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FA5274E1-B019-5376-360C-D4054F1C9D3C}"/>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a:t>
            </a:r>
            <a:r>
              <a:rPr lang="en-GB" dirty="0">
                <a:solidFill>
                  <a:srgbClr val="7F7DB0"/>
                </a:solidFill>
              </a:rPr>
              <a:t>models</a:t>
            </a:r>
            <a:r>
              <a:rPr lang="en-GB" dirty="0">
                <a:solidFill>
                  <a:schemeClr val="tx1">
                    <a:lumMod val="75000"/>
                    <a:lumOff val="25000"/>
                  </a:schemeClr>
                </a:solidFill>
              </a:rPr>
              <a:t>?</a:t>
            </a:r>
            <a:endParaRPr lang="en-GB" dirty="0">
              <a:solidFill>
                <a:srgbClr val="7F7DB0"/>
              </a:solidFill>
            </a:endParaRPr>
          </a:p>
        </p:txBody>
      </p:sp>
      <p:sp>
        <p:nvSpPr>
          <p:cNvPr id="2" name="Content Placeholder 5">
            <a:extLst>
              <a:ext uri="{FF2B5EF4-FFF2-40B4-BE49-F238E27FC236}">
                <a16:creationId xmlns:a16="http://schemas.microsoft.com/office/drawing/2014/main" id="{719A7E77-1E88-92BF-EC50-3C46AFBD5FBC}"/>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12" name="Content Placeholder 5">
            <a:extLst>
              <a:ext uri="{FF2B5EF4-FFF2-40B4-BE49-F238E27FC236}">
                <a16:creationId xmlns:a16="http://schemas.microsoft.com/office/drawing/2014/main" id="{D8656E9B-A443-C937-CF53-BAE1164BCC5D}"/>
              </a:ext>
            </a:extLst>
          </p:cNvPr>
          <p:cNvSpPr>
            <a:spLocks noGrp="1"/>
          </p:cNvSpPr>
          <p:nvPr>
            <p:ph idx="1"/>
          </p:nvPr>
        </p:nvSpPr>
        <p:spPr>
          <a:xfrm>
            <a:off x="838199" y="1781784"/>
            <a:ext cx="7077635" cy="512842"/>
          </a:xfrm>
        </p:spPr>
        <p:txBody>
          <a:bodyPr>
            <a:normAutofit/>
          </a:bodyPr>
          <a:lstStyle/>
          <a:p>
            <a:pPr marL="0" indent="0">
              <a:buNone/>
            </a:pPr>
            <a:r>
              <a:rPr lang="en-US" dirty="0"/>
              <a:t>The </a:t>
            </a:r>
            <a:r>
              <a:rPr lang="en-US" b="1" dirty="0"/>
              <a:t>Interpretability vs. flexibility tradeoff</a:t>
            </a:r>
          </a:p>
        </p:txBody>
      </p:sp>
      <p:sp>
        <p:nvSpPr>
          <p:cNvPr id="3" name="Espace réservé du numéro de diapositive 2">
            <a:extLst>
              <a:ext uri="{FF2B5EF4-FFF2-40B4-BE49-F238E27FC236}">
                <a16:creationId xmlns:a16="http://schemas.microsoft.com/office/drawing/2014/main" id="{FF672AE3-20CF-6CAD-3BAF-5D632726F90A}"/>
              </a:ext>
            </a:extLst>
          </p:cNvPr>
          <p:cNvSpPr>
            <a:spLocks noGrp="1"/>
          </p:cNvSpPr>
          <p:nvPr>
            <p:ph type="sldNum" sz="quarter" idx="12"/>
          </p:nvPr>
        </p:nvSpPr>
        <p:spPr/>
        <p:txBody>
          <a:bodyPr/>
          <a:lstStyle/>
          <a:p>
            <a:fld id="{6F3806FF-9E51-4331-BB90-F49EFA1FA4FC}" type="slidenum">
              <a:rPr lang="fr-FR" smtClean="0"/>
              <a:t>58</a:t>
            </a:fld>
            <a:endParaRPr lang="fr-FR"/>
          </a:p>
        </p:txBody>
      </p:sp>
      <p:sp>
        <p:nvSpPr>
          <p:cNvPr id="5" name="Content Placeholder 5">
            <a:extLst>
              <a:ext uri="{FF2B5EF4-FFF2-40B4-BE49-F238E27FC236}">
                <a16:creationId xmlns:a16="http://schemas.microsoft.com/office/drawing/2014/main" id="{232B0B2D-6FBA-28D0-AA50-68A23F64CA71}"/>
              </a:ext>
            </a:extLst>
          </p:cNvPr>
          <p:cNvSpPr txBox="1">
            <a:spLocks/>
          </p:cNvSpPr>
          <p:nvPr/>
        </p:nvSpPr>
        <p:spPr>
          <a:xfrm>
            <a:off x="1337967" y="2538122"/>
            <a:ext cx="5769634" cy="5128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3600" dirty="0"/>
              <a:t>¿</a:t>
            </a:r>
            <a:r>
              <a:rPr lang="en-US" sz="3600" dirty="0" err="1"/>
              <a:t>Qué</a:t>
            </a:r>
            <a:r>
              <a:rPr lang="en-US" sz="3600" dirty="0"/>
              <a:t> es?</a:t>
            </a:r>
          </a:p>
        </p:txBody>
      </p:sp>
    </p:spTree>
    <p:extLst>
      <p:ext uri="{BB962C8B-B14F-4D97-AF65-F5344CB8AC3E}">
        <p14:creationId xmlns:p14="http://schemas.microsoft.com/office/powerpoint/2010/main" val="368711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a:t>
            </a:r>
            <a:r>
              <a:rPr lang="en-GB" dirty="0">
                <a:solidFill>
                  <a:srgbClr val="7F7DB0"/>
                </a:solidFill>
              </a:rPr>
              <a:t>models</a:t>
            </a:r>
            <a:r>
              <a:rPr lang="en-GB" dirty="0">
                <a:solidFill>
                  <a:schemeClr val="tx1">
                    <a:lumMod val="75000"/>
                    <a:lumOff val="25000"/>
                  </a:schemeClr>
                </a:solidFill>
              </a:rPr>
              <a:t>?</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11" name="Image 10" descr="Une image contenant texte, capture d’écran, Police, ligne&#10;&#10;Description générée automatiquement">
            <a:extLst>
              <a:ext uri="{FF2B5EF4-FFF2-40B4-BE49-F238E27FC236}">
                <a16:creationId xmlns:a16="http://schemas.microsoft.com/office/drawing/2014/main" id="{6986930D-E316-5433-AD43-C978A536922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3752" y="2424746"/>
            <a:ext cx="5553075" cy="3476625"/>
          </a:xfrm>
          <a:prstGeom prst="rect">
            <a:avLst/>
          </a:prstGeom>
        </p:spPr>
      </p:pic>
      <p:sp>
        <p:nvSpPr>
          <p:cNvPr id="12" name="Content Placeholder 5">
            <a:extLst>
              <a:ext uri="{FF2B5EF4-FFF2-40B4-BE49-F238E27FC236}">
                <a16:creationId xmlns:a16="http://schemas.microsoft.com/office/drawing/2014/main" id="{39E395A2-A559-2210-58D7-751828AF5333}"/>
              </a:ext>
            </a:extLst>
          </p:cNvPr>
          <p:cNvSpPr>
            <a:spLocks noGrp="1"/>
          </p:cNvSpPr>
          <p:nvPr>
            <p:ph idx="1"/>
          </p:nvPr>
        </p:nvSpPr>
        <p:spPr>
          <a:xfrm>
            <a:off x="838200" y="1781784"/>
            <a:ext cx="5769634" cy="512842"/>
          </a:xfrm>
        </p:spPr>
        <p:txBody>
          <a:bodyPr>
            <a:normAutofit/>
          </a:bodyPr>
          <a:lstStyle/>
          <a:p>
            <a:pPr marL="0" indent="0">
              <a:buNone/>
            </a:pPr>
            <a:r>
              <a:rPr lang="en-US" dirty="0"/>
              <a:t>Interpretability vs. flexibility tradeoff</a:t>
            </a:r>
          </a:p>
        </p:txBody>
      </p:sp>
      <p:sp>
        <p:nvSpPr>
          <p:cNvPr id="15" name="Content Placeholder 5">
            <a:extLst>
              <a:ext uri="{FF2B5EF4-FFF2-40B4-BE49-F238E27FC236}">
                <a16:creationId xmlns:a16="http://schemas.microsoft.com/office/drawing/2014/main" id="{91A12610-8120-C3AF-FA06-BAD03524EDA9}"/>
              </a:ext>
            </a:extLst>
          </p:cNvPr>
          <p:cNvSpPr txBox="1">
            <a:spLocks/>
          </p:cNvSpPr>
          <p:nvPr/>
        </p:nvSpPr>
        <p:spPr>
          <a:xfrm>
            <a:off x="838200" y="6036233"/>
            <a:ext cx="5769634" cy="5128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From James GM. 2013. Introduction to statistical learning.</a:t>
            </a:r>
          </a:p>
        </p:txBody>
      </p:sp>
      <p:sp>
        <p:nvSpPr>
          <p:cNvPr id="16" name="Content Placeholder 5">
            <a:extLst>
              <a:ext uri="{FF2B5EF4-FFF2-40B4-BE49-F238E27FC236}">
                <a16:creationId xmlns:a16="http://schemas.microsoft.com/office/drawing/2014/main" id="{05B77629-1E33-4027-BA57-80D90FBCDB19}"/>
              </a:ext>
            </a:extLst>
          </p:cNvPr>
          <p:cNvSpPr txBox="1">
            <a:spLocks/>
          </p:cNvSpPr>
          <p:nvPr/>
        </p:nvSpPr>
        <p:spPr>
          <a:xfrm>
            <a:off x="6356827" y="2294626"/>
            <a:ext cx="5451865" cy="41982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Decision makers want to know </a:t>
            </a:r>
            <a:r>
              <a:rPr lang="en-US" dirty="0">
                <a:solidFill>
                  <a:srgbClr val="7F7DB0"/>
                </a:solidFill>
              </a:rPr>
              <a:t>why you are getting the results you have</a:t>
            </a:r>
          </a:p>
          <a:p>
            <a:r>
              <a:rPr lang="en-US" dirty="0"/>
              <a:t>More flexible models, though more accurate, may be </a:t>
            </a:r>
            <a:r>
              <a:rPr lang="en-US" dirty="0">
                <a:solidFill>
                  <a:srgbClr val="7F7DB0"/>
                </a:solidFill>
              </a:rPr>
              <a:t>less valued</a:t>
            </a:r>
            <a:r>
              <a:rPr lang="en-US" dirty="0"/>
              <a:t> because they are </a:t>
            </a:r>
            <a:r>
              <a:rPr lang="en-US" dirty="0">
                <a:solidFill>
                  <a:srgbClr val="7F7DB0"/>
                </a:solidFill>
              </a:rPr>
              <a:t>hard to understand</a:t>
            </a:r>
          </a:p>
          <a:p>
            <a:r>
              <a:rPr lang="en-US" dirty="0"/>
              <a:t>Sometimes, people just want coefficients from a regression model, or a single decision tree</a:t>
            </a:r>
            <a:endParaRPr lang="en-US" dirty="0">
              <a:solidFill>
                <a:srgbClr val="7F7DB0"/>
              </a:solidFill>
            </a:endParaRPr>
          </a:p>
          <a:p>
            <a:endParaRPr lang="en-US" dirty="0">
              <a:solidFill>
                <a:srgbClr val="7F7DB0"/>
              </a:solidFill>
            </a:endParaRPr>
          </a:p>
        </p:txBody>
      </p:sp>
      <p:sp>
        <p:nvSpPr>
          <p:cNvPr id="3" name="Espace réservé du numéro de diapositive 2">
            <a:extLst>
              <a:ext uri="{FF2B5EF4-FFF2-40B4-BE49-F238E27FC236}">
                <a16:creationId xmlns:a16="http://schemas.microsoft.com/office/drawing/2014/main" id="{2BF68D08-759D-BB0A-10F4-4BDD0F872483}"/>
              </a:ext>
            </a:extLst>
          </p:cNvPr>
          <p:cNvSpPr>
            <a:spLocks noGrp="1"/>
          </p:cNvSpPr>
          <p:nvPr>
            <p:ph type="sldNum" sz="quarter" idx="12"/>
          </p:nvPr>
        </p:nvSpPr>
        <p:spPr/>
        <p:txBody>
          <a:bodyPr/>
          <a:lstStyle/>
          <a:p>
            <a:fld id="{6F3806FF-9E51-4331-BB90-F49EFA1FA4FC}" type="slidenum">
              <a:rPr lang="fr-FR" smtClean="0"/>
              <a:t>59</a:t>
            </a:fld>
            <a:endParaRPr lang="fr-FR"/>
          </a:p>
        </p:txBody>
      </p:sp>
    </p:spTree>
    <p:extLst>
      <p:ext uri="{BB962C8B-B14F-4D97-AF65-F5344CB8AC3E}">
        <p14:creationId xmlns:p14="http://schemas.microsoft.com/office/powerpoint/2010/main" val="149574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5" grpId="0"/>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models, but </a:t>
            </a:r>
            <a:r>
              <a:rPr lang="en-GB" dirty="0">
                <a:solidFill>
                  <a:srgbClr val="7F7DB0"/>
                </a:solidFill>
              </a:rPr>
              <a:t>for my data</a:t>
            </a:r>
            <a:r>
              <a:rPr lang="en-GB" dirty="0">
                <a:solidFill>
                  <a:schemeClr val="tx1">
                    <a:lumMod val="75000"/>
                    <a:lumOff val="25000"/>
                  </a:schemeClr>
                </a:solidFill>
              </a:rPr>
              <a:t>? (1)</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2872" cy="4929735"/>
          </a:xfrm>
        </p:spPr>
        <p:txBody>
          <a:bodyPr>
            <a:normAutofit/>
          </a:bodyPr>
          <a:lstStyle/>
          <a:p>
            <a:r>
              <a:rPr lang="en-US" dirty="0"/>
              <a:t>Always check the literature first, there may be specific estimation procedures to follow</a:t>
            </a:r>
          </a:p>
          <a:p>
            <a:r>
              <a:rPr lang="en-US" dirty="0"/>
              <a:t>In your research question, do you know what you have to estimate?</a:t>
            </a:r>
          </a:p>
          <a:p>
            <a:pPr lvl="1"/>
            <a:r>
              <a:rPr lang="en-US" dirty="0"/>
              <a:t>Yes, I have a dependent variable which I must predict/for which I must find associated factors </a:t>
            </a:r>
            <a:r>
              <a:rPr lang="en-US" dirty="0">
                <a:sym typeface="Wingdings" panose="05000000000000000000" pitchFamily="2" charset="2"/>
              </a:rPr>
              <a:t> </a:t>
            </a:r>
            <a:r>
              <a:rPr lang="en-US" dirty="0">
                <a:solidFill>
                  <a:srgbClr val="1891C3"/>
                </a:solidFill>
                <a:sym typeface="Wingdings" panose="05000000000000000000" pitchFamily="2" charset="2"/>
              </a:rPr>
              <a:t>Supervised methods </a:t>
            </a:r>
            <a:r>
              <a:rPr lang="en-US" dirty="0">
                <a:sym typeface="Wingdings" panose="05000000000000000000" pitchFamily="2" charset="2"/>
              </a:rPr>
              <a:t>(regressions, trees, </a:t>
            </a:r>
            <a:r>
              <a:rPr lang="en-US" dirty="0" err="1">
                <a:sym typeface="Wingdings" panose="05000000000000000000" pitchFamily="2" charset="2"/>
              </a:rPr>
              <a:t>kNN</a:t>
            </a:r>
            <a:r>
              <a:rPr lang="en-US" dirty="0">
                <a:sym typeface="Wingdings" panose="05000000000000000000" pitchFamily="2" charset="2"/>
              </a:rPr>
              <a:t>, etc.)</a:t>
            </a:r>
          </a:p>
          <a:p>
            <a:pPr lvl="2"/>
            <a:endParaRPr lang="en-US" dirty="0"/>
          </a:p>
        </p:txBody>
      </p:sp>
      <p:sp>
        <p:nvSpPr>
          <p:cNvPr id="3" name="Espace réservé du numéro de diapositive 2">
            <a:extLst>
              <a:ext uri="{FF2B5EF4-FFF2-40B4-BE49-F238E27FC236}">
                <a16:creationId xmlns:a16="http://schemas.microsoft.com/office/drawing/2014/main" id="{40C535C5-6DBE-7370-4BDF-70697E2DFCAB}"/>
              </a:ext>
            </a:extLst>
          </p:cNvPr>
          <p:cNvSpPr>
            <a:spLocks noGrp="1"/>
          </p:cNvSpPr>
          <p:nvPr>
            <p:ph type="sldNum" sz="quarter" idx="12"/>
          </p:nvPr>
        </p:nvSpPr>
        <p:spPr/>
        <p:txBody>
          <a:bodyPr/>
          <a:lstStyle/>
          <a:p>
            <a:fld id="{6F3806FF-9E51-4331-BB90-F49EFA1FA4FC}" type="slidenum">
              <a:rPr lang="fr-FR" smtClean="0"/>
              <a:t>60</a:t>
            </a:fld>
            <a:endParaRPr lang="fr-FR"/>
          </a:p>
        </p:txBody>
      </p:sp>
    </p:spTree>
    <p:extLst>
      <p:ext uri="{BB962C8B-B14F-4D97-AF65-F5344CB8AC3E}">
        <p14:creationId xmlns:p14="http://schemas.microsoft.com/office/powerpoint/2010/main" val="306752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Supervised</a:t>
            </a:r>
            <a:r>
              <a:rPr lang="en-GB" dirty="0">
                <a:solidFill>
                  <a:schemeClr val="tx1">
                    <a:lumMod val="75000"/>
                    <a:lumOff val="25000"/>
                  </a:schemeClr>
                </a:solidFill>
              </a:rPr>
              <a:t> learning</a:t>
            </a:r>
            <a:endParaRPr lang="en-GB" dirty="0">
              <a:solidFill>
                <a:srgbClr val="7F7DB0"/>
              </a:solidFill>
            </a:endParaRPr>
          </a:p>
        </p:txBody>
      </p:sp>
      <p:sp>
        <p:nvSpPr>
          <p:cNvPr id="15" name="Content Placeholder 5">
            <a:extLst>
              <a:ext uri="{FF2B5EF4-FFF2-40B4-BE49-F238E27FC236}">
                <a16:creationId xmlns:a16="http://schemas.microsoft.com/office/drawing/2014/main" id="{3EB7D726-0C55-2D3D-79B8-41B832662B4B}"/>
              </a:ext>
            </a:extLst>
          </p:cNvPr>
          <p:cNvSpPr>
            <a:spLocks noGrp="1"/>
          </p:cNvSpPr>
          <p:nvPr>
            <p:ph idx="1"/>
          </p:nvPr>
        </p:nvSpPr>
        <p:spPr>
          <a:xfrm>
            <a:off x="836400" y="1474493"/>
            <a:ext cx="10088869" cy="624987"/>
          </a:xfrm>
        </p:spPr>
        <p:txBody>
          <a:bodyPr>
            <a:normAutofit fontScale="85000" lnSpcReduction="10000"/>
          </a:bodyPr>
          <a:lstStyle/>
          <a:p>
            <a:pPr marL="0" indent="0">
              <a:buNone/>
            </a:pPr>
            <a:r>
              <a:rPr lang="en-US" u="sng" dirty="0"/>
              <a:t>Non-exhaustive</a:t>
            </a:r>
            <a:r>
              <a:rPr lang="en-US" dirty="0"/>
              <a:t> list of commonly used linear models, and when to use them</a:t>
            </a:r>
          </a:p>
        </p:txBody>
      </p:sp>
      <p:sp>
        <p:nvSpPr>
          <p:cNvPr id="16" name="Content Placeholder 5">
            <a:extLst>
              <a:ext uri="{FF2B5EF4-FFF2-40B4-BE49-F238E27FC236}">
                <a16:creationId xmlns:a16="http://schemas.microsoft.com/office/drawing/2014/main" id="{E25E6096-C7F5-8D24-7298-36C4D901CFD0}"/>
              </a:ext>
            </a:extLst>
          </p:cNvPr>
          <p:cNvSpPr txBox="1">
            <a:spLocks/>
          </p:cNvSpPr>
          <p:nvPr/>
        </p:nvSpPr>
        <p:spPr>
          <a:xfrm>
            <a:off x="533398" y="6294805"/>
            <a:ext cx="11250284" cy="624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Note: you may use some ML models for both regression and classification, and may be robust to some specifications of the dependent variable</a:t>
            </a:r>
          </a:p>
        </p:txBody>
      </p:sp>
      <p:sp>
        <p:nvSpPr>
          <p:cNvPr id="2" name="Espace réservé du numéro de diapositive 1">
            <a:extLst>
              <a:ext uri="{FF2B5EF4-FFF2-40B4-BE49-F238E27FC236}">
                <a16:creationId xmlns:a16="http://schemas.microsoft.com/office/drawing/2014/main" id="{B7A19496-D8A0-DC5E-D39E-B9C3737C1F7C}"/>
              </a:ext>
            </a:extLst>
          </p:cNvPr>
          <p:cNvSpPr>
            <a:spLocks noGrp="1"/>
          </p:cNvSpPr>
          <p:nvPr>
            <p:ph type="sldNum" sz="quarter" idx="12"/>
          </p:nvPr>
        </p:nvSpPr>
        <p:spPr/>
        <p:txBody>
          <a:bodyPr/>
          <a:lstStyle/>
          <a:p>
            <a:fld id="{6F3806FF-9E51-4331-BB90-F49EFA1FA4FC}" type="slidenum">
              <a:rPr lang="fr-FR" smtClean="0"/>
              <a:t>61</a:t>
            </a:fld>
            <a:endParaRPr lang="fr-FR"/>
          </a:p>
        </p:txBody>
      </p:sp>
      <p:sp>
        <p:nvSpPr>
          <p:cNvPr id="3" name="Ellipse 2">
            <a:extLst>
              <a:ext uri="{FF2B5EF4-FFF2-40B4-BE49-F238E27FC236}">
                <a16:creationId xmlns:a16="http://schemas.microsoft.com/office/drawing/2014/main" id="{123D133C-3A92-F7BC-A0B4-682B11063F26}"/>
              </a:ext>
            </a:extLst>
          </p:cNvPr>
          <p:cNvSpPr/>
          <p:nvPr/>
        </p:nvSpPr>
        <p:spPr>
          <a:xfrm>
            <a:off x="4684144" y="1886457"/>
            <a:ext cx="2129628" cy="416795"/>
          </a:xfrm>
          <a:prstGeom prst="ellipse">
            <a:avLst/>
          </a:prstGeom>
          <a:no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lumMod val="75000"/>
                    <a:lumOff val="25000"/>
                  </a:schemeClr>
                </a:solidFill>
              </a:rPr>
              <a:t>Dep</a:t>
            </a:r>
            <a:r>
              <a:rPr lang="fr-FR" dirty="0">
                <a:solidFill>
                  <a:schemeClr val="tx1">
                    <a:lumMod val="75000"/>
                    <a:lumOff val="25000"/>
                  </a:schemeClr>
                </a:solidFill>
              </a:rPr>
              <a:t>. variable</a:t>
            </a:r>
          </a:p>
        </p:txBody>
      </p:sp>
      <p:sp>
        <p:nvSpPr>
          <p:cNvPr id="7" name="TextBox 6">
            <a:extLst>
              <a:ext uri="{FF2B5EF4-FFF2-40B4-BE49-F238E27FC236}">
                <a16:creationId xmlns:a16="http://schemas.microsoft.com/office/drawing/2014/main" id="{B4B007FE-2DE7-665C-2ACB-EC72B4EE16EC}"/>
              </a:ext>
            </a:extLst>
          </p:cNvPr>
          <p:cNvSpPr txBox="1"/>
          <p:nvPr/>
        </p:nvSpPr>
        <p:spPr>
          <a:xfrm>
            <a:off x="4868088" y="2937353"/>
            <a:ext cx="1724162" cy="523220"/>
          </a:xfrm>
          <a:prstGeom prst="rect">
            <a:avLst/>
          </a:prstGeom>
          <a:noFill/>
        </p:spPr>
        <p:txBody>
          <a:bodyPr wrap="square" rtlCol="0">
            <a:spAutoFit/>
          </a:bodyPr>
          <a:lstStyle/>
          <a:p>
            <a:pPr algn="ctr"/>
            <a:r>
              <a:rPr lang="en-GB" sz="1400" dirty="0"/>
              <a:t>(i.e. is the data numerical?)</a:t>
            </a:r>
          </a:p>
        </p:txBody>
      </p:sp>
      <p:pic>
        <p:nvPicPr>
          <p:cNvPr id="8" name="Image 7">
            <a:extLst>
              <a:ext uri="{FF2B5EF4-FFF2-40B4-BE49-F238E27FC236}">
                <a16:creationId xmlns:a16="http://schemas.microsoft.com/office/drawing/2014/main" id="{04D97B57-6849-BC97-9364-C08F2A5A830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658" b="4627"/>
          <a:stretch>
            <a:fillRect/>
          </a:stretch>
        </p:blipFill>
        <p:spPr>
          <a:xfrm rot="20274929" flipH="1">
            <a:off x="545001" y="4267686"/>
            <a:ext cx="1995729" cy="451177"/>
          </a:xfrm>
          <a:prstGeom prst="rect">
            <a:avLst/>
          </a:prstGeom>
        </p:spPr>
      </p:pic>
      <p:pic>
        <p:nvPicPr>
          <p:cNvPr id="14" name="Image 13" descr="Une image contenant texte, capture d’écran, Police, Graphique&#10;&#10;Description générée automatiquement">
            <a:extLst>
              <a:ext uri="{FF2B5EF4-FFF2-40B4-BE49-F238E27FC236}">
                <a16:creationId xmlns:a16="http://schemas.microsoft.com/office/drawing/2014/main" id="{B22306CF-E539-1D4D-E70A-0CDEA0307A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643" y="1969549"/>
            <a:ext cx="8136384" cy="4215236"/>
          </a:xfrm>
          <a:prstGeom prst="rect">
            <a:avLst/>
          </a:prstGeom>
        </p:spPr>
      </p:pic>
      <p:sp>
        <p:nvSpPr>
          <p:cNvPr id="5" name="Rectangle 4">
            <a:extLst>
              <a:ext uri="{FF2B5EF4-FFF2-40B4-BE49-F238E27FC236}">
                <a16:creationId xmlns:a16="http://schemas.microsoft.com/office/drawing/2014/main" id="{3FB49F04-E8A5-4995-D661-986A5AE9B967}"/>
              </a:ext>
            </a:extLst>
          </p:cNvPr>
          <p:cNvSpPr/>
          <p:nvPr/>
        </p:nvSpPr>
        <p:spPr>
          <a:xfrm>
            <a:off x="6727371" y="3069771"/>
            <a:ext cx="3489649" cy="3225034"/>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é</a:t>
            </a:r>
          </a:p>
        </p:txBody>
      </p:sp>
      <p:sp>
        <p:nvSpPr>
          <p:cNvPr id="10" name="Rectangle 9">
            <a:extLst>
              <a:ext uri="{FF2B5EF4-FFF2-40B4-BE49-F238E27FC236}">
                <a16:creationId xmlns:a16="http://schemas.microsoft.com/office/drawing/2014/main" id="{899F9882-B658-31DA-087F-0E09468D2386}"/>
              </a:ext>
            </a:extLst>
          </p:cNvPr>
          <p:cNvSpPr/>
          <p:nvPr/>
        </p:nvSpPr>
        <p:spPr>
          <a:xfrm>
            <a:off x="5440515" y="3455275"/>
            <a:ext cx="2303469" cy="2777985"/>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79B273A-5F4F-B297-250E-DFD9C0F0187E}"/>
              </a:ext>
            </a:extLst>
          </p:cNvPr>
          <p:cNvSpPr/>
          <p:nvPr/>
        </p:nvSpPr>
        <p:spPr>
          <a:xfrm>
            <a:off x="4787584" y="5439747"/>
            <a:ext cx="2303469" cy="746859"/>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2B39866A-2121-5036-4998-9AF508745702}"/>
              </a:ext>
            </a:extLst>
          </p:cNvPr>
          <p:cNvSpPr/>
          <p:nvPr/>
        </p:nvSpPr>
        <p:spPr>
          <a:xfrm>
            <a:off x="836400" y="4945224"/>
            <a:ext cx="4614797" cy="1347760"/>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7A7E4447-4D0E-28D5-7626-8EFD41D21186}"/>
              </a:ext>
            </a:extLst>
          </p:cNvPr>
          <p:cNvSpPr/>
          <p:nvPr/>
        </p:nvSpPr>
        <p:spPr>
          <a:xfrm>
            <a:off x="568407" y="3909065"/>
            <a:ext cx="4554212" cy="1168417"/>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9C243A2D-028C-AA27-D266-1E1BE6D27913}"/>
              </a:ext>
            </a:extLst>
          </p:cNvPr>
          <p:cNvSpPr/>
          <p:nvPr/>
        </p:nvSpPr>
        <p:spPr>
          <a:xfrm>
            <a:off x="942392" y="3095756"/>
            <a:ext cx="4036536" cy="859340"/>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descr="Femme âgée avec les mains sur la taille">
            <a:extLst>
              <a:ext uri="{FF2B5EF4-FFF2-40B4-BE49-F238E27FC236}">
                <a16:creationId xmlns:a16="http://schemas.microsoft.com/office/drawing/2014/main" id="{47563ABB-FA30-61A2-1239-DB6948A2A22A}"/>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8587530">
            <a:off x="-43733" y="-140721"/>
            <a:ext cx="805971" cy="1029815"/>
          </a:xfrm>
          <a:prstGeom prst="rect">
            <a:avLst/>
          </a:prstGeom>
        </p:spPr>
      </p:pic>
    </p:spTree>
    <p:extLst>
      <p:ext uri="{BB962C8B-B14F-4D97-AF65-F5344CB8AC3E}">
        <p14:creationId xmlns:p14="http://schemas.microsoft.com/office/powerpoint/2010/main" val="258244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P spid="12" grpId="0" animBg="1"/>
      <p:bldP spid="13" grpId="0" animBg="1"/>
      <p:bldP spid="1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0F21-77A8-2E27-718F-52F74148393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75F79A7-0191-528E-D7D4-8BACEDC3D76B}"/>
              </a:ext>
            </a:extLst>
          </p:cNvPr>
          <p:cNvSpPr>
            <a:spLocks noGrp="1"/>
          </p:cNvSpPr>
          <p:nvPr>
            <p:ph type="title"/>
          </p:nvPr>
        </p:nvSpPr>
        <p:spPr>
          <a:xfrm>
            <a:off x="838200" y="365125"/>
            <a:ext cx="10515600" cy="1325563"/>
          </a:xfrm>
        </p:spPr>
        <p:txBody>
          <a:bodyPr/>
          <a:lstStyle/>
          <a:p>
            <a:r>
              <a:rPr lang="en-GB" dirty="0">
                <a:solidFill>
                  <a:srgbClr val="7F7DB0"/>
                </a:solidFill>
              </a:rPr>
              <a:t>Supervised</a:t>
            </a:r>
            <a:r>
              <a:rPr lang="en-GB" dirty="0">
                <a:solidFill>
                  <a:schemeClr val="tx1">
                    <a:lumMod val="75000"/>
                    <a:lumOff val="25000"/>
                  </a:schemeClr>
                </a:solidFill>
              </a:rPr>
              <a:t> learning</a:t>
            </a:r>
            <a:endParaRPr lang="en-GB" dirty="0">
              <a:solidFill>
                <a:srgbClr val="7F7DB0"/>
              </a:solidFill>
            </a:endParaRPr>
          </a:p>
        </p:txBody>
      </p:sp>
      <p:sp>
        <p:nvSpPr>
          <p:cNvPr id="15" name="Content Placeholder 5">
            <a:extLst>
              <a:ext uri="{FF2B5EF4-FFF2-40B4-BE49-F238E27FC236}">
                <a16:creationId xmlns:a16="http://schemas.microsoft.com/office/drawing/2014/main" id="{810312E5-A855-02A0-30D1-972B86BAD38C}"/>
              </a:ext>
            </a:extLst>
          </p:cNvPr>
          <p:cNvSpPr>
            <a:spLocks noGrp="1"/>
          </p:cNvSpPr>
          <p:nvPr>
            <p:ph idx="1"/>
          </p:nvPr>
        </p:nvSpPr>
        <p:spPr>
          <a:xfrm>
            <a:off x="836400" y="1474493"/>
            <a:ext cx="10088869" cy="624987"/>
          </a:xfrm>
        </p:spPr>
        <p:txBody>
          <a:bodyPr>
            <a:normAutofit fontScale="85000" lnSpcReduction="10000"/>
          </a:bodyPr>
          <a:lstStyle/>
          <a:p>
            <a:pPr marL="0" indent="0">
              <a:buNone/>
            </a:pPr>
            <a:r>
              <a:rPr lang="en-US" u="sng" dirty="0"/>
              <a:t>Non-exhaustive</a:t>
            </a:r>
            <a:r>
              <a:rPr lang="en-US" dirty="0"/>
              <a:t> list of commonly used linear models, and when to use them</a:t>
            </a:r>
          </a:p>
        </p:txBody>
      </p:sp>
      <p:sp>
        <p:nvSpPr>
          <p:cNvPr id="16" name="Content Placeholder 5">
            <a:extLst>
              <a:ext uri="{FF2B5EF4-FFF2-40B4-BE49-F238E27FC236}">
                <a16:creationId xmlns:a16="http://schemas.microsoft.com/office/drawing/2014/main" id="{5C469F15-FA38-1099-DDA2-EEBEB44EA66E}"/>
              </a:ext>
            </a:extLst>
          </p:cNvPr>
          <p:cNvSpPr txBox="1">
            <a:spLocks/>
          </p:cNvSpPr>
          <p:nvPr/>
        </p:nvSpPr>
        <p:spPr>
          <a:xfrm>
            <a:off x="533398" y="6294805"/>
            <a:ext cx="11250284" cy="624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Note: you may use some ML models for both regression and classification, and may be robust to some specifications of the dependent variable</a:t>
            </a:r>
          </a:p>
        </p:txBody>
      </p:sp>
      <p:sp>
        <p:nvSpPr>
          <p:cNvPr id="2" name="Espace réservé du numéro de diapositive 1">
            <a:extLst>
              <a:ext uri="{FF2B5EF4-FFF2-40B4-BE49-F238E27FC236}">
                <a16:creationId xmlns:a16="http://schemas.microsoft.com/office/drawing/2014/main" id="{44CD7B4B-EF5D-BD02-0F08-D3752B30DBAA}"/>
              </a:ext>
            </a:extLst>
          </p:cNvPr>
          <p:cNvSpPr>
            <a:spLocks noGrp="1"/>
          </p:cNvSpPr>
          <p:nvPr>
            <p:ph type="sldNum" sz="quarter" idx="12"/>
          </p:nvPr>
        </p:nvSpPr>
        <p:spPr/>
        <p:txBody>
          <a:bodyPr/>
          <a:lstStyle/>
          <a:p>
            <a:fld id="{6F3806FF-9E51-4331-BB90-F49EFA1FA4FC}" type="slidenum">
              <a:rPr lang="fr-FR" smtClean="0"/>
              <a:t>62</a:t>
            </a:fld>
            <a:endParaRPr lang="fr-FR"/>
          </a:p>
        </p:txBody>
      </p:sp>
      <p:sp>
        <p:nvSpPr>
          <p:cNvPr id="3" name="Ellipse 2">
            <a:extLst>
              <a:ext uri="{FF2B5EF4-FFF2-40B4-BE49-F238E27FC236}">
                <a16:creationId xmlns:a16="http://schemas.microsoft.com/office/drawing/2014/main" id="{D58DEB4C-651D-A7C0-0CCA-DC55BEDED1A0}"/>
              </a:ext>
            </a:extLst>
          </p:cNvPr>
          <p:cNvSpPr/>
          <p:nvPr/>
        </p:nvSpPr>
        <p:spPr>
          <a:xfrm>
            <a:off x="4684144" y="1886457"/>
            <a:ext cx="2129628" cy="416795"/>
          </a:xfrm>
          <a:prstGeom prst="ellipse">
            <a:avLst/>
          </a:prstGeom>
          <a:no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lumMod val="75000"/>
                    <a:lumOff val="25000"/>
                  </a:schemeClr>
                </a:solidFill>
              </a:rPr>
              <a:t>Dep</a:t>
            </a:r>
            <a:r>
              <a:rPr lang="fr-FR" dirty="0">
                <a:solidFill>
                  <a:schemeClr val="tx1">
                    <a:lumMod val="75000"/>
                    <a:lumOff val="25000"/>
                  </a:schemeClr>
                </a:solidFill>
              </a:rPr>
              <a:t>. variable</a:t>
            </a:r>
          </a:p>
        </p:txBody>
      </p:sp>
      <p:sp>
        <p:nvSpPr>
          <p:cNvPr id="7" name="TextBox 6">
            <a:extLst>
              <a:ext uri="{FF2B5EF4-FFF2-40B4-BE49-F238E27FC236}">
                <a16:creationId xmlns:a16="http://schemas.microsoft.com/office/drawing/2014/main" id="{7FF56E01-2D45-A6A5-5ECA-CA57F5BE654E}"/>
              </a:ext>
            </a:extLst>
          </p:cNvPr>
          <p:cNvSpPr txBox="1"/>
          <p:nvPr/>
        </p:nvSpPr>
        <p:spPr>
          <a:xfrm>
            <a:off x="4868088" y="2937353"/>
            <a:ext cx="1724162" cy="523220"/>
          </a:xfrm>
          <a:prstGeom prst="rect">
            <a:avLst/>
          </a:prstGeom>
          <a:noFill/>
        </p:spPr>
        <p:txBody>
          <a:bodyPr wrap="square" rtlCol="0">
            <a:spAutoFit/>
          </a:bodyPr>
          <a:lstStyle/>
          <a:p>
            <a:pPr algn="ctr"/>
            <a:r>
              <a:rPr lang="en-GB" sz="1400" dirty="0"/>
              <a:t>(i.e. is the data numerical?)</a:t>
            </a:r>
          </a:p>
        </p:txBody>
      </p:sp>
      <p:pic>
        <p:nvPicPr>
          <p:cNvPr id="8" name="Image 7">
            <a:extLst>
              <a:ext uri="{FF2B5EF4-FFF2-40B4-BE49-F238E27FC236}">
                <a16:creationId xmlns:a16="http://schemas.microsoft.com/office/drawing/2014/main" id="{A7A092D0-346C-4775-8879-AA5418D4ED3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658" b="4627"/>
          <a:stretch>
            <a:fillRect/>
          </a:stretch>
        </p:blipFill>
        <p:spPr>
          <a:xfrm rot="20274929" flipH="1">
            <a:off x="545001" y="4267686"/>
            <a:ext cx="1995729" cy="451177"/>
          </a:xfrm>
          <a:prstGeom prst="rect">
            <a:avLst/>
          </a:prstGeom>
        </p:spPr>
      </p:pic>
      <p:pic>
        <p:nvPicPr>
          <p:cNvPr id="14" name="Image 13" descr="Une image contenant texte, capture d’écran, Police, Graphique&#10;&#10;Description générée automatiquement">
            <a:extLst>
              <a:ext uri="{FF2B5EF4-FFF2-40B4-BE49-F238E27FC236}">
                <a16:creationId xmlns:a16="http://schemas.microsoft.com/office/drawing/2014/main" id="{69467270-103F-9B62-0BF6-68C17B98E9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643" y="1969549"/>
            <a:ext cx="8136384" cy="4215236"/>
          </a:xfrm>
          <a:prstGeom prst="rect">
            <a:avLst/>
          </a:prstGeom>
        </p:spPr>
      </p:pic>
      <p:pic>
        <p:nvPicPr>
          <p:cNvPr id="5" name="Image 4" descr="Femme âgée avec les mains sur la taille">
            <a:extLst>
              <a:ext uri="{FF2B5EF4-FFF2-40B4-BE49-F238E27FC236}">
                <a16:creationId xmlns:a16="http://schemas.microsoft.com/office/drawing/2014/main" id="{0F8B7EC7-F26D-6DF0-7942-8739E0D314CB}"/>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8587530">
            <a:off x="-43733" y="-140721"/>
            <a:ext cx="805971" cy="1029815"/>
          </a:xfrm>
          <a:prstGeom prst="rect">
            <a:avLst/>
          </a:prstGeom>
        </p:spPr>
      </p:pic>
    </p:spTree>
    <p:extLst>
      <p:ext uri="{BB962C8B-B14F-4D97-AF65-F5344CB8AC3E}">
        <p14:creationId xmlns:p14="http://schemas.microsoft.com/office/powerpoint/2010/main" val="31606538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Some </a:t>
            </a:r>
            <a:r>
              <a:rPr lang="en-GB" dirty="0">
                <a:solidFill>
                  <a:srgbClr val="7F7DB0"/>
                </a:solidFill>
              </a:rPr>
              <a:t>weird</a:t>
            </a:r>
            <a:r>
              <a:rPr lang="en-GB" dirty="0">
                <a:solidFill>
                  <a:schemeClr val="tx1">
                    <a:lumMod val="75000"/>
                    <a:lumOff val="25000"/>
                  </a:schemeClr>
                </a:solidFill>
              </a:rPr>
              <a:t> cases (1)</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6306" cy="4929735"/>
          </a:xfrm>
        </p:spPr>
        <p:txBody>
          <a:bodyPr>
            <a:normAutofit/>
          </a:bodyPr>
          <a:lstStyle/>
          <a:p>
            <a:r>
              <a:rPr lang="en-US" dirty="0"/>
              <a:t>Watch out for </a:t>
            </a:r>
            <a:r>
              <a:rPr lang="en-US" dirty="0">
                <a:solidFill>
                  <a:srgbClr val="1891C3"/>
                </a:solidFill>
              </a:rPr>
              <a:t>limited dependent variables:</a:t>
            </a:r>
          </a:p>
          <a:p>
            <a:pPr lvl="1"/>
            <a:r>
              <a:rPr lang="en-US" dirty="0"/>
              <a:t>Variables with limited range of values (e.g. scales from 1 to 5)</a:t>
            </a:r>
          </a:p>
          <a:p>
            <a:pPr lvl="2"/>
            <a:r>
              <a:rPr lang="en-US" dirty="0"/>
              <a:t>In this case, don’t use a linear regression model</a:t>
            </a:r>
          </a:p>
          <a:p>
            <a:pPr lvl="2"/>
            <a:r>
              <a:rPr lang="en-US" dirty="0"/>
              <a:t>Test ordered logit/probit models</a:t>
            </a:r>
          </a:p>
          <a:p>
            <a:pPr lvl="2"/>
            <a:r>
              <a:rPr lang="en-US" dirty="0"/>
              <a:t>Or multinomial logit/probit if ordered logit assumptions are violated</a:t>
            </a:r>
          </a:p>
          <a:p>
            <a:pPr lvl="1"/>
            <a:endParaRPr lang="en-US" dirty="0"/>
          </a:p>
          <a:p>
            <a:pPr lvl="1"/>
            <a:r>
              <a:rPr lang="en-US" dirty="0"/>
              <a:t>Censoring and truncation</a:t>
            </a:r>
          </a:p>
          <a:p>
            <a:pPr lvl="2"/>
            <a:r>
              <a:rPr lang="en-US" dirty="0"/>
              <a:t>Censoring: you observe some floor or ceiling values in your dependent variables (e.g. annual income variable coded as &gt;100,000€ when the true annual income is over this threshold).</a:t>
            </a:r>
          </a:p>
          <a:p>
            <a:pPr lvl="2"/>
            <a:r>
              <a:rPr lang="en-US" dirty="0"/>
              <a:t>Truncation: same as censoring, but the entire observation is missing from the data when the threshold is hit</a:t>
            </a:r>
          </a:p>
          <a:p>
            <a:endParaRPr lang="en-US" dirty="0"/>
          </a:p>
          <a:p>
            <a:pPr lvl="1"/>
            <a:endParaRPr lang="en-US" dirty="0"/>
          </a:p>
          <a:p>
            <a:pPr lvl="1"/>
            <a:endParaRPr lang="en-US" dirty="0"/>
          </a:p>
          <a:p>
            <a:pPr lvl="1"/>
            <a:endParaRPr lang="en-US" dirty="0"/>
          </a:p>
          <a:p>
            <a:pPr lvl="2"/>
            <a:endParaRPr lang="en-US" dirty="0"/>
          </a:p>
        </p:txBody>
      </p:sp>
      <p:sp>
        <p:nvSpPr>
          <p:cNvPr id="3" name="Espace réservé du numéro de diapositive 2">
            <a:extLst>
              <a:ext uri="{FF2B5EF4-FFF2-40B4-BE49-F238E27FC236}">
                <a16:creationId xmlns:a16="http://schemas.microsoft.com/office/drawing/2014/main" id="{34FD4F93-6880-6723-AD19-9118B39AC6FB}"/>
              </a:ext>
            </a:extLst>
          </p:cNvPr>
          <p:cNvSpPr>
            <a:spLocks noGrp="1"/>
          </p:cNvSpPr>
          <p:nvPr>
            <p:ph type="sldNum" sz="quarter" idx="12"/>
          </p:nvPr>
        </p:nvSpPr>
        <p:spPr/>
        <p:txBody>
          <a:bodyPr/>
          <a:lstStyle/>
          <a:p>
            <a:fld id="{6F3806FF-9E51-4331-BB90-F49EFA1FA4FC}" type="slidenum">
              <a:rPr lang="fr-FR" smtClean="0"/>
              <a:t>63</a:t>
            </a:fld>
            <a:endParaRPr lang="fr-FR"/>
          </a:p>
        </p:txBody>
      </p:sp>
    </p:spTree>
    <p:extLst>
      <p:ext uri="{BB962C8B-B14F-4D97-AF65-F5344CB8AC3E}">
        <p14:creationId xmlns:p14="http://schemas.microsoft.com/office/powerpoint/2010/main" val="38048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Some </a:t>
            </a:r>
            <a:r>
              <a:rPr lang="en-GB" dirty="0">
                <a:solidFill>
                  <a:srgbClr val="7F7DB0"/>
                </a:solidFill>
              </a:rPr>
              <a:t>weird</a:t>
            </a:r>
            <a:r>
              <a:rPr lang="en-GB" dirty="0">
                <a:solidFill>
                  <a:schemeClr val="tx1">
                    <a:lumMod val="75000"/>
                    <a:lumOff val="25000"/>
                  </a:schemeClr>
                </a:solidFill>
              </a:rPr>
              <a:t> cases (2)</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8" name="Content Placeholder 5">
            <a:extLst>
              <a:ext uri="{FF2B5EF4-FFF2-40B4-BE49-F238E27FC236}">
                <a16:creationId xmlns:a16="http://schemas.microsoft.com/office/drawing/2014/main" id="{767DA835-9C85-A761-4457-3ED6898507B3}"/>
              </a:ext>
            </a:extLst>
          </p:cNvPr>
          <p:cNvSpPr>
            <a:spLocks noGrp="1"/>
          </p:cNvSpPr>
          <p:nvPr>
            <p:ph idx="1"/>
          </p:nvPr>
        </p:nvSpPr>
        <p:spPr>
          <a:xfrm>
            <a:off x="838200" y="1781783"/>
            <a:ext cx="7712996" cy="4929735"/>
          </a:xfrm>
        </p:spPr>
        <p:txBody>
          <a:bodyPr>
            <a:normAutofit/>
          </a:bodyPr>
          <a:lstStyle/>
          <a:p>
            <a:r>
              <a:rPr lang="en-US" dirty="0"/>
              <a:t>You will encounter situations where you could have </a:t>
            </a:r>
            <a:r>
              <a:rPr lang="en-US" dirty="0">
                <a:solidFill>
                  <a:srgbClr val="7F7DB0"/>
                </a:solidFill>
              </a:rPr>
              <a:t>multiple candidate models</a:t>
            </a:r>
          </a:p>
          <a:p>
            <a:r>
              <a:rPr lang="en-US" dirty="0"/>
              <a:t>Example: length of stay in a hospital</a:t>
            </a:r>
          </a:p>
          <a:p>
            <a:pPr lvl="1"/>
            <a:r>
              <a:rPr lang="en-US" dirty="0"/>
              <a:t>You could model that with a (robust) linear regression…</a:t>
            </a:r>
          </a:p>
          <a:p>
            <a:pPr lvl="1"/>
            <a:r>
              <a:rPr lang="en-US" dirty="0"/>
              <a:t>But it’s strictly positive and discrete, so you could use a </a:t>
            </a:r>
            <a:r>
              <a:rPr lang="en-US" dirty="0" err="1"/>
              <a:t>poisson</a:t>
            </a:r>
            <a:r>
              <a:rPr lang="en-US" dirty="0"/>
              <a:t>/negative binomial regression</a:t>
            </a:r>
          </a:p>
          <a:p>
            <a:pPr lvl="1"/>
            <a:r>
              <a:rPr lang="en-US" dirty="0"/>
              <a:t>Zero-inflated, if you have a lot of zeroes…</a:t>
            </a:r>
          </a:p>
          <a:p>
            <a:pPr lvl="1"/>
            <a:r>
              <a:rPr lang="en-US" dirty="0"/>
              <a:t>Or consider it as time-to-event data, so use survival analyses methods (Accelerated Failure Time, Cox…)</a:t>
            </a:r>
          </a:p>
          <a:p>
            <a:pPr lvl="1"/>
            <a:endParaRPr lang="en-US" dirty="0"/>
          </a:p>
          <a:p>
            <a:pPr lvl="1"/>
            <a:endParaRPr lang="en-US" dirty="0"/>
          </a:p>
          <a:p>
            <a:pPr lvl="1"/>
            <a:endParaRPr lang="en-US" dirty="0"/>
          </a:p>
          <a:p>
            <a:pPr lvl="2"/>
            <a:endParaRPr lang="en-US" dirty="0"/>
          </a:p>
        </p:txBody>
      </p:sp>
      <p:sp>
        <p:nvSpPr>
          <p:cNvPr id="3" name="Espace réservé du numéro de diapositive 2">
            <a:extLst>
              <a:ext uri="{FF2B5EF4-FFF2-40B4-BE49-F238E27FC236}">
                <a16:creationId xmlns:a16="http://schemas.microsoft.com/office/drawing/2014/main" id="{0A6E1625-1139-C23E-9841-69E85A881FAA}"/>
              </a:ext>
            </a:extLst>
          </p:cNvPr>
          <p:cNvSpPr>
            <a:spLocks noGrp="1"/>
          </p:cNvSpPr>
          <p:nvPr>
            <p:ph type="sldNum" sz="quarter" idx="12"/>
          </p:nvPr>
        </p:nvSpPr>
        <p:spPr/>
        <p:txBody>
          <a:bodyPr/>
          <a:lstStyle/>
          <a:p>
            <a:fld id="{6F3806FF-9E51-4331-BB90-F49EFA1FA4FC}" type="slidenum">
              <a:rPr lang="fr-FR" smtClean="0"/>
              <a:t>64</a:t>
            </a:fld>
            <a:endParaRPr lang="fr-FR"/>
          </a:p>
        </p:txBody>
      </p:sp>
      <p:pic>
        <p:nvPicPr>
          <p:cNvPr id="7" name="Picture 6" descr="A person sitting at a desk with a computer&#10;&#10;Description automatically generated">
            <a:extLst>
              <a:ext uri="{FF2B5EF4-FFF2-40B4-BE49-F238E27FC236}">
                <a16:creationId xmlns:a16="http://schemas.microsoft.com/office/drawing/2014/main" id="{E0273C35-82A9-0303-9588-A2F2786BB459}"/>
              </a:ext>
            </a:extLst>
          </p:cNvPr>
          <p:cNvPicPr>
            <a:picLocks noChangeAspect="1"/>
          </p:cNvPicPr>
          <p:nvPr/>
        </p:nvPicPr>
        <p:blipFill>
          <a:blip r:embed="rId4">
            <a:extLst>
              <a:ext uri="{28A0092B-C50C-407E-A947-70E740481C1C}">
                <a14:useLocalDpi xmlns:a14="http://schemas.microsoft.com/office/drawing/2010/main" val="0"/>
              </a:ext>
            </a:extLst>
          </a:blip>
          <a:srcRect l="35685" b="9537"/>
          <a:stretch/>
        </p:blipFill>
        <p:spPr>
          <a:xfrm>
            <a:off x="8816009" y="1781783"/>
            <a:ext cx="2837052" cy="2660298"/>
          </a:xfrm>
          <a:prstGeom prst="rect">
            <a:avLst/>
          </a:prstGeom>
        </p:spPr>
      </p:pic>
      <p:sp>
        <p:nvSpPr>
          <p:cNvPr id="9" name="ZoneTexte 6">
            <a:extLst>
              <a:ext uri="{FF2B5EF4-FFF2-40B4-BE49-F238E27FC236}">
                <a16:creationId xmlns:a16="http://schemas.microsoft.com/office/drawing/2014/main" id="{49F8AB42-10C9-2859-238C-B7F4AE4F233D}"/>
              </a:ext>
            </a:extLst>
          </p:cNvPr>
          <p:cNvSpPr txBox="1"/>
          <p:nvPr/>
        </p:nvSpPr>
        <p:spPr>
          <a:xfrm>
            <a:off x="8816010" y="4472292"/>
            <a:ext cx="2837052" cy="523220"/>
          </a:xfrm>
          <a:prstGeom prst="rect">
            <a:avLst/>
          </a:prstGeom>
          <a:noFill/>
        </p:spPr>
        <p:txBody>
          <a:bodyPr wrap="square" rtlCol="0">
            <a:spAutoFit/>
          </a:bodyPr>
          <a:lstStyle/>
          <a:p>
            <a:pPr algn="ctr"/>
            <a:r>
              <a:rPr lang="en-GB" sz="1400" dirty="0">
                <a:solidFill>
                  <a:schemeClr val="bg2">
                    <a:lumMod val="50000"/>
                  </a:schemeClr>
                </a:solidFill>
                <a:latin typeface="Esteban" panose="020B0604020202020204" charset="0"/>
              </a:rPr>
              <a:t>POV: reviewer 2 about to nuke your whole career</a:t>
            </a:r>
          </a:p>
        </p:txBody>
      </p:sp>
    </p:spTree>
    <p:extLst>
      <p:ext uri="{BB962C8B-B14F-4D97-AF65-F5344CB8AC3E}">
        <p14:creationId xmlns:p14="http://schemas.microsoft.com/office/powerpoint/2010/main" val="80064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models, but </a:t>
            </a:r>
            <a:r>
              <a:rPr lang="en-GB" dirty="0">
                <a:solidFill>
                  <a:srgbClr val="7F7DB0"/>
                </a:solidFill>
              </a:rPr>
              <a:t>for my data</a:t>
            </a:r>
            <a:r>
              <a:rPr lang="en-GB" dirty="0">
                <a:solidFill>
                  <a:schemeClr val="tx1">
                    <a:lumMod val="75000"/>
                    <a:lumOff val="25000"/>
                  </a:schemeClr>
                </a:solidFill>
              </a:rPr>
              <a:t>? (2)</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2872" cy="4929735"/>
          </a:xfrm>
        </p:spPr>
        <p:txBody>
          <a:bodyPr>
            <a:normAutofit/>
          </a:bodyPr>
          <a:lstStyle/>
          <a:p>
            <a:r>
              <a:rPr lang="en-US" dirty="0"/>
              <a:t>Always check the literature first, there may be specific estimation procedures to follow</a:t>
            </a:r>
          </a:p>
          <a:p>
            <a:r>
              <a:rPr lang="en-US" dirty="0"/>
              <a:t>Do you know what you have to estimate?</a:t>
            </a:r>
          </a:p>
          <a:p>
            <a:pPr lvl="1"/>
            <a:r>
              <a:rPr lang="en-US" dirty="0"/>
              <a:t>Yes, I have a dependent variable which I must predict/for which I must find associated factors </a:t>
            </a:r>
            <a:r>
              <a:rPr lang="en-US" dirty="0">
                <a:sym typeface="Wingdings" panose="05000000000000000000" pitchFamily="2" charset="2"/>
              </a:rPr>
              <a:t> </a:t>
            </a:r>
            <a:r>
              <a:rPr lang="en-US" dirty="0">
                <a:solidFill>
                  <a:srgbClr val="1891C3"/>
                </a:solidFill>
                <a:sym typeface="Wingdings" panose="05000000000000000000" pitchFamily="2" charset="2"/>
              </a:rPr>
              <a:t>Supervised methods </a:t>
            </a:r>
            <a:r>
              <a:rPr lang="en-US" dirty="0">
                <a:sym typeface="Wingdings" panose="05000000000000000000" pitchFamily="2" charset="2"/>
              </a:rPr>
              <a:t>(regressions, trees, </a:t>
            </a:r>
            <a:r>
              <a:rPr lang="en-US" dirty="0" err="1">
                <a:sym typeface="Wingdings" panose="05000000000000000000" pitchFamily="2" charset="2"/>
              </a:rPr>
              <a:t>knn</a:t>
            </a:r>
            <a:r>
              <a:rPr lang="en-US" dirty="0">
                <a:sym typeface="Wingdings" panose="05000000000000000000" pitchFamily="2" charset="2"/>
              </a:rPr>
              <a:t>, etc.)</a:t>
            </a:r>
          </a:p>
          <a:p>
            <a:pPr lvl="1"/>
            <a:r>
              <a:rPr lang="en-US" dirty="0">
                <a:sym typeface="Wingdings" panose="05000000000000000000" pitchFamily="2" charset="2"/>
              </a:rPr>
              <a:t>No?  </a:t>
            </a:r>
            <a:r>
              <a:rPr lang="en-US" dirty="0">
                <a:solidFill>
                  <a:srgbClr val="1891C3"/>
                </a:solidFill>
                <a:sym typeface="Wingdings" panose="05000000000000000000" pitchFamily="2" charset="2"/>
              </a:rPr>
              <a:t>Unsupervised methods </a:t>
            </a:r>
            <a:r>
              <a:rPr lang="en-US" dirty="0">
                <a:sym typeface="Wingdings" panose="05000000000000000000" pitchFamily="2" charset="2"/>
              </a:rPr>
              <a:t>(clustering)</a:t>
            </a:r>
            <a:endParaRPr lang="en-US" dirty="0"/>
          </a:p>
          <a:p>
            <a:pPr lvl="2"/>
            <a:endParaRPr lang="en-US" dirty="0"/>
          </a:p>
        </p:txBody>
      </p:sp>
      <p:sp>
        <p:nvSpPr>
          <p:cNvPr id="3" name="Espace réservé du numéro de diapositive 2">
            <a:extLst>
              <a:ext uri="{FF2B5EF4-FFF2-40B4-BE49-F238E27FC236}">
                <a16:creationId xmlns:a16="http://schemas.microsoft.com/office/drawing/2014/main" id="{874D0DE7-286F-2E71-5333-64D8B7272423}"/>
              </a:ext>
            </a:extLst>
          </p:cNvPr>
          <p:cNvSpPr>
            <a:spLocks noGrp="1"/>
          </p:cNvSpPr>
          <p:nvPr>
            <p:ph type="sldNum" sz="quarter" idx="12"/>
          </p:nvPr>
        </p:nvSpPr>
        <p:spPr/>
        <p:txBody>
          <a:bodyPr/>
          <a:lstStyle/>
          <a:p>
            <a:fld id="{6F3806FF-9E51-4331-BB90-F49EFA1FA4FC}" type="slidenum">
              <a:rPr lang="fr-FR" smtClean="0"/>
              <a:t>65</a:t>
            </a:fld>
            <a:endParaRPr lang="fr-FR"/>
          </a:p>
        </p:txBody>
      </p:sp>
    </p:spTree>
    <p:extLst>
      <p:ext uri="{BB962C8B-B14F-4D97-AF65-F5344CB8AC3E}">
        <p14:creationId xmlns:p14="http://schemas.microsoft.com/office/powerpoint/2010/main" val="29406741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Unsupervised</a:t>
            </a:r>
            <a:r>
              <a:rPr lang="en-GB" dirty="0">
                <a:solidFill>
                  <a:schemeClr val="tx1">
                    <a:lumMod val="75000"/>
                    <a:lumOff val="25000"/>
                  </a:schemeClr>
                </a:solidFill>
              </a:rPr>
              <a:t> learning (1)</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2872" cy="4929735"/>
          </a:xfrm>
        </p:spPr>
        <p:txBody>
          <a:bodyPr>
            <a:normAutofit/>
          </a:bodyPr>
          <a:lstStyle/>
          <a:p>
            <a:r>
              <a:rPr lang="en-US" dirty="0"/>
              <a:t>You don’t have a dependent variable, but you want to </a:t>
            </a:r>
            <a:r>
              <a:rPr lang="en-US" dirty="0">
                <a:solidFill>
                  <a:srgbClr val="1891C3"/>
                </a:solidFill>
              </a:rPr>
              <a:t>find groups in your data</a:t>
            </a:r>
          </a:p>
          <a:p>
            <a:r>
              <a:rPr lang="en-US" dirty="0"/>
              <a:t>Use </a:t>
            </a:r>
            <a:r>
              <a:rPr lang="en-US" dirty="0">
                <a:solidFill>
                  <a:srgbClr val="1891C3"/>
                </a:solidFill>
              </a:rPr>
              <a:t>clustering methods</a:t>
            </a:r>
            <a:r>
              <a:rPr lang="en-US" dirty="0"/>
              <a:t>:</a:t>
            </a:r>
          </a:p>
          <a:p>
            <a:pPr lvl="1"/>
            <a:r>
              <a:rPr lang="en-US" dirty="0"/>
              <a:t>Hierarchical clustering (in my experience, </a:t>
            </a:r>
            <a:br>
              <a:rPr lang="en-US" dirty="0"/>
            </a:br>
            <a:r>
              <a:rPr lang="en-US" dirty="0"/>
              <a:t>this has always yielded good results)</a:t>
            </a:r>
          </a:p>
          <a:p>
            <a:pPr lvl="1"/>
            <a:r>
              <a:rPr lang="en-US" dirty="0"/>
              <a:t>K-means</a:t>
            </a:r>
          </a:p>
          <a:p>
            <a:pPr lvl="1"/>
            <a:r>
              <a:rPr lang="en-US" dirty="0"/>
              <a:t>OPTICS, DBSCAN…</a:t>
            </a:r>
          </a:p>
          <a:p>
            <a:r>
              <a:rPr lang="en-US" dirty="0"/>
              <a:t>These projects are a lot more exploratory: </a:t>
            </a:r>
          </a:p>
          <a:p>
            <a:pPr lvl="1"/>
            <a:r>
              <a:rPr lang="en-US" dirty="0"/>
              <a:t>You may propose multiple clustering methods</a:t>
            </a:r>
          </a:p>
          <a:p>
            <a:pPr lvl="1"/>
            <a:r>
              <a:rPr lang="en-US" dirty="0"/>
              <a:t>There are criteria to find an optimal number of clusters…</a:t>
            </a:r>
          </a:p>
          <a:p>
            <a:pPr lvl="1"/>
            <a:r>
              <a:rPr lang="en-US" dirty="0"/>
              <a:t>But don’t forget that the “best” clustering is the one that makes sense</a:t>
            </a:r>
          </a:p>
          <a:p>
            <a:endParaRPr lang="en-US" dirty="0"/>
          </a:p>
          <a:p>
            <a:pPr lvl="1"/>
            <a:endParaRPr lang="en-US" dirty="0"/>
          </a:p>
          <a:p>
            <a:pPr lvl="2"/>
            <a:endParaRPr lang="en-US" dirty="0"/>
          </a:p>
        </p:txBody>
      </p:sp>
      <p:pic>
        <p:nvPicPr>
          <p:cNvPr id="5" name="Image 4" descr="Une image contenant texte, diagramme, Plan, Parallèle&#10;&#10;Description générée automatiquement">
            <a:extLst>
              <a:ext uri="{FF2B5EF4-FFF2-40B4-BE49-F238E27FC236}">
                <a16:creationId xmlns:a16="http://schemas.microsoft.com/office/drawing/2014/main" id="{B8295542-8163-F606-2799-7265E46C89F0}"/>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15244"/>
          <a:stretch/>
        </p:blipFill>
        <p:spPr>
          <a:xfrm>
            <a:off x="7263878" y="2295280"/>
            <a:ext cx="4444542" cy="2354381"/>
          </a:xfrm>
          <a:prstGeom prst="rect">
            <a:avLst/>
          </a:prstGeom>
        </p:spPr>
      </p:pic>
      <p:sp>
        <p:nvSpPr>
          <p:cNvPr id="3" name="Espace réservé du numéro de diapositive 2">
            <a:extLst>
              <a:ext uri="{FF2B5EF4-FFF2-40B4-BE49-F238E27FC236}">
                <a16:creationId xmlns:a16="http://schemas.microsoft.com/office/drawing/2014/main" id="{F8244DAB-6224-2475-4AE8-0601A7D39677}"/>
              </a:ext>
            </a:extLst>
          </p:cNvPr>
          <p:cNvSpPr>
            <a:spLocks noGrp="1"/>
          </p:cNvSpPr>
          <p:nvPr>
            <p:ph type="sldNum" sz="quarter" idx="12"/>
          </p:nvPr>
        </p:nvSpPr>
        <p:spPr/>
        <p:txBody>
          <a:bodyPr/>
          <a:lstStyle/>
          <a:p>
            <a:fld id="{6F3806FF-9E51-4331-BB90-F49EFA1FA4FC}" type="slidenum">
              <a:rPr lang="fr-FR" smtClean="0"/>
              <a:t>66</a:t>
            </a:fld>
            <a:endParaRPr lang="fr-FR"/>
          </a:p>
        </p:txBody>
      </p:sp>
    </p:spTree>
    <p:extLst>
      <p:ext uri="{BB962C8B-B14F-4D97-AF65-F5344CB8AC3E}">
        <p14:creationId xmlns:p14="http://schemas.microsoft.com/office/powerpoint/2010/main" val="29430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Unsupervised</a:t>
            </a:r>
            <a:r>
              <a:rPr lang="en-GB" dirty="0">
                <a:solidFill>
                  <a:schemeClr val="tx1">
                    <a:lumMod val="75000"/>
                    <a:lumOff val="25000"/>
                  </a:schemeClr>
                </a:solidFill>
              </a:rPr>
              <a:t> learning (2)</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2872" cy="4929735"/>
          </a:xfrm>
        </p:spPr>
        <p:txBody>
          <a:bodyPr>
            <a:normAutofit/>
          </a:bodyPr>
          <a:lstStyle/>
          <a:p>
            <a:r>
              <a:rPr lang="en-US" dirty="0"/>
              <a:t>Always check the characteristics of your clusters:</a:t>
            </a:r>
          </a:p>
          <a:p>
            <a:pPr lvl="1"/>
            <a:r>
              <a:rPr lang="en-US" dirty="0"/>
              <a:t>Cross-tabulate your groups with the variables you used as inputs in the algorithm</a:t>
            </a:r>
          </a:p>
          <a:p>
            <a:pPr lvl="1"/>
            <a:r>
              <a:rPr lang="en-US" dirty="0"/>
              <a:t>Or cross-tabulate with other variables that were not included as inputs</a:t>
            </a:r>
          </a:p>
          <a:p>
            <a:pPr lvl="1"/>
            <a:endParaRPr lang="en-US" dirty="0"/>
          </a:p>
          <a:p>
            <a:r>
              <a:rPr lang="en-US" dirty="0"/>
              <a:t>Good resources</a:t>
            </a:r>
          </a:p>
          <a:p>
            <a:pPr lvl="1"/>
            <a:r>
              <a:rPr lang="en-US" dirty="0">
                <a:hlinkClick r:id="rId4"/>
              </a:rPr>
              <a:t>https://scikit-learn.org/stable/unsupervised_learning.html</a:t>
            </a:r>
            <a:r>
              <a:rPr lang="en-US" dirty="0"/>
              <a:t> </a:t>
            </a:r>
          </a:p>
          <a:p>
            <a:pPr lvl="1"/>
            <a:r>
              <a:rPr lang="en-US" dirty="0"/>
              <a:t>Cluster Analysis, 5</a:t>
            </a:r>
            <a:r>
              <a:rPr lang="en-US" baseline="30000" dirty="0"/>
              <a:t>th</a:t>
            </a:r>
            <a:r>
              <a:rPr lang="en-US" dirty="0"/>
              <a:t> edition. </a:t>
            </a:r>
            <a:r>
              <a:rPr lang="en-US" dirty="0">
                <a:hlinkClick r:id="rId5"/>
              </a:rPr>
              <a:t>https://cicerocq.wordpress.com/wp-content/uploads/2019/05/cluster-analysis_5ed_everitt.pdf</a:t>
            </a:r>
            <a:r>
              <a:rPr lang="en-US" dirty="0"/>
              <a:t> </a:t>
            </a:r>
          </a:p>
          <a:p>
            <a:pPr lvl="1"/>
            <a:r>
              <a:rPr lang="en-US" dirty="0" err="1"/>
              <a:t>FactoMineR</a:t>
            </a:r>
            <a:r>
              <a:rPr lang="en-US" dirty="0"/>
              <a:t> package. </a:t>
            </a:r>
            <a:r>
              <a:rPr lang="en-US" dirty="0">
                <a:hlinkClick r:id="rId6"/>
              </a:rPr>
              <a:t>http://factominer.free.fr/index.html</a:t>
            </a:r>
            <a:r>
              <a:rPr lang="en-US" dirty="0"/>
              <a:t> </a:t>
            </a:r>
          </a:p>
          <a:p>
            <a:pPr lvl="1"/>
            <a:endParaRPr lang="en-US" dirty="0"/>
          </a:p>
          <a:p>
            <a:pPr lvl="2"/>
            <a:endParaRPr lang="en-US" dirty="0"/>
          </a:p>
        </p:txBody>
      </p:sp>
      <p:sp>
        <p:nvSpPr>
          <p:cNvPr id="3" name="Espace réservé du numéro de diapositive 2">
            <a:extLst>
              <a:ext uri="{FF2B5EF4-FFF2-40B4-BE49-F238E27FC236}">
                <a16:creationId xmlns:a16="http://schemas.microsoft.com/office/drawing/2014/main" id="{AE1C7B00-3470-9676-7AF9-8421A43838C6}"/>
              </a:ext>
            </a:extLst>
          </p:cNvPr>
          <p:cNvSpPr>
            <a:spLocks noGrp="1"/>
          </p:cNvSpPr>
          <p:nvPr>
            <p:ph type="sldNum" sz="quarter" idx="12"/>
          </p:nvPr>
        </p:nvSpPr>
        <p:spPr/>
        <p:txBody>
          <a:bodyPr/>
          <a:lstStyle/>
          <a:p>
            <a:fld id="{6F3806FF-9E51-4331-BB90-F49EFA1FA4FC}" type="slidenum">
              <a:rPr lang="fr-FR" smtClean="0"/>
              <a:t>67</a:t>
            </a:fld>
            <a:endParaRPr lang="fr-FR"/>
          </a:p>
        </p:txBody>
      </p:sp>
    </p:spTree>
    <p:extLst>
      <p:ext uri="{BB962C8B-B14F-4D97-AF65-F5344CB8AC3E}">
        <p14:creationId xmlns:p14="http://schemas.microsoft.com/office/powerpoint/2010/main" val="45441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models, but </a:t>
            </a:r>
            <a:r>
              <a:rPr lang="en-GB" dirty="0">
                <a:solidFill>
                  <a:srgbClr val="7F7DB0"/>
                </a:solidFill>
              </a:rPr>
              <a:t>for my data</a:t>
            </a:r>
            <a:r>
              <a:rPr lang="en-GB" dirty="0">
                <a:solidFill>
                  <a:schemeClr val="tx1">
                    <a:lumMod val="75000"/>
                    <a:lumOff val="25000"/>
                  </a:schemeClr>
                </a:solidFill>
              </a:rPr>
              <a:t>? (3)</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7" name="Content Placeholder 5">
            <a:extLst>
              <a:ext uri="{FF2B5EF4-FFF2-40B4-BE49-F238E27FC236}">
                <a16:creationId xmlns:a16="http://schemas.microsoft.com/office/drawing/2014/main" id="{70D339A2-5A1F-778B-27C7-C30E648E1036}"/>
              </a:ext>
            </a:extLst>
          </p:cNvPr>
          <p:cNvSpPr>
            <a:spLocks noGrp="1"/>
          </p:cNvSpPr>
          <p:nvPr>
            <p:ph idx="1"/>
          </p:nvPr>
        </p:nvSpPr>
        <p:spPr>
          <a:xfrm>
            <a:off x="838200" y="1781783"/>
            <a:ext cx="10622872" cy="4929735"/>
          </a:xfrm>
        </p:spPr>
        <p:txBody>
          <a:bodyPr>
            <a:normAutofit/>
          </a:bodyPr>
          <a:lstStyle/>
          <a:p>
            <a:r>
              <a:rPr lang="en-US" dirty="0"/>
              <a:t>Always check the literature first, there may be specific estimation procedures to follow</a:t>
            </a:r>
          </a:p>
          <a:p>
            <a:r>
              <a:rPr lang="en-US" dirty="0"/>
              <a:t>Do you know what you have to estimate?</a:t>
            </a:r>
          </a:p>
          <a:p>
            <a:pPr lvl="1"/>
            <a:r>
              <a:rPr lang="en-US" dirty="0"/>
              <a:t>Yes, I have a dependent variable which I must predict/for which I must find associated factors </a:t>
            </a:r>
            <a:r>
              <a:rPr lang="en-US" dirty="0">
                <a:sym typeface="Wingdings" panose="05000000000000000000" pitchFamily="2" charset="2"/>
              </a:rPr>
              <a:t> </a:t>
            </a:r>
            <a:r>
              <a:rPr lang="en-US" dirty="0">
                <a:solidFill>
                  <a:srgbClr val="1891C3"/>
                </a:solidFill>
                <a:sym typeface="Wingdings" panose="05000000000000000000" pitchFamily="2" charset="2"/>
              </a:rPr>
              <a:t>Supervised methods </a:t>
            </a:r>
            <a:r>
              <a:rPr lang="en-US" dirty="0">
                <a:sym typeface="Wingdings" panose="05000000000000000000" pitchFamily="2" charset="2"/>
              </a:rPr>
              <a:t>(regressions, trees, </a:t>
            </a:r>
            <a:r>
              <a:rPr lang="en-US" dirty="0" err="1">
                <a:sym typeface="Wingdings" panose="05000000000000000000" pitchFamily="2" charset="2"/>
              </a:rPr>
              <a:t>knn</a:t>
            </a:r>
            <a:r>
              <a:rPr lang="en-US" dirty="0">
                <a:sym typeface="Wingdings" panose="05000000000000000000" pitchFamily="2" charset="2"/>
              </a:rPr>
              <a:t>, etc.)</a:t>
            </a:r>
          </a:p>
          <a:p>
            <a:pPr lvl="1"/>
            <a:r>
              <a:rPr lang="en-US" dirty="0">
                <a:sym typeface="Wingdings" panose="05000000000000000000" pitchFamily="2" charset="2"/>
              </a:rPr>
              <a:t>No?  </a:t>
            </a:r>
            <a:r>
              <a:rPr lang="en-US" dirty="0">
                <a:solidFill>
                  <a:srgbClr val="1891C3"/>
                </a:solidFill>
                <a:sym typeface="Wingdings" panose="05000000000000000000" pitchFamily="2" charset="2"/>
              </a:rPr>
              <a:t>Unsupervised methods </a:t>
            </a:r>
            <a:r>
              <a:rPr lang="en-US" dirty="0">
                <a:sym typeface="Wingdings" panose="05000000000000000000" pitchFamily="2" charset="2"/>
              </a:rPr>
              <a:t>(clustering)</a:t>
            </a:r>
          </a:p>
          <a:p>
            <a:r>
              <a:rPr lang="en-US" dirty="0">
                <a:sym typeface="Wingdings" panose="05000000000000000000" pitchFamily="2" charset="2"/>
              </a:rPr>
              <a:t>There are other paradigms:</a:t>
            </a:r>
          </a:p>
          <a:p>
            <a:pPr lvl="1"/>
            <a:r>
              <a:rPr lang="en-US" dirty="0">
                <a:sym typeface="Wingdings" panose="05000000000000000000" pitchFamily="2" charset="2"/>
              </a:rPr>
              <a:t>Reinforcement learning</a:t>
            </a:r>
          </a:p>
          <a:p>
            <a:pPr lvl="1"/>
            <a:r>
              <a:rPr lang="en-US" dirty="0">
                <a:sym typeface="Wingdings" panose="05000000000000000000" pitchFamily="2" charset="2"/>
              </a:rPr>
              <a:t>Semi-supervised</a:t>
            </a:r>
          </a:p>
          <a:p>
            <a:pPr lvl="1"/>
            <a:r>
              <a:rPr lang="en-US" dirty="0">
                <a:sym typeface="Wingdings" panose="05000000000000000000" pitchFamily="2" charset="2"/>
              </a:rPr>
              <a:t>And others…</a:t>
            </a:r>
            <a:endParaRPr lang="en-US" dirty="0"/>
          </a:p>
          <a:p>
            <a:pPr lvl="2"/>
            <a:endParaRPr lang="en-US" dirty="0"/>
          </a:p>
        </p:txBody>
      </p:sp>
      <p:sp>
        <p:nvSpPr>
          <p:cNvPr id="3" name="Espace réservé du numéro de diapositive 2">
            <a:extLst>
              <a:ext uri="{FF2B5EF4-FFF2-40B4-BE49-F238E27FC236}">
                <a16:creationId xmlns:a16="http://schemas.microsoft.com/office/drawing/2014/main" id="{89B25289-D961-C865-9B27-2D586D1612DD}"/>
              </a:ext>
            </a:extLst>
          </p:cNvPr>
          <p:cNvSpPr>
            <a:spLocks noGrp="1"/>
          </p:cNvSpPr>
          <p:nvPr>
            <p:ph type="sldNum" sz="quarter" idx="12"/>
          </p:nvPr>
        </p:nvSpPr>
        <p:spPr/>
        <p:txBody>
          <a:bodyPr/>
          <a:lstStyle/>
          <a:p>
            <a:fld id="{6F3806FF-9E51-4331-BB90-F49EFA1FA4FC}" type="slidenum">
              <a:rPr lang="fr-FR" smtClean="0"/>
              <a:t>68</a:t>
            </a:fld>
            <a:endParaRPr lang="fr-FR"/>
          </a:p>
        </p:txBody>
      </p:sp>
    </p:spTree>
    <p:extLst>
      <p:ext uri="{BB962C8B-B14F-4D97-AF65-F5344CB8AC3E}">
        <p14:creationId xmlns:p14="http://schemas.microsoft.com/office/powerpoint/2010/main" val="170987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859220" cy="1325563"/>
          </a:xfrm>
        </p:spPr>
        <p:txBody>
          <a:bodyPr/>
          <a:lstStyle/>
          <a:p>
            <a:r>
              <a:rPr lang="en-GB" dirty="0">
                <a:solidFill>
                  <a:schemeClr val="tx1">
                    <a:lumMod val="75000"/>
                    <a:lumOff val="25000"/>
                  </a:schemeClr>
                </a:solidFill>
              </a:rPr>
              <a:t>Google Big Query models cheat sheet</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9" name="Image 8">
            <a:extLst>
              <a:ext uri="{FF2B5EF4-FFF2-40B4-BE49-F238E27FC236}">
                <a16:creationId xmlns:a16="http://schemas.microsoft.com/office/drawing/2014/main" id="{666015DD-5EE2-EC51-B6AA-E37D67FFAA59}"/>
              </a:ext>
            </a:extLst>
          </p:cNvPr>
          <p:cNvPicPr>
            <a:picLocks noChangeAspect="1"/>
          </p:cNvPicPr>
          <p:nvPr/>
        </p:nvPicPr>
        <p:blipFill rotWithShape="1">
          <a:blip r:embed="rId4">
            <a:clrChange>
              <a:clrFrom>
                <a:srgbClr val="FFFFFF"/>
              </a:clrFrom>
              <a:clrTo>
                <a:srgbClr val="FFFFFF">
                  <a:alpha val="0"/>
                </a:srgbClr>
              </a:clrTo>
            </a:clrChange>
          </a:blip>
          <a:srcRect t="1323"/>
          <a:stretch/>
        </p:blipFill>
        <p:spPr>
          <a:xfrm>
            <a:off x="803752" y="1544127"/>
            <a:ext cx="6230184" cy="5187335"/>
          </a:xfrm>
          <a:prstGeom prst="rect">
            <a:avLst/>
          </a:prstGeom>
        </p:spPr>
      </p:pic>
      <p:sp>
        <p:nvSpPr>
          <p:cNvPr id="10" name="Content Placeholder 5">
            <a:extLst>
              <a:ext uri="{FF2B5EF4-FFF2-40B4-BE49-F238E27FC236}">
                <a16:creationId xmlns:a16="http://schemas.microsoft.com/office/drawing/2014/main" id="{1FD7E0C7-7677-7B3B-C7A9-62F05807755B}"/>
              </a:ext>
            </a:extLst>
          </p:cNvPr>
          <p:cNvSpPr txBox="1">
            <a:spLocks/>
          </p:cNvSpPr>
          <p:nvPr/>
        </p:nvSpPr>
        <p:spPr>
          <a:xfrm>
            <a:off x="7159924" y="3056141"/>
            <a:ext cx="5032076" cy="14727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Non-exhaustive too, but it’s a useful cheat sheet depending on what you want to do</a:t>
            </a:r>
          </a:p>
          <a:p>
            <a:pPr lvl="2"/>
            <a:endParaRPr lang="en-US" dirty="0"/>
          </a:p>
        </p:txBody>
      </p:sp>
      <p:sp>
        <p:nvSpPr>
          <p:cNvPr id="3" name="Espace réservé du numéro de diapositive 2">
            <a:extLst>
              <a:ext uri="{FF2B5EF4-FFF2-40B4-BE49-F238E27FC236}">
                <a16:creationId xmlns:a16="http://schemas.microsoft.com/office/drawing/2014/main" id="{DB2FCDBE-347B-B96F-00CC-74D352599D90}"/>
              </a:ext>
            </a:extLst>
          </p:cNvPr>
          <p:cNvSpPr>
            <a:spLocks noGrp="1"/>
          </p:cNvSpPr>
          <p:nvPr>
            <p:ph type="sldNum" sz="quarter" idx="12"/>
          </p:nvPr>
        </p:nvSpPr>
        <p:spPr/>
        <p:txBody>
          <a:bodyPr/>
          <a:lstStyle/>
          <a:p>
            <a:fld id="{6F3806FF-9E51-4331-BB90-F49EFA1FA4FC}" type="slidenum">
              <a:rPr lang="fr-FR" smtClean="0"/>
              <a:t>69</a:t>
            </a:fld>
            <a:endParaRPr lang="fr-FR"/>
          </a:p>
        </p:txBody>
      </p:sp>
    </p:spTree>
    <p:extLst>
      <p:ext uri="{BB962C8B-B14F-4D97-AF65-F5344CB8AC3E}">
        <p14:creationId xmlns:p14="http://schemas.microsoft.com/office/powerpoint/2010/main" val="500926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variables to include?</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Espace réservé du contenu 4">
            <a:extLst>
              <a:ext uri="{FF2B5EF4-FFF2-40B4-BE49-F238E27FC236}">
                <a16:creationId xmlns:a16="http://schemas.microsoft.com/office/drawing/2014/main" id="{7237990C-2543-6953-69AF-05F52AE3C2C0}"/>
              </a:ext>
            </a:extLst>
          </p:cNvPr>
          <p:cNvSpPr>
            <a:spLocks noGrp="1"/>
          </p:cNvSpPr>
          <p:nvPr>
            <p:ph idx="1"/>
          </p:nvPr>
        </p:nvSpPr>
        <p:spPr>
          <a:xfrm>
            <a:off x="838200" y="1825624"/>
            <a:ext cx="10515600" cy="5032376"/>
          </a:xfrm>
        </p:spPr>
        <p:txBody>
          <a:bodyPr>
            <a:normAutofit fontScale="92500"/>
          </a:bodyPr>
          <a:lstStyle/>
          <a:p>
            <a:r>
              <a:rPr lang="en-GB" dirty="0"/>
              <a:t>Make ex-ante hypotheses, ideally based on:</a:t>
            </a:r>
          </a:p>
          <a:p>
            <a:pPr lvl="1"/>
            <a:r>
              <a:rPr lang="en-GB" dirty="0"/>
              <a:t>Existing literature</a:t>
            </a:r>
          </a:p>
          <a:p>
            <a:pPr lvl="1"/>
            <a:r>
              <a:rPr lang="en-GB" dirty="0"/>
              <a:t>Your own theoretical framework</a:t>
            </a:r>
          </a:p>
          <a:p>
            <a:endParaRPr lang="en-GB" dirty="0"/>
          </a:p>
          <a:p>
            <a:r>
              <a:rPr lang="en-GB" dirty="0"/>
              <a:t>You may add variables ex-post in your analyses (if your project allows it)</a:t>
            </a:r>
          </a:p>
          <a:p>
            <a:pPr lvl="1"/>
            <a:r>
              <a:rPr lang="en-GB" dirty="0"/>
              <a:t>But </a:t>
            </a:r>
            <a:r>
              <a:rPr lang="en-GB" dirty="0">
                <a:solidFill>
                  <a:srgbClr val="7F7DB0"/>
                </a:solidFill>
              </a:rPr>
              <a:t>don’t mine for statistically significant associations</a:t>
            </a:r>
            <a:r>
              <a:rPr lang="en-GB" dirty="0"/>
              <a:t> (aka “p-hacking”), significant risk of false positives</a:t>
            </a:r>
          </a:p>
          <a:p>
            <a:endParaRPr lang="en-GB" dirty="0"/>
          </a:p>
          <a:p>
            <a:r>
              <a:rPr lang="en-GB" dirty="0"/>
              <a:t>Watch out for </a:t>
            </a:r>
            <a:r>
              <a:rPr lang="en-GB" dirty="0">
                <a:solidFill>
                  <a:srgbClr val="7F7DB0"/>
                </a:solidFill>
              </a:rPr>
              <a:t>data leakage </a:t>
            </a:r>
            <a:r>
              <a:rPr lang="en-GB" dirty="0"/>
              <a:t>in variables (mostly in prediction):</a:t>
            </a:r>
          </a:p>
          <a:p>
            <a:pPr lvl="1"/>
            <a:r>
              <a:rPr lang="en-GB" dirty="0"/>
              <a:t>Information in historical data that should not be available when the model is run</a:t>
            </a:r>
          </a:p>
          <a:p>
            <a:pPr lvl="1"/>
            <a:r>
              <a:rPr lang="en-GB" dirty="0"/>
              <a:t>Different from data leakage in observations: information from test data inside the training data</a:t>
            </a:r>
          </a:p>
          <a:p>
            <a:pPr lvl="1"/>
            <a:endParaRPr lang="en-GB" dirty="0"/>
          </a:p>
        </p:txBody>
      </p:sp>
      <p:pic>
        <p:nvPicPr>
          <p:cNvPr id="8" name="Graphique 7" descr="Fermer avec un remplissage uni">
            <a:extLst>
              <a:ext uri="{FF2B5EF4-FFF2-40B4-BE49-F238E27FC236}">
                <a16:creationId xmlns:a16="http://schemas.microsoft.com/office/drawing/2014/main" id="{26986BB4-9B45-48E4-1982-C2E5C58543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600" y="3959440"/>
            <a:ext cx="609923" cy="609923"/>
          </a:xfrm>
          <a:prstGeom prst="rect">
            <a:avLst/>
          </a:prstGeom>
        </p:spPr>
      </p:pic>
      <p:sp>
        <p:nvSpPr>
          <p:cNvPr id="3" name="Espace réservé du numéro de diapositive 2">
            <a:extLst>
              <a:ext uri="{FF2B5EF4-FFF2-40B4-BE49-F238E27FC236}">
                <a16:creationId xmlns:a16="http://schemas.microsoft.com/office/drawing/2014/main" id="{AE468A13-DCF0-5B07-CC1A-A07518E468FF}"/>
              </a:ext>
            </a:extLst>
          </p:cNvPr>
          <p:cNvSpPr>
            <a:spLocks noGrp="1"/>
          </p:cNvSpPr>
          <p:nvPr>
            <p:ph type="sldNum" sz="quarter" idx="12"/>
          </p:nvPr>
        </p:nvSpPr>
        <p:spPr/>
        <p:txBody>
          <a:bodyPr/>
          <a:lstStyle/>
          <a:p>
            <a:fld id="{6F3806FF-9E51-4331-BB90-F49EFA1FA4FC}" type="slidenum">
              <a:rPr lang="fr-FR" smtClean="0"/>
              <a:t>70</a:t>
            </a:fld>
            <a:endParaRPr lang="fr-FR"/>
          </a:p>
        </p:txBody>
      </p:sp>
    </p:spTree>
    <p:extLst>
      <p:ext uri="{BB962C8B-B14F-4D97-AF65-F5344CB8AC3E}">
        <p14:creationId xmlns:p14="http://schemas.microsoft.com/office/powerpoint/2010/main" val="282575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potential biases?</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pPr marL="0" indent="0">
              <a:buNone/>
            </a:pPr>
            <a:r>
              <a:rPr lang="en-US" dirty="0"/>
              <a:t>We will see that later in the course, but at that point you should ask yourself if they may be biases in your data or in your future analyses:</a:t>
            </a:r>
          </a:p>
          <a:p>
            <a:pPr>
              <a:buFontTx/>
              <a:buChar char="-"/>
            </a:pPr>
            <a:r>
              <a:rPr lang="en-US" dirty="0"/>
              <a:t>Endogeneity (simultaneity, omitted variables…)</a:t>
            </a:r>
          </a:p>
          <a:p>
            <a:pPr>
              <a:buFontTx/>
              <a:buChar char="-"/>
            </a:pPr>
            <a:r>
              <a:rPr lang="en-US" dirty="0"/>
              <a:t>Sample selection</a:t>
            </a:r>
          </a:p>
          <a:p>
            <a:pPr>
              <a:buFontTx/>
              <a:buChar char="-"/>
            </a:pPr>
            <a:r>
              <a:rPr lang="en-US" dirty="0"/>
              <a:t>Attrition</a:t>
            </a:r>
          </a:p>
          <a:p>
            <a:pPr>
              <a:buFontTx/>
              <a:buChar char="-"/>
            </a:pPr>
            <a:r>
              <a:rPr lang="en-US" dirty="0"/>
              <a:t>Psychological biases in surveys (desirability…)</a:t>
            </a:r>
          </a:p>
          <a:p>
            <a:pPr>
              <a:buFontTx/>
              <a:buChar char="-"/>
            </a:pPr>
            <a:endParaRPr lang="en-US" dirty="0"/>
          </a:p>
          <a:p>
            <a:pPr marL="0" indent="0">
              <a:buNone/>
            </a:pPr>
            <a:r>
              <a:rPr lang="en-US" dirty="0"/>
              <a:t>Biases are hard to find, especially without seeing the data. You may find problems with your data as you go along in your project.</a:t>
            </a:r>
          </a:p>
          <a:p>
            <a:pPr>
              <a:buFontTx/>
              <a:buChar char="-"/>
            </a:pPr>
            <a:endParaRPr lang="en-US" dirty="0"/>
          </a:p>
          <a:p>
            <a:pPr>
              <a:buFontTx/>
              <a:buChar char="-"/>
            </a:pPr>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B3828AF0-EAC7-E4A5-7765-D225E3A0D6B5}"/>
              </a:ext>
            </a:extLst>
          </p:cNvPr>
          <p:cNvSpPr>
            <a:spLocks noGrp="1"/>
          </p:cNvSpPr>
          <p:nvPr>
            <p:ph type="sldNum" sz="quarter" idx="12"/>
          </p:nvPr>
        </p:nvSpPr>
        <p:spPr/>
        <p:txBody>
          <a:bodyPr/>
          <a:lstStyle/>
          <a:p>
            <a:fld id="{6F3806FF-9E51-4331-BB90-F49EFA1FA4FC}" type="slidenum">
              <a:rPr lang="fr-FR" smtClean="0"/>
              <a:t>71</a:t>
            </a:fld>
            <a:endParaRPr lang="fr-FR"/>
          </a:p>
        </p:txBody>
      </p:sp>
    </p:spTree>
    <p:extLst>
      <p:ext uri="{BB962C8B-B14F-4D97-AF65-F5344CB8AC3E}">
        <p14:creationId xmlns:p14="http://schemas.microsoft.com/office/powerpoint/2010/main" val="154543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to report?</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pPr marL="0" indent="0">
              <a:buNone/>
            </a:pPr>
            <a:r>
              <a:rPr lang="en-US" dirty="0"/>
              <a:t>Very important:</a:t>
            </a:r>
          </a:p>
          <a:p>
            <a:r>
              <a:rPr lang="en-US" dirty="0"/>
              <a:t>You don’t do analyses in a vacuum, you are doing all this work to show results</a:t>
            </a:r>
          </a:p>
          <a:p>
            <a:endParaRPr lang="en-US" dirty="0"/>
          </a:p>
          <a:p>
            <a:r>
              <a:rPr lang="en-US" dirty="0"/>
              <a:t>Find out what the client wants:</a:t>
            </a:r>
          </a:p>
          <a:p>
            <a:pPr lvl="1"/>
            <a:r>
              <a:rPr lang="en-US" dirty="0"/>
              <a:t>Interpretable results? </a:t>
            </a:r>
            <a:r>
              <a:rPr lang="en-US" dirty="0">
                <a:sym typeface="Wingdings" panose="05000000000000000000" pitchFamily="2" charset="2"/>
              </a:rPr>
              <a:t> Use less flexible, more interpretable models</a:t>
            </a:r>
            <a:endParaRPr lang="en-US" dirty="0"/>
          </a:p>
          <a:p>
            <a:pPr lvl="1"/>
            <a:r>
              <a:rPr lang="en-US" dirty="0"/>
              <a:t>Just good, accurate results? </a:t>
            </a:r>
            <a:r>
              <a:rPr lang="en-US" dirty="0">
                <a:sym typeface="Wingdings" panose="05000000000000000000" pitchFamily="2" charset="2"/>
              </a:rPr>
              <a:t> Use big black box models!</a:t>
            </a:r>
            <a:endParaRPr lang="en-US" dirty="0"/>
          </a:p>
          <a:p>
            <a:pPr lvl="1"/>
            <a:r>
              <a:rPr lang="en-US" dirty="0"/>
              <a:t>Charts? An interactive dashboard?</a:t>
            </a:r>
          </a:p>
          <a:p>
            <a:endParaRPr lang="en-US" dirty="0"/>
          </a:p>
          <a:p>
            <a:r>
              <a:rPr lang="en-US" dirty="0"/>
              <a:t>Keep in mind these things take time, try to estimate how much time each thing will take (it’s hard even for seniors!)</a:t>
            </a:r>
          </a:p>
          <a:p>
            <a:pPr>
              <a:buFontTx/>
              <a:buChar char="-"/>
            </a:pPr>
            <a:endParaRPr lang="en-US" dirty="0"/>
          </a:p>
          <a:p>
            <a:pPr>
              <a:buFontTx/>
              <a:buChar char="-"/>
            </a:pPr>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5B30E12-F017-98EA-80C7-39718FF7C7B7}"/>
              </a:ext>
            </a:extLst>
          </p:cNvPr>
          <p:cNvSpPr>
            <a:spLocks noGrp="1"/>
          </p:cNvSpPr>
          <p:nvPr>
            <p:ph type="sldNum" sz="quarter" idx="12"/>
          </p:nvPr>
        </p:nvSpPr>
        <p:spPr/>
        <p:txBody>
          <a:bodyPr/>
          <a:lstStyle/>
          <a:p>
            <a:fld id="{6F3806FF-9E51-4331-BB90-F49EFA1FA4FC}" type="slidenum">
              <a:rPr lang="fr-FR" smtClean="0"/>
              <a:t>72</a:t>
            </a:fld>
            <a:endParaRPr lang="fr-FR"/>
          </a:p>
        </p:txBody>
      </p:sp>
    </p:spTree>
    <p:extLst>
      <p:ext uri="{BB962C8B-B14F-4D97-AF65-F5344CB8AC3E}">
        <p14:creationId xmlns:p14="http://schemas.microsoft.com/office/powerpoint/2010/main" val="19079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How much </a:t>
            </a:r>
            <a:r>
              <a:rPr lang="en-GB" dirty="0">
                <a:solidFill>
                  <a:srgbClr val="1891C3"/>
                </a:solidFill>
              </a:rPr>
              <a:t>resources</a:t>
            </a:r>
            <a:r>
              <a:rPr lang="en-GB" dirty="0">
                <a:solidFill>
                  <a:schemeClr val="tx1">
                    <a:lumMod val="75000"/>
                    <a:lumOff val="25000"/>
                  </a:schemeClr>
                </a:solidFill>
              </a:rPr>
              <a:t>?</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Content Placeholder 5">
            <a:extLst>
              <a:ext uri="{FF2B5EF4-FFF2-40B4-BE49-F238E27FC236}">
                <a16:creationId xmlns:a16="http://schemas.microsoft.com/office/drawing/2014/main" id="{A8B938EA-4E2F-F9C1-023C-5BD071589B1C}"/>
              </a:ext>
            </a:extLst>
          </p:cNvPr>
          <p:cNvSpPr>
            <a:spLocks noGrp="1"/>
          </p:cNvSpPr>
          <p:nvPr>
            <p:ph idx="1"/>
          </p:nvPr>
        </p:nvSpPr>
        <p:spPr>
          <a:xfrm>
            <a:off x="838200" y="3307252"/>
            <a:ext cx="10397648" cy="3550747"/>
          </a:xfrm>
        </p:spPr>
        <p:txBody>
          <a:bodyPr>
            <a:normAutofit lnSpcReduction="10000"/>
          </a:bodyPr>
          <a:lstStyle/>
          <a:p>
            <a:r>
              <a:rPr lang="en-US" dirty="0"/>
              <a:t>You may encounter </a:t>
            </a:r>
            <a:r>
              <a:rPr lang="en-US" dirty="0">
                <a:solidFill>
                  <a:srgbClr val="1891C3"/>
                </a:solidFill>
              </a:rPr>
              <a:t>hardware limitations</a:t>
            </a:r>
          </a:p>
          <a:p>
            <a:r>
              <a:rPr lang="en-US" dirty="0"/>
              <a:t>Hard to predict at beginner level</a:t>
            </a:r>
          </a:p>
          <a:p>
            <a:pPr lvl="1"/>
            <a:r>
              <a:rPr lang="en-US" dirty="0"/>
              <a:t>Some data wrangling on medium sized data may be too much for your computer to handle</a:t>
            </a:r>
          </a:p>
          <a:p>
            <a:pPr lvl="1"/>
            <a:r>
              <a:rPr lang="en-US" dirty="0"/>
              <a:t>Or a model (e.g. Random Forest) requires too much resources</a:t>
            </a:r>
          </a:p>
          <a:p>
            <a:r>
              <a:rPr lang="en-US" dirty="0"/>
              <a:t>How to solve?</a:t>
            </a:r>
          </a:p>
          <a:p>
            <a:pPr lvl="1"/>
            <a:r>
              <a:rPr lang="en-US" dirty="0"/>
              <a:t>Ask for a beefier computer (easiest solution, but costly)</a:t>
            </a:r>
          </a:p>
          <a:p>
            <a:pPr lvl="1"/>
            <a:r>
              <a:rPr lang="en-US" dirty="0"/>
              <a:t>Choose the right language &amp; packages, write better code (</a:t>
            </a:r>
            <a:r>
              <a:rPr lang="en-US" dirty="0" err="1"/>
              <a:t>cf</a:t>
            </a:r>
            <a:r>
              <a:rPr lang="en-US" dirty="0"/>
              <a:t> chapter III)</a:t>
            </a:r>
          </a:p>
          <a:p>
            <a:pPr lvl="1"/>
            <a:r>
              <a:rPr lang="en-US" dirty="0"/>
              <a:t>Cloud computing (for Big Data)</a:t>
            </a:r>
          </a:p>
        </p:txBody>
      </p:sp>
      <p:pic>
        <p:nvPicPr>
          <p:cNvPr id="7" name="Image 6">
            <a:extLst>
              <a:ext uri="{FF2B5EF4-FFF2-40B4-BE49-F238E27FC236}">
                <a16:creationId xmlns:a16="http://schemas.microsoft.com/office/drawing/2014/main" id="{42C17D5C-08D9-0C22-07D5-086A37CFA5BB}"/>
              </a:ext>
            </a:extLst>
          </p:cNvPr>
          <p:cNvPicPr>
            <a:picLocks noChangeAspect="1"/>
          </p:cNvPicPr>
          <p:nvPr/>
        </p:nvPicPr>
        <p:blipFill rotWithShape="1">
          <a:blip r:embed="rId4"/>
          <a:srcRect l="2099"/>
          <a:stretch/>
        </p:blipFill>
        <p:spPr>
          <a:xfrm>
            <a:off x="956152" y="1527175"/>
            <a:ext cx="7105650" cy="1057275"/>
          </a:xfrm>
          <a:prstGeom prst="rect">
            <a:avLst/>
          </a:prstGeom>
        </p:spPr>
      </p:pic>
      <p:sp>
        <p:nvSpPr>
          <p:cNvPr id="8" name="Content Placeholder 5">
            <a:extLst>
              <a:ext uri="{FF2B5EF4-FFF2-40B4-BE49-F238E27FC236}">
                <a16:creationId xmlns:a16="http://schemas.microsoft.com/office/drawing/2014/main" id="{1C6C4B8C-6ED5-9A8D-6F1E-8A081222B347}"/>
              </a:ext>
            </a:extLst>
          </p:cNvPr>
          <p:cNvSpPr txBox="1">
            <a:spLocks/>
          </p:cNvSpPr>
          <p:nvPr/>
        </p:nvSpPr>
        <p:spPr>
          <a:xfrm>
            <a:off x="990600" y="2656987"/>
            <a:ext cx="10397648" cy="465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Esteban" panose="020B0604020202020204" charset="0"/>
              </a:rPr>
              <a:t>Panicked data scientist who found out the hard way their data is too big</a:t>
            </a:r>
          </a:p>
        </p:txBody>
      </p:sp>
      <p:sp>
        <p:nvSpPr>
          <p:cNvPr id="5" name="Espace réservé du numéro de diapositive 4">
            <a:extLst>
              <a:ext uri="{FF2B5EF4-FFF2-40B4-BE49-F238E27FC236}">
                <a16:creationId xmlns:a16="http://schemas.microsoft.com/office/drawing/2014/main" id="{B4EE7DEB-6316-1FFF-8BD7-8F6658F536D7}"/>
              </a:ext>
            </a:extLst>
          </p:cNvPr>
          <p:cNvSpPr>
            <a:spLocks noGrp="1"/>
          </p:cNvSpPr>
          <p:nvPr>
            <p:ph type="sldNum" sz="quarter" idx="12"/>
          </p:nvPr>
        </p:nvSpPr>
        <p:spPr/>
        <p:txBody>
          <a:bodyPr/>
          <a:lstStyle/>
          <a:p>
            <a:fld id="{6F3806FF-9E51-4331-BB90-F49EFA1FA4FC}" type="slidenum">
              <a:rPr lang="fr-FR" smtClean="0"/>
              <a:t>73</a:t>
            </a:fld>
            <a:endParaRPr lang="fr-FR"/>
          </a:p>
        </p:txBody>
      </p:sp>
    </p:spTree>
    <p:extLst>
      <p:ext uri="{BB962C8B-B14F-4D97-AF65-F5344CB8AC3E}">
        <p14:creationId xmlns:p14="http://schemas.microsoft.com/office/powerpoint/2010/main" val="16773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programming language? (1)</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As a beginner, if you have the choice, use the one you are the most comfortable with…</a:t>
            </a:r>
          </a:p>
          <a:p>
            <a:r>
              <a:rPr lang="en-US" dirty="0"/>
              <a:t>But you won’t always have the luxury of choosing:</a:t>
            </a:r>
          </a:p>
          <a:p>
            <a:pPr lvl="1"/>
            <a:r>
              <a:rPr lang="en-US" dirty="0"/>
              <a:t>Some models </a:t>
            </a:r>
            <a:r>
              <a:rPr lang="en-US" dirty="0">
                <a:solidFill>
                  <a:srgbClr val="7F7DB0"/>
                </a:solidFill>
              </a:rPr>
              <a:t>may not be implemented</a:t>
            </a:r>
            <a:r>
              <a:rPr lang="en-US" dirty="0"/>
              <a:t> (or implementable) in the language of your choosing</a:t>
            </a:r>
          </a:p>
          <a:p>
            <a:pPr lvl="1"/>
            <a:r>
              <a:rPr lang="en-US" dirty="0"/>
              <a:t>The language </a:t>
            </a:r>
            <a:r>
              <a:rPr lang="en-US" dirty="0">
                <a:solidFill>
                  <a:srgbClr val="7F7DB0"/>
                </a:solidFill>
              </a:rPr>
              <a:t>may not be suited </a:t>
            </a:r>
            <a:r>
              <a:rPr lang="en-US" dirty="0"/>
              <a:t>for what you want to do</a:t>
            </a:r>
          </a:p>
          <a:p>
            <a:pPr lvl="1"/>
            <a:r>
              <a:rPr lang="en-US" dirty="0"/>
              <a:t>You may be working on virtual environments </a:t>
            </a:r>
            <a:r>
              <a:rPr lang="en-US" dirty="0">
                <a:solidFill>
                  <a:srgbClr val="7F7DB0"/>
                </a:solidFill>
              </a:rPr>
              <a:t>that only have specific programming languages</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63A97039-809D-AA30-32CE-1FB51C0C1696}"/>
              </a:ext>
            </a:extLst>
          </p:cNvPr>
          <p:cNvSpPr>
            <a:spLocks noGrp="1"/>
          </p:cNvSpPr>
          <p:nvPr>
            <p:ph type="sldNum" sz="quarter" idx="12"/>
          </p:nvPr>
        </p:nvSpPr>
        <p:spPr/>
        <p:txBody>
          <a:bodyPr/>
          <a:lstStyle/>
          <a:p>
            <a:fld id="{6F3806FF-9E51-4331-BB90-F49EFA1FA4FC}" type="slidenum">
              <a:rPr lang="fr-FR" smtClean="0"/>
              <a:t>74</a:t>
            </a:fld>
            <a:endParaRPr lang="fr-FR"/>
          </a:p>
        </p:txBody>
      </p:sp>
    </p:spTree>
    <p:extLst>
      <p:ext uri="{BB962C8B-B14F-4D97-AF65-F5344CB8AC3E}">
        <p14:creationId xmlns:p14="http://schemas.microsoft.com/office/powerpoint/2010/main" val="245152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Popular languages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8" name="Image 7">
            <a:extLst>
              <a:ext uri="{FF2B5EF4-FFF2-40B4-BE49-F238E27FC236}">
                <a16:creationId xmlns:a16="http://schemas.microsoft.com/office/drawing/2014/main" id="{2E50452A-A76D-0CD9-1920-7CA29AF758B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38200" y="1466665"/>
            <a:ext cx="6226290" cy="3947504"/>
          </a:xfrm>
          <a:prstGeom prst="rect">
            <a:avLst/>
          </a:prstGeom>
        </p:spPr>
      </p:pic>
      <p:sp>
        <p:nvSpPr>
          <p:cNvPr id="10" name="Content Placeholder 5">
            <a:extLst>
              <a:ext uri="{FF2B5EF4-FFF2-40B4-BE49-F238E27FC236}">
                <a16:creationId xmlns:a16="http://schemas.microsoft.com/office/drawing/2014/main" id="{63F181B1-26FA-F5A8-C7C3-E2A97893FC51}"/>
              </a:ext>
            </a:extLst>
          </p:cNvPr>
          <p:cNvSpPr>
            <a:spLocks noGrp="1"/>
          </p:cNvSpPr>
          <p:nvPr>
            <p:ph idx="1"/>
          </p:nvPr>
        </p:nvSpPr>
        <p:spPr>
          <a:xfrm>
            <a:off x="990600" y="5449999"/>
            <a:ext cx="3650411" cy="415331"/>
          </a:xfrm>
        </p:spPr>
        <p:txBody>
          <a:bodyPr>
            <a:normAutofit/>
          </a:bodyPr>
          <a:lstStyle/>
          <a:p>
            <a:pPr marL="0" indent="0">
              <a:buNone/>
            </a:pPr>
            <a:r>
              <a:rPr lang="en-US" sz="1200" dirty="0" err="1"/>
              <a:t>Stackoverflow</a:t>
            </a:r>
            <a:r>
              <a:rPr lang="en-US" sz="1200" dirty="0"/>
              <a:t> Developer Survey 2017</a:t>
            </a:r>
          </a:p>
        </p:txBody>
      </p:sp>
      <p:sp>
        <p:nvSpPr>
          <p:cNvPr id="13" name="ZoneTexte 12">
            <a:extLst>
              <a:ext uri="{FF2B5EF4-FFF2-40B4-BE49-F238E27FC236}">
                <a16:creationId xmlns:a16="http://schemas.microsoft.com/office/drawing/2014/main" id="{490648C3-B5B4-9486-5440-726DDBBA8905}"/>
              </a:ext>
            </a:extLst>
          </p:cNvPr>
          <p:cNvSpPr txBox="1"/>
          <p:nvPr/>
        </p:nvSpPr>
        <p:spPr>
          <a:xfrm>
            <a:off x="1865461" y="2536166"/>
            <a:ext cx="480924" cy="307777"/>
          </a:xfrm>
          <a:prstGeom prst="rect">
            <a:avLst/>
          </a:prstGeom>
          <a:noFill/>
        </p:spPr>
        <p:txBody>
          <a:bodyPr wrap="square">
            <a:spAutoFit/>
          </a:bodyPr>
          <a:lstStyle/>
          <a:p>
            <a:r>
              <a:rPr lang="fr-FR" sz="1400" dirty="0"/>
              <a:t>🤔</a:t>
            </a:r>
          </a:p>
        </p:txBody>
      </p:sp>
      <p:sp>
        <p:nvSpPr>
          <p:cNvPr id="14" name="ZoneTexte 13">
            <a:extLst>
              <a:ext uri="{FF2B5EF4-FFF2-40B4-BE49-F238E27FC236}">
                <a16:creationId xmlns:a16="http://schemas.microsoft.com/office/drawing/2014/main" id="{B5E592E1-459F-B2D2-22CF-FFC5AC562399}"/>
              </a:ext>
            </a:extLst>
          </p:cNvPr>
          <p:cNvSpPr txBox="1"/>
          <p:nvPr/>
        </p:nvSpPr>
        <p:spPr>
          <a:xfrm>
            <a:off x="1673525" y="4448354"/>
            <a:ext cx="1000664" cy="307777"/>
          </a:xfrm>
          <a:prstGeom prst="rect">
            <a:avLst/>
          </a:prstGeom>
          <a:noFill/>
        </p:spPr>
        <p:txBody>
          <a:bodyPr wrap="square">
            <a:spAutoFit/>
          </a:bodyPr>
          <a:lstStyle/>
          <a:p>
            <a:r>
              <a:rPr lang="fr-FR" sz="1400" dirty="0"/>
              <a:t>🤔🤔🤔</a:t>
            </a:r>
          </a:p>
        </p:txBody>
      </p:sp>
      <mc:AlternateContent xmlns:mc="http://schemas.openxmlformats.org/markup-compatibility/2006" xmlns:p14="http://schemas.microsoft.com/office/powerpoint/2010/main">
        <mc:Choice Requires="p14">
          <p:contentPart p14:bwMode="auto" r:id="rId5">
            <p14:nvContentPartPr>
              <p14:cNvPr id="17" name="Encre 16">
                <a:extLst>
                  <a:ext uri="{FF2B5EF4-FFF2-40B4-BE49-F238E27FC236}">
                    <a16:creationId xmlns:a16="http://schemas.microsoft.com/office/drawing/2014/main" id="{CCA571E7-42AE-471E-E49D-B1B24138F891}"/>
                  </a:ext>
                </a:extLst>
              </p14:cNvPr>
              <p14:cNvContentPartPr/>
              <p14:nvPr/>
            </p14:nvContentPartPr>
            <p14:xfrm>
              <a:off x="2674060" y="3027240"/>
              <a:ext cx="275400" cy="10080"/>
            </p14:xfrm>
          </p:contentPart>
        </mc:Choice>
        <mc:Fallback xmlns="">
          <p:pic>
            <p:nvPicPr>
              <p:cNvPr id="17" name="Encre 16">
                <a:extLst>
                  <a:ext uri="{FF2B5EF4-FFF2-40B4-BE49-F238E27FC236}">
                    <a16:creationId xmlns:a16="http://schemas.microsoft.com/office/drawing/2014/main" id="{CCA571E7-42AE-471E-E49D-B1B24138F891}"/>
                  </a:ext>
                </a:extLst>
              </p:cNvPr>
              <p:cNvPicPr/>
              <p:nvPr/>
            </p:nvPicPr>
            <p:blipFill>
              <a:blip r:embed="rId6"/>
              <a:stretch>
                <a:fillRect/>
              </a:stretch>
            </p:blipFill>
            <p:spPr>
              <a:xfrm>
                <a:off x="2620060" y="2919240"/>
                <a:ext cx="383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Encre 17">
                <a:extLst>
                  <a:ext uri="{FF2B5EF4-FFF2-40B4-BE49-F238E27FC236}">
                    <a16:creationId xmlns:a16="http://schemas.microsoft.com/office/drawing/2014/main" id="{95599CA6-6493-D61D-210F-62135C540B92}"/>
                  </a:ext>
                </a:extLst>
              </p14:cNvPr>
              <p14:cNvContentPartPr/>
              <p14:nvPr/>
            </p14:nvContentPartPr>
            <p14:xfrm>
              <a:off x="2536180" y="3329280"/>
              <a:ext cx="430920" cy="9360"/>
            </p14:xfrm>
          </p:contentPart>
        </mc:Choice>
        <mc:Fallback xmlns="">
          <p:pic>
            <p:nvPicPr>
              <p:cNvPr id="18" name="Encre 17">
                <a:extLst>
                  <a:ext uri="{FF2B5EF4-FFF2-40B4-BE49-F238E27FC236}">
                    <a16:creationId xmlns:a16="http://schemas.microsoft.com/office/drawing/2014/main" id="{95599CA6-6493-D61D-210F-62135C540B92}"/>
                  </a:ext>
                </a:extLst>
              </p:cNvPr>
              <p:cNvPicPr/>
              <p:nvPr/>
            </p:nvPicPr>
            <p:blipFill>
              <a:blip r:embed="rId8"/>
              <a:stretch>
                <a:fillRect/>
              </a:stretch>
            </p:blipFill>
            <p:spPr>
              <a:xfrm>
                <a:off x="2482180" y="3221640"/>
                <a:ext cx="5385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Encre 18">
                <a:extLst>
                  <a:ext uri="{FF2B5EF4-FFF2-40B4-BE49-F238E27FC236}">
                    <a16:creationId xmlns:a16="http://schemas.microsoft.com/office/drawing/2014/main" id="{CA4A12DC-FE0F-AD89-01AF-673D4219DBED}"/>
                  </a:ext>
                </a:extLst>
              </p14:cNvPr>
              <p14:cNvContentPartPr/>
              <p14:nvPr/>
            </p14:nvContentPartPr>
            <p14:xfrm>
              <a:off x="2820580" y="5218920"/>
              <a:ext cx="120240" cy="360"/>
            </p14:xfrm>
          </p:contentPart>
        </mc:Choice>
        <mc:Fallback xmlns="">
          <p:pic>
            <p:nvPicPr>
              <p:cNvPr id="19" name="Encre 18">
                <a:extLst>
                  <a:ext uri="{FF2B5EF4-FFF2-40B4-BE49-F238E27FC236}">
                    <a16:creationId xmlns:a16="http://schemas.microsoft.com/office/drawing/2014/main" id="{CA4A12DC-FE0F-AD89-01AF-673D4219DBED}"/>
                  </a:ext>
                </a:extLst>
              </p:cNvPr>
              <p:cNvPicPr/>
              <p:nvPr/>
            </p:nvPicPr>
            <p:blipFill>
              <a:blip r:embed="rId10"/>
              <a:stretch>
                <a:fillRect/>
              </a:stretch>
            </p:blipFill>
            <p:spPr>
              <a:xfrm>
                <a:off x="2766940" y="5110920"/>
                <a:ext cx="227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Encre 21">
                <a:extLst>
                  <a:ext uri="{FF2B5EF4-FFF2-40B4-BE49-F238E27FC236}">
                    <a16:creationId xmlns:a16="http://schemas.microsoft.com/office/drawing/2014/main" id="{030ADE1E-4A2F-8E10-0266-131A8F870542}"/>
                  </a:ext>
                </a:extLst>
              </p14:cNvPr>
              <p14:cNvContentPartPr/>
              <p14:nvPr/>
            </p14:nvContentPartPr>
            <p14:xfrm>
              <a:off x="2811940" y="4925160"/>
              <a:ext cx="144360" cy="9720"/>
            </p14:xfrm>
          </p:contentPart>
        </mc:Choice>
        <mc:Fallback xmlns="">
          <p:pic>
            <p:nvPicPr>
              <p:cNvPr id="22" name="Encre 21">
                <a:extLst>
                  <a:ext uri="{FF2B5EF4-FFF2-40B4-BE49-F238E27FC236}">
                    <a16:creationId xmlns:a16="http://schemas.microsoft.com/office/drawing/2014/main" id="{030ADE1E-4A2F-8E10-0266-131A8F870542}"/>
                  </a:ext>
                </a:extLst>
              </p:cNvPr>
              <p:cNvPicPr/>
              <p:nvPr/>
            </p:nvPicPr>
            <p:blipFill>
              <a:blip r:embed="rId12"/>
              <a:stretch>
                <a:fillRect/>
              </a:stretch>
            </p:blipFill>
            <p:spPr>
              <a:xfrm>
                <a:off x="2757940" y="4817160"/>
                <a:ext cx="2520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Encre 24">
                <a:extLst>
                  <a:ext uri="{FF2B5EF4-FFF2-40B4-BE49-F238E27FC236}">
                    <a16:creationId xmlns:a16="http://schemas.microsoft.com/office/drawing/2014/main" id="{131B81BC-FBA7-0E53-8B21-45ACD5B6845C}"/>
                  </a:ext>
                </a:extLst>
              </p14:cNvPr>
              <p14:cNvContentPartPr/>
              <p14:nvPr/>
            </p14:nvContentPartPr>
            <p14:xfrm>
              <a:off x="2665420" y="4295880"/>
              <a:ext cx="241920" cy="360"/>
            </p14:xfrm>
          </p:contentPart>
        </mc:Choice>
        <mc:Fallback xmlns="">
          <p:pic>
            <p:nvPicPr>
              <p:cNvPr id="25" name="Encre 24">
                <a:extLst>
                  <a:ext uri="{FF2B5EF4-FFF2-40B4-BE49-F238E27FC236}">
                    <a16:creationId xmlns:a16="http://schemas.microsoft.com/office/drawing/2014/main" id="{131B81BC-FBA7-0E53-8B21-45ACD5B6845C}"/>
                  </a:ext>
                </a:extLst>
              </p:cNvPr>
              <p:cNvPicPr/>
              <p:nvPr/>
            </p:nvPicPr>
            <p:blipFill>
              <a:blip r:embed="rId14"/>
              <a:stretch>
                <a:fillRect/>
              </a:stretch>
            </p:blipFill>
            <p:spPr>
              <a:xfrm>
                <a:off x="2611780" y="4187880"/>
                <a:ext cx="349560" cy="216000"/>
              </a:xfrm>
              <a:prstGeom prst="rect">
                <a:avLst/>
              </a:prstGeom>
            </p:spPr>
          </p:pic>
        </mc:Fallback>
      </mc:AlternateContent>
      <p:sp>
        <p:nvSpPr>
          <p:cNvPr id="26" name="Content Placeholder 5">
            <a:extLst>
              <a:ext uri="{FF2B5EF4-FFF2-40B4-BE49-F238E27FC236}">
                <a16:creationId xmlns:a16="http://schemas.microsoft.com/office/drawing/2014/main" id="{5436E0C4-23FA-440D-98DD-74EB2CB83C33}"/>
              </a:ext>
            </a:extLst>
          </p:cNvPr>
          <p:cNvSpPr txBox="1">
            <a:spLocks/>
          </p:cNvSpPr>
          <p:nvPr/>
        </p:nvSpPr>
        <p:spPr>
          <a:xfrm>
            <a:off x="7280694" y="1781784"/>
            <a:ext cx="4891664"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 real studies (afaik) on the most used languages among data scientists</a:t>
            </a:r>
          </a:p>
          <a:p>
            <a:r>
              <a:rPr lang="en-US" dirty="0"/>
              <a:t>Usually R/Python, with other languages being more situational</a:t>
            </a:r>
          </a:p>
          <a:p>
            <a:pPr marL="0" indent="0">
              <a:buNone/>
            </a:pPr>
            <a:endParaRPr lang="en-US" dirty="0">
              <a:solidFill>
                <a:srgbClr val="7F7DB0"/>
              </a:solidFill>
            </a:endParaRPr>
          </a:p>
        </p:txBody>
      </p:sp>
      <p:sp>
        <p:nvSpPr>
          <p:cNvPr id="3" name="Espace réservé du numéro de diapositive 2">
            <a:extLst>
              <a:ext uri="{FF2B5EF4-FFF2-40B4-BE49-F238E27FC236}">
                <a16:creationId xmlns:a16="http://schemas.microsoft.com/office/drawing/2014/main" id="{EFBFB5C9-005A-515A-28D3-E0F7ACDAFA4F}"/>
              </a:ext>
            </a:extLst>
          </p:cNvPr>
          <p:cNvSpPr>
            <a:spLocks noGrp="1"/>
          </p:cNvSpPr>
          <p:nvPr>
            <p:ph type="sldNum" sz="quarter" idx="12"/>
          </p:nvPr>
        </p:nvSpPr>
        <p:spPr/>
        <p:txBody>
          <a:bodyPr/>
          <a:lstStyle/>
          <a:p>
            <a:fld id="{6F3806FF-9E51-4331-BB90-F49EFA1FA4FC}" type="slidenum">
              <a:rPr lang="fr-FR" smtClean="0"/>
              <a:t>75</a:t>
            </a:fld>
            <a:endParaRPr lang="fr-FR"/>
          </a:p>
        </p:txBody>
      </p:sp>
    </p:spTree>
    <p:extLst>
      <p:ext uri="{BB962C8B-B14F-4D97-AF65-F5344CB8AC3E}">
        <p14:creationId xmlns:p14="http://schemas.microsoft.com/office/powerpoint/2010/main" val="420497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Popular languages: the </a:t>
            </a:r>
            <a:r>
              <a:rPr lang="en-GB" dirty="0">
                <a:solidFill>
                  <a:srgbClr val="7F7DB0"/>
                </a:solidFill>
              </a:rPr>
              <a:t>big</a:t>
            </a:r>
            <a:r>
              <a:rPr lang="en-GB" dirty="0">
                <a:solidFill>
                  <a:schemeClr val="tx1">
                    <a:lumMod val="75000"/>
                    <a:lumOff val="25000"/>
                  </a:schemeClr>
                </a:solidFill>
              </a:rPr>
              <a:t> ones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Espace réservé du contenu 4">
            <a:extLst>
              <a:ext uri="{FF2B5EF4-FFF2-40B4-BE49-F238E27FC236}">
                <a16:creationId xmlns:a16="http://schemas.microsoft.com/office/drawing/2014/main" id="{022E866D-5DB3-851B-919B-8E1A7428FFB8}"/>
              </a:ext>
            </a:extLst>
          </p:cNvPr>
          <p:cNvSpPr>
            <a:spLocks noGrp="1"/>
          </p:cNvSpPr>
          <p:nvPr>
            <p:ph idx="1"/>
          </p:nvPr>
        </p:nvSpPr>
        <p:spPr>
          <a:xfrm>
            <a:off x="838200" y="1825624"/>
            <a:ext cx="10515600" cy="4946111"/>
          </a:xfrm>
        </p:spPr>
        <p:txBody>
          <a:bodyPr>
            <a:normAutofit/>
          </a:bodyPr>
          <a:lstStyle/>
          <a:p>
            <a:r>
              <a:rPr lang="en-GB" dirty="0">
                <a:solidFill>
                  <a:srgbClr val="7F7DB0"/>
                </a:solidFill>
              </a:rPr>
              <a:t>Python</a:t>
            </a:r>
            <a:r>
              <a:rPr lang="en-GB" dirty="0"/>
              <a:t>: good to learn, mostly used for Machine Learning</a:t>
            </a:r>
          </a:p>
          <a:p>
            <a:pPr lvl="1"/>
            <a:r>
              <a:rPr lang="en-GB" dirty="0"/>
              <a:t>Quite limited for stats compared to R (e.g. survey weighting, time series…)</a:t>
            </a:r>
          </a:p>
          <a:p>
            <a:pPr lvl="1"/>
            <a:r>
              <a:rPr lang="en-GB" dirty="0"/>
              <a:t>Outside of stats/ML, used in software engineering</a:t>
            </a:r>
          </a:p>
          <a:p>
            <a:pPr marL="0" indent="0">
              <a:buNone/>
            </a:pPr>
            <a:r>
              <a:rPr lang="en-GB" dirty="0">
                <a:solidFill>
                  <a:srgbClr val="7F7DB0"/>
                </a:solidFill>
              </a:rPr>
              <a:t>   R</a:t>
            </a:r>
            <a:r>
              <a:rPr lang="en-GB" dirty="0"/>
              <a:t>: great for stats, still OK for ML</a:t>
            </a:r>
          </a:p>
          <a:p>
            <a:pPr lvl="1"/>
            <a:r>
              <a:rPr lang="en-GB" dirty="0"/>
              <a:t>Use Python if you want to do Deep Learning or work on textual data</a:t>
            </a:r>
          </a:p>
          <a:p>
            <a:r>
              <a:rPr lang="en-GB" dirty="0"/>
              <a:t>Some data scientists use </a:t>
            </a:r>
            <a:r>
              <a:rPr lang="en-GB" dirty="0">
                <a:solidFill>
                  <a:srgbClr val="7F7DB0"/>
                </a:solidFill>
              </a:rPr>
              <a:t>both</a:t>
            </a:r>
          </a:p>
          <a:p>
            <a:pPr lvl="1"/>
            <a:r>
              <a:rPr lang="en-GB" dirty="0"/>
              <a:t>You could use one as your ‘main’ language, and the other one for specific use cases</a:t>
            </a:r>
          </a:p>
          <a:p>
            <a:r>
              <a:rPr lang="en-GB" dirty="0">
                <a:solidFill>
                  <a:srgbClr val="7F7DB0"/>
                </a:solidFill>
              </a:rPr>
              <a:t>SQL</a:t>
            </a:r>
            <a:r>
              <a:rPr lang="en-GB" dirty="0"/>
              <a:t>: great if you work on big databases</a:t>
            </a:r>
          </a:p>
          <a:p>
            <a:pPr lvl="1"/>
            <a:r>
              <a:rPr lang="en-GB" dirty="0"/>
              <a:t>If you use R, you can get away without knowing too much with </a:t>
            </a:r>
            <a:r>
              <a:rPr lang="en-GB" dirty="0" err="1">
                <a:latin typeface="Fira Code" pitchFamily="1" charset="0"/>
                <a:ea typeface="Fira Code" pitchFamily="1" charset="0"/>
                <a:cs typeface="Fira Code" pitchFamily="1" charset="0"/>
              </a:rPr>
              <a:t>dbplyr</a:t>
            </a:r>
            <a:r>
              <a:rPr lang="en-GB" dirty="0">
                <a:cs typeface="Fira Code" pitchFamily="1" charset="0"/>
              </a:rPr>
              <a:t> (automatically translates </a:t>
            </a:r>
            <a:r>
              <a:rPr lang="en-GB" dirty="0" err="1">
                <a:cs typeface="Fira Code" pitchFamily="1" charset="0"/>
              </a:rPr>
              <a:t>dplyr</a:t>
            </a:r>
            <a:r>
              <a:rPr lang="en-GB" dirty="0">
                <a:cs typeface="Fira Code" pitchFamily="1" charset="0"/>
              </a:rPr>
              <a:t> pipelines to SQL queries)</a:t>
            </a:r>
            <a:endParaRPr lang="en-GB" dirty="0">
              <a:latin typeface="Fira Code" pitchFamily="1" charset="0"/>
              <a:ea typeface="Fira Code" pitchFamily="1" charset="0"/>
              <a:cs typeface="Fira Code" pitchFamily="1" charset="0"/>
            </a:endParaRPr>
          </a:p>
        </p:txBody>
      </p:sp>
      <p:sp>
        <p:nvSpPr>
          <p:cNvPr id="3" name="Espace réservé du numéro de diapositive 2">
            <a:extLst>
              <a:ext uri="{FF2B5EF4-FFF2-40B4-BE49-F238E27FC236}">
                <a16:creationId xmlns:a16="http://schemas.microsoft.com/office/drawing/2014/main" id="{C9A59048-A675-CFAD-566D-ED93E22CA322}"/>
              </a:ext>
            </a:extLst>
          </p:cNvPr>
          <p:cNvSpPr>
            <a:spLocks noGrp="1"/>
          </p:cNvSpPr>
          <p:nvPr>
            <p:ph type="sldNum" sz="quarter" idx="12"/>
          </p:nvPr>
        </p:nvSpPr>
        <p:spPr/>
        <p:txBody>
          <a:bodyPr/>
          <a:lstStyle/>
          <a:p>
            <a:fld id="{6F3806FF-9E51-4331-BB90-F49EFA1FA4FC}" type="slidenum">
              <a:rPr lang="fr-FR" smtClean="0"/>
              <a:t>76</a:t>
            </a:fld>
            <a:endParaRPr lang="fr-FR"/>
          </a:p>
        </p:txBody>
      </p:sp>
      <p:pic>
        <p:nvPicPr>
          <p:cNvPr id="8" name="Picture 7" descr="A blue and yellow snake logo&#10;&#10;Description automatically generated">
            <a:extLst>
              <a:ext uri="{FF2B5EF4-FFF2-40B4-BE49-F238E27FC236}">
                <a16:creationId xmlns:a16="http://schemas.microsoft.com/office/drawing/2014/main" id="{EE558C3D-4E18-0388-C948-9CCDB4FD63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359" y="1775872"/>
            <a:ext cx="624786" cy="685800"/>
          </a:xfrm>
          <a:prstGeom prst="rect">
            <a:avLst/>
          </a:prstGeom>
        </p:spPr>
      </p:pic>
      <p:pic>
        <p:nvPicPr>
          <p:cNvPr id="11" name="Picture 10" descr="A blue and grey logo&#10;&#10;Description automatically generated">
            <a:extLst>
              <a:ext uri="{FF2B5EF4-FFF2-40B4-BE49-F238E27FC236}">
                <a16:creationId xmlns:a16="http://schemas.microsoft.com/office/drawing/2014/main" id="{DC122A02-05D8-DEDC-4C3D-222D72FB96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745" y="3070860"/>
            <a:ext cx="595932" cy="461848"/>
          </a:xfrm>
          <a:prstGeom prst="rect">
            <a:avLst/>
          </a:prstGeom>
        </p:spPr>
      </p:pic>
    </p:spTree>
    <p:extLst>
      <p:ext uri="{BB962C8B-B14F-4D97-AF65-F5344CB8AC3E}">
        <p14:creationId xmlns:p14="http://schemas.microsoft.com/office/powerpoint/2010/main" val="216608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Popular languages: the </a:t>
            </a:r>
            <a:r>
              <a:rPr lang="en-GB" dirty="0">
                <a:solidFill>
                  <a:srgbClr val="7F7DB0"/>
                </a:solidFill>
              </a:rPr>
              <a:t>paid</a:t>
            </a:r>
            <a:r>
              <a:rPr lang="en-GB" dirty="0">
                <a:solidFill>
                  <a:schemeClr val="tx1">
                    <a:lumMod val="75000"/>
                    <a:lumOff val="25000"/>
                  </a:schemeClr>
                </a:solidFill>
              </a:rPr>
              <a:t> ones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Espace réservé du contenu 4">
            <a:extLst>
              <a:ext uri="{FF2B5EF4-FFF2-40B4-BE49-F238E27FC236}">
                <a16:creationId xmlns:a16="http://schemas.microsoft.com/office/drawing/2014/main" id="{022E866D-5DB3-851B-919B-8E1A7428FFB8}"/>
              </a:ext>
            </a:extLst>
          </p:cNvPr>
          <p:cNvSpPr>
            <a:spLocks noGrp="1"/>
          </p:cNvSpPr>
          <p:nvPr>
            <p:ph idx="1"/>
          </p:nvPr>
        </p:nvSpPr>
        <p:spPr>
          <a:xfrm>
            <a:off x="838200" y="1825625"/>
            <a:ext cx="10515600" cy="5032376"/>
          </a:xfrm>
        </p:spPr>
        <p:txBody>
          <a:bodyPr/>
          <a:lstStyle/>
          <a:p>
            <a:r>
              <a:rPr lang="en-GB" dirty="0">
                <a:solidFill>
                  <a:srgbClr val="FDFBF9"/>
                </a:solidFill>
              </a:rPr>
              <a:t>SAS</a:t>
            </a:r>
          </a:p>
          <a:p>
            <a:pPr lvl="1"/>
            <a:r>
              <a:rPr lang="en-GB" dirty="0">
                <a:solidFill>
                  <a:srgbClr val="7F7DB0"/>
                </a:solidFill>
              </a:rPr>
              <a:t>Good investment </a:t>
            </a:r>
            <a:r>
              <a:rPr lang="en-GB" dirty="0"/>
              <a:t>to learn IF you work in the financial (banks) or healthcare sectors (Contract Research Organisations)</a:t>
            </a:r>
          </a:p>
          <a:p>
            <a:pPr lvl="1"/>
            <a:r>
              <a:rPr lang="en-GB" dirty="0"/>
              <a:t>These are </a:t>
            </a:r>
            <a:r>
              <a:rPr lang="en-GB" dirty="0">
                <a:solidFill>
                  <a:srgbClr val="7F7DB0"/>
                </a:solidFill>
              </a:rPr>
              <a:t>high paying </a:t>
            </a:r>
            <a:r>
              <a:rPr lang="en-GB" dirty="0"/>
              <a:t>jobs; companies have difficulties hiring SAS users</a:t>
            </a:r>
          </a:p>
          <a:p>
            <a:pPr lvl="1"/>
            <a:r>
              <a:rPr lang="en-GB" dirty="0"/>
              <a:t>Not that useful elsewhere: syntax is clunky and obsolete, lack of commonly available tools in other IDEs (debugger, GitHub integration…), VERY expensive</a:t>
            </a:r>
          </a:p>
          <a:p>
            <a:pPr lvl="1"/>
            <a:r>
              <a:rPr lang="en-GB" dirty="0"/>
              <a:t>Opinionated take: your lecturer expects SAS usage to decrease as companies try to cut costs, there is a trend of migrating from SAS </a:t>
            </a:r>
            <a:r>
              <a:rPr lang="en-GB" dirty="0">
                <a:sym typeface="Wingdings" panose="05000000000000000000" pitchFamily="2" charset="2"/>
              </a:rPr>
              <a:t> R.</a:t>
            </a:r>
            <a:endParaRPr lang="en-GB" dirty="0"/>
          </a:p>
          <a:p>
            <a:r>
              <a:rPr lang="en-GB" dirty="0"/>
              <a:t>Stata, SPSS, </a:t>
            </a:r>
            <a:r>
              <a:rPr lang="en-GB" dirty="0" err="1"/>
              <a:t>MatLab</a:t>
            </a:r>
            <a:r>
              <a:rPr lang="en-GB" dirty="0"/>
              <a:t>…</a:t>
            </a:r>
          </a:p>
          <a:p>
            <a:pPr lvl="1"/>
            <a:r>
              <a:rPr lang="en-GB" dirty="0"/>
              <a:t>Don’t bother, very rarely asked in job offers</a:t>
            </a:r>
          </a:p>
          <a:p>
            <a:pPr lvl="1"/>
            <a:r>
              <a:rPr lang="en-GB" dirty="0"/>
              <a:t>Some statistical software (e.g. Stata) may have econometric models still not developed in R, so their use may be situational</a:t>
            </a:r>
          </a:p>
        </p:txBody>
      </p:sp>
      <p:sp>
        <p:nvSpPr>
          <p:cNvPr id="3" name="Espace réservé du numéro de diapositive 2">
            <a:extLst>
              <a:ext uri="{FF2B5EF4-FFF2-40B4-BE49-F238E27FC236}">
                <a16:creationId xmlns:a16="http://schemas.microsoft.com/office/drawing/2014/main" id="{77F4F3E5-58E0-74C7-17A4-C74DB26F7462}"/>
              </a:ext>
            </a:extLst>
          </p:cNvPr>
          <p:cNvSpPr>
            <a:spLocks noGrp="1"/>
          </p:cNvSpPr>
          <p:nvPr>
            <p:ph type="sldNum" sz="quarter" idx="12"/>
          </p:nvPr>
        </p:nvSpPr>
        <p:spPr/>
        <p:txBody>
          <a:bodyPr/>
          <a:lstStyle/>
          <a:p>
            <a:fld id="{6F3806FF-9E51-4331-BB90-F49EFA1FA4FC}" type="slidenum">
              <a:rPr lang="fr-FR" smtClean="0"/>
              <a:t>77</a:t>
            </a:fld>
            <a:endParaRPr lang="fr-F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6BCA6BF5-59DC-5A34-BE25-3402DFDF49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752" y="1794234"/>
            <a:ext cx="1274700" cy="523158"/>
          </a:xfrm>
          <a:prstGeom prst="rect">
            <a:avLst/>
          </a:prstGeom>
        </p:spPr>
      </p:pic>
    </p:spTree>
    <p:extLst>
      <p:ext uri="{BB962C8B-B14F-4D97-AF65-F5344CB8AC3E}">
        <p14:creationId xmlns:p14="http://schemas.microsoft.com/office/powerpoint/2010/main" val="328752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7F7DB0"/>
                </a:solidFill>
              </a:rPr>
              <a:t>Rising</a:t>
            </a:r>
            <a:r>
              <a:rPr lang="en-GB" dirty="0">
                <a:solidFill>
                  <a:schemeClr val="tx1">
                    <a:lumMod val="75000"/>
                    <a:lumOff val="25000"/>
                  </a:schemeClr>
                </a:solidFill>
              </a:rPr>
              <a:t> languages?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Espace réservé du contenu 4">
            <a:extLst>
              <a:ext uri="{FF2B5EF4-FFF2-40B4-BE49-F238E27FC236}">
                <a16:creationId xmlns:a16="http://schemas.microsoft.com/office/drawing/2014/main" id="{022E866D-5DB3-851B-919B-8E1A7428FFB8}"/>
              </a:ext>
            </a:extLst>
          </p:cNvPr>
          <p:cNvSpPr>
            <a:spLocks noGrp="1"/>
          </p:cNvSpPr>
          <p:nvPr>
            <p:ph idx="1"/>
          </p:nvPr>
        </p:nvSpPr>
        <p:spPr/>
        <p:txBody>
          <a:bodyPr/>
          <a:lstStyle/>
          <a:p>
            <a:r>
              <a:rPr lang="en-GB" dirty="0"/>
              <a:t>Julia, Rust, Go…</a:t>
            </a:r>
            <a:endParaRPr lang="en-GB" dirty="0">
              <a:latin typeface="Fira Code" pitchFamily="1" charset="0"/>
              <a:ea typeface="Fira Code" pitchFamily="1" charset="0"/>
              <a:cs typeface="Fira Code" pitchFamily="1" charset="0"/>
            </a:endParaRPr>
          </a:p>
          <a:p>
            <a:r>
              <a:rPr lang="en-GB" dirty="0"/>
              <a:t>Some popularity for these languages in the data science community (especially Julia)</a:t>
            </a:r>
          </a:p>
          <a:p>
            <a:pPr lvl="1"/>
            <a:r>
              <a:rPr lang="en-GB" dirty="0"/>
              <a:t>Considered to be </a:t>
            </a:r>
            <a:r>
              <a:rPr lang="en-GB" dirty="0">
                <a:solidFill>
                  <a:srgbClr val="7F7DB0"/>
                </a:solidFill>
              </a:rPr>
              <a:t>very performant</a:t>
            </a:r>
          </a:p>
          <a:p>
            <a:pPr lvl="1"/>
            <a:r>
              <a:rPr lang="en-GB" dirty="0"/>
              <a:t>These languages are </a:t>
            </a:r>
            <a:r>
              <a:rPr lang="en-GB" dirty="0">
                <a:solidFill>
                  <a:srgbClr val="7F7DB0"/>
                </a:solidFill>
              </a:rPr>
              <a:t>young</a:t>
            </a:r>
            <a:r>
              <a:rPr lang="en-GB" dirty="0"/>
              <a:t> (Julia came in 2012, while R/Python have been here for ~30 years), as are their ecosystems of packages</a:t>
            </a:r>
          </a:p>
          <a:p>
            <a:r>
              <a:rPr lang="en-GB" dirty="0"/>
              <a:t>At this stage, </a:t>
            </a:r>
            <a:r>
              <a:rPr lang="en-GB" dirty="0">
                <a:solidFill>
                  <a:srgbClr val="7F7DB0"/>
                </a:solidFill>
              </a:rPr>
              <a:t>nothing indicates that R/Python are falling out of favour</a:t>
            </a:r>
          </a:p>
          <a:p>
            <a:r>
              <a:rPr lang="en-GB" dirty="0"/>
              <a:t>Nevertheless, keep an eye on emerging programming languages, one day you may have to do the switch</a:t>
            </a:r>
          </a:p>
          <a:p>
            <a:endParaRPr lang="en-GB" dirty="0"/>
          </a:p>
        </p:txBody>
      </p:sp>
      <p:sp>
        <p:nvSpPr>
          <p:cNvPr id="3" name="Espace réservé du numéro de diapositive 2">
            <a:extLst>
              <a:ext uri="{FF2B5EF4-FFF2-40B4-BE49-F238E27FC236}">
                <a16:creationId xmlns:a16="http://schemas.microsoft.com/office/drawing/2014/main" id="{9A0B7F49-A094-393A-841E-153257C1FC8D}"/>
              </a:ext>
            </a:extLst>
          </p:cNvPr>
          <p:cNvSpPr>
            <a:spLocks noGrp="1"/>
          </p:cNvSpPr>
          <p:nvPr>
            <p:ph type="sldNum" sz="quarter" idx="12"/>
          </p:nvPr>
        </p:nvSpPr>
        <p:spPr/>
        <p:txBody>
          <a:bodyPr/>
          <a:lstStyle/>
          <a:p>
            <a:fld id="{6F3806FF-9E51-4331-BB90-F49EFA1FA4FC}" type="slidenum">
              <a:rPr lang="fr-FR" smtClean="0"/>
              <a:t>78</a:t>
            </a:fld>
            <a:endParaRPr lang="fr-FR"/>
          </a:p>
        </p:txBody>
      </p:sp>
      <p:pic>
        <p:nvPicPr>
          <p:cNvPr id="8" name="Picture 7" descr="A black text with colorful dots&#10;&#10;Description automatically generated">
            <a:extLst>
              <a:ext uri="{FF2B5EF4-FFF2-40B4-BE49-F238E27FC236}">
                <a16:creationId xmlns:a16="http://schemas.microsoft.com/office/drawing/2014/main" id="{C5DAE150-BDB2-E6AA-62AA-A509B8BA1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6746" y="1527016"/>
            <a:ext cx="1095468" cy="705778"/>
          </a:xfrm>
          <a:prstGeom prst="rect">
            <a:avLst/>
          </a:prstGeom>
        </p:spPr>
      </p:pic>
      <p:pic>
        <p:nvPicPr>
          <p:cNvPr id="10" name="Picture 9" descr="A black background with a black square&#10;&#10;Description automatically generated with medium confidence">
            <a:extLst>
              <a:ext uri="{FF2B5EF4-FFF2-40B4-BE49-F238E27FC236}">
                <a16:creationId xmlns:a16="http://schemas.microsoft.com/office/drawing/2014/main" id="{1518A814-B80B-EB9D-852D-05821F86EA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0325" y="1480160"/>
            <a:ext cx="908050" cy="908048"/>
          </a:xfrm>
          <a:prstGeom prst="rect">
            <a:avLst/>
          </a:prstGeom>
        </p:spPr>
      </p:pic>
      <p:pic>
        <p:nvPicPr>
          <p:cNvPr id="12" name="Picture 11" descr="A blue letter with a black background&#10;&#10;Description automatically generated">
            <a:extLst>
              <a:ext uri="{FF2B5EF4-FFF2-40B4-BE49-F238E27FC236}">
                <a16:creationId xmlns:a16="http://schemas.microsoft.com/office/drawing/2014/main" id="{89E6E47E-8DD9-6F11-B2F0-245AC8B04F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20966" y="1574259"/>
            <a:ext cx="1910714" cy="719850"/>
          </a:xfrm>
          <a:prstGeom prst="rect">
            <a:avLst/>
          </a:prstGeom>
        </p:spPr>
      </p:pic>
    </p:spTree>
    <p:extLst>
      <p:ext uri="{BB962C8B-B14F-4D97-AF65-F5344CB8AC3E}">
        <p14:creationId xmlns:p14="http://schemas.microsoft.com/office/powerpoint/2010/main" val="355771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Some last ones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5" name="Espace réservé du contenu 4">
            <a:extLst>
              <a:ext uri="{FF2B5EF4-FFF2-40B4-BE49-F238E27FC236}">
                <a16:creationId xmlns:a16="http://schemas.microsoft.com/office/drawing/2014/main" id="{022E866D-5DB3-851B-919B-8E1A7428FFB8}"/>
              </a:ext>
            </a:extLst>
          </p:cNvPr>
          <p:cNvSpPr>
            <a:spLocks noGrp="1"/>
          </p:cNvSpPr>
          <p:nvPr>
            <p:ph idx="1"/>
          </p:nvPr>
        </p:nvSpPr>
        <p:spPr/>
        <p:txBody>
          <a:bodyPr/>
          <a:lstStyle/>
          <a:p>
            <a:r>
              <a:rPr lang="en-GB" dirty="0"/>
              <a:t>HTML &amp; CSS</a:t>
            </a:r>
          </a:p>
          <a:p>
            <a:pPr lvl="1"/>
            <a:r>
              <a:rPr lang="en-GB" dirty="0"/>
              <a:t>Very useful if you want to make good-looking dashboards or websites</a:t>
            </a:r>
          </a:p>
          <a:p>
            <a:r>
              <a:rPr lang="en-GB" dirty="0"/>
              <a:t>C/C++</a:t>
            </a:r>
          </a:p>
          <a:p>
            <a:pPr lvl="1"/>
            <a:r>
              <a:rPr lang="en-GB" dirty="0"/>
              <a:t>Many R functions are actually written in C or C++ (check out </a:t>
            </a:r>
            <a:r>
              <a:rPr lang="en-GB" dirty="0" err="1">
                <a:latin typeface="Fira Code" pitchFamily="1" charset="0"/>
                <a:ea typeface="Fira Code" pitchFamily="1" charset="0"/>
                <a:cs typeface="Fira Code" pitchFamily="1" charset="0"/>
              </a:rPr>
              <a:t>Rcpp</a:t>
            </a:r>
            <a:r>
              <a:rPr lang="en-GB" dirty="0"/>
              <a:t> package)</a:t>
            </a:r>
          </a:p>
          <a:p>
            <a:pPr lvl="1"/>
            <a:r>
              <a:rPr lang="en-GB" dirty="0"/>
              <a:t>If you write custom functions for time-critical applications, porting some of these functions to C++ can give you the speed you look for</a:t>
            </a:r>
          </a:p>
          <a:p>
            <a:pPr lvl="1"/>
            <a:r>
              <a:rPr lang="en-GB" dirty="0"/>
              <a:t>However, this is unlikely to concern you</a:t>
            </a:r>
          </a:p>
        </p:txBody>
      </p:sp>
      <p:sp>
        <p:nvSpPr>
          <p:cNvPr id="3" name="Espace réservé du numéro de diapositive 2">
            <a:extLst>
              <a:ext uri="{FF2B5EF4-FFF2-40B4-BE49-F238E27FC236}">
                <a16:creationId xmlns:a16="http://schemas.microsoft.com/office/drawing/2014/main" id="{F74D163E-1113-FE24-907B-EE8A1F8B7F76}"/>
              </a:ext>
            </a:extLst>
          </p:cNvPr>
          <p:cNvSpPr>
            <a:spLocks noGrp="1"/>
          </p:cNvSpPr>
          <p:nvPr>
            <p:ph type="sldNum" sz="quarter" idx="12"/>
          </p:nvPr>
        </p:nvSpPr>
        <p:spPr/>
        <p:txBody>
          <a:bodyPr/>
          <a:lstStyle/>
          <a:p>
            <a:fld id="{6F3806FF-9E51-4331-BB90-F49EFA1FA4FC}" type="slidenum">
              <a:rPr lang="fr-FR" smtClean="0"/>
              <a:t>79</a:t>
            </a:fld>
            <a:endParaRPr lang="fr-FR"/>
          </a:p>
        </p:txBody>
      </p:sp>
      <p:pic>
        <p:nvPicPr>
          <p:cNvPr id="8" name="Picture 7" descr="A blue hexagon with white circle and white plus and white letters&#10;&#10;Description automatically generated">
            <a:extLst>
              <a:ext uri="{FF2B5EF4-FFF2-40B4-BE49-F238E27FC236}">
                <a16:creationId xmlns:a16="http://schemas.microsoft.com/office/drawing/2014/main" id="{078F4BDB-4770-8051-7CC8-2C98A6A198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2180" y="2676646"/>
            <a:ext cx="472440" cy="531888"/>
          </a:xfrm>
          <a:prstGeom prst="rect">
            <a:avLst/>
          </a:prstGeom>
        </p:spPr>
      </p:pic>
    </p:spTree>
    <p:extLst>
      <p:ext uri="{BB962C8B-B14F-4D97-AF65-F5344CB8AC3E}">
        <p14:creationId xmlns:p14="http://schemas.microsoft.com/office/powerpoint/2010/main" val="421255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err="1">
                <a:solidFill>
                  <a:schemeClr val="tx1">
                    <a:lumMod val="75000"/>
                    <a:lumOff val="25000"/>
                  </a:schemeClr>
                </a:solidFill>
              </a:rPr>
              <a:t>Cookiecutter</a:t>
            </a:r>
            <a:r>
              <a:rPr lang="en-GB" dirty="0">
                <a:solidFill>
                  <a:schemeClr val="tx1">
                    <a:lumMod val="75000"/>
                    <a:lumOff val="25000"/>
                  </a:schemeClr>
                </a:solidFill>
              </a:rPr>
              <a:t> Data Science</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Python package that provides a basic project structure for data science work: </a:t>
            </a:r>
            <a:r>
              <a:rPr lang="en-US" dirty="0">
                <a:hlinkClick r:id="rId4"/>
              </a:rPr>
              <a:t>https://cookiecutter-data-science.drivendata.org/</a:t>
            </a:r>
            <a:r>
              <a:rPr lang="en-US" dirty="0"/>
              <a:t> </a:t>
            </a:r>
          </a:p>
          <a:p>
            <a:r>
              <a:rPr lang="en-US" dirty="0"/>
              <a:t>With other programming languages, just copy the folder structure</a:t>
            </a:r>
          </a:p>
          <a:p>
            <a:r>
              <a:rPr lang="en-US" dirty="0"/>
              <a:t>Useful when working with others: this is a commonly used skeleton for projects, and other data scientists won’t be lost when working on your project</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5" name="Image 4" descr="Une image contenant cercle, capture d’écran, peinture, art&#10;&#10;Description générée automatiquement">
            <a:extLst>
              <a:ext uri="{FF2B5EF4-FFF2-40B4-BE49-F238E27FC236}">
                <a16:creationId xmlns:a16="http://schemas.microsoft.com/office/drawing/2014/main" id="{BB18E578-0A3D-061F-5E4E-2FFE7098AC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32958" y="165882"/>
            <a:ext cx="1602420" cy="1602420"/>
          </a:xfrm>
          <a:prstGeom prst="rect">
            <a:avLst/>
          </a:prstGeom>
        </p:spPr>
      </p:pic>
      <p:pic>
        <p:nvPicPr>
          <p:cNvPr id="11" name="Image 10">
            <a:extLst>
              <a:ext uri="{FF2B5EF4-FFF2-40B4-BE49-F238E27FC236}">
                <a16:creationId xmlns:a16="http://schemas.microsoft.com/office/drawing/2014/main" id="{B2A090CF-C08F-D15D-0480-6391FBD803C0}"/>
              </a:ext>
            </a:extLst>
          </p:cNvPr>
          <p:cNvPicPr>
            <a:picLocks noChangeAspect="1"/>
          </p:cNvPicPr>
          <p:nvPr/>
        </p:nvPicPr>
        <p:blipFill rotWithShape="1">
          <a:blip r:embed="rId6"/>
          <a:srcRect b="54175"/>
          <a:stretch/>
        </p:blipFill>
        <p:spPr>
          <a:xfrm>
            <a:off x="990600" y="4551717"/>
            <a:ext cx="4343400" cy="2173118"/>
          </a:xfrm>
          <a:prstGeom prst="rect">
            <a:avLst/>
          </a:prstGeom>
        </p:spPr>
      </p:pic>
      <p:pic>
        <p:nvPicPr>
          <p:cNvPr id="13" name="Image 12">
            <a:extLst>
              <a:ext uri="{FF2B5EF4-FFF2-40B4-BE49-F238E27FC236}">
                <a16:creationId xmlns:a16="http://schemas.microsoft.com/office/drawing/2014/main" id="{049436D9-9513-D181-483A-4C0BC95578FF}"/>
              </a:ext>
            </a:extLst>
          </p:cNvPr>
          <p:cNvPicPr>
            <a:picLocks noChangeAspect="1"/>
          </p:cNvPicPr>
          <p:nvPr/>
        </p:nvPicPr>
        <p:blipFill rotWithShape="1">
          <a:blip r:embed="rId6"/>
          <a:srcRect l="-204" t="46824" r="204" b="7351"/>
          <a:stretch/>
        </p:blipFill>
        <p:spPr>
          <a:xfrm>
            <a:off x="5588816" y="4551717"/>
            <a:ext cx="4343400" cy="2173118"/>
          </a:xfrm>
          <a:prstGeom prst="rect">
            <a:avLst/>
          </a:prstGeom>
        </p:spPr>
      </p:pic>
      <p:sp>
        <p:nvSpPr>
          <p:cNvPr id="3" name="Espace réservé du numéro de diapositive 2">
            <a:extLst>
              <a:ext uri="{FF2B5EF4-FFF2-40B4-BE49-F238E27FC236}">
                <a16:creationId xmlns:a16="http://schemas.microsoft.com/office/drawing/2014/main" id="{CA1D4E5D-836A-0AE2-7C9B-7F804083A9CE}"/>
              </a:ext>
            </a:extLst>
          </p:cNvPr>
          <p:cNvSpPr>
            <a:spLocks noGrp="1"/>
          </p:cNvSpPr>
          <p:nvPr>
            <p:ph type="sldNum" sz="quarter" idx="12"/>
          </p:nvPr>
        </p:nvSpPr>
        <p:spPr/>
        <p:txBody>
          <a:bodyPr/>
          <a:lstStyle/>
          <a:p>
            <a:fld id="{6F3806FF-9E51-4331-BB90-F49EFA1FA4FC}" type="slidenum">
              <a:rPr lang="fr-FR" smtClean="0"/>
              <a:t>80</a:t>
            </a:fld>
            <a:endParaRPr lang="fr-FR"/>
          </a:p>
        </p:txBody>
      </p:sp>
    </p:spTree>
    <p:extLst>
      <p:ext uri="{BB962C8B-B14F-4D97-AF65-F5344CB8AC3E}">
        <p14:creationId xmlns:p14="http://schemas.microsoft.com/office/powerpoint/2010/main" val="245554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Working with </a:t>
            </a:r>
            <a:r>
              <a:rPr lang="en-GB" dirty="0">
                <a:solidFill>
                  <a:srgbClr val="7F7DB0"/>
                </a:solidFill>
              </a:rPr>
              <a:t>others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Git (+ GitHub, GitLab…)</a:t>
            </a:r>
          </a:p>
          <a:p>
            <a:pPr lvl="1"/>
            <a:r>
              <a:rPr lang="en-US" dirty="0">
                <a:solidFill>
                  <a:srgbClr val="7F7DB0"/>
                </a:solidFill>
              </a:rPr>
              <a:t>Version control </a:t>
            </a:r>
            <a:r>
              <a:rPr lang="en-US" dirty="0"/>
              <a:t>software: keeps track of all modifications in files of a project</a:t>
            </a:r>
          </a:p>
          <a:p>
            <a:pPr lvl="1"/>
            <a:r>
              <a:rPr lang="en-US" dirty="0"/>
              <a:t>Great when working alone to keep a history of all changes you have made</a:t>
            </a:r>
          </a:p>
          <a:p>
            <a:pPr lvl="1"/>
            <a:r>
              <a:rPr lang="en-US" dirty="0"/>
              <a:t>Great when working with others, to check new modifications, review their code…</a:t>
            </a:r>
          </a:p>
          <a:p>
            <a:pPr marL="0" indent="0">
              <a:buNone/>
            </a:pPr>
            <a:endParaRPr lang="en-US" dirty="0"/>
          </a:p>
          <a:p>
            <a:r>
              <a:rPr lang="en-US" dirty="0"/>
              <a:t>Project management tools: Trello, </a:t>
            </a:r>
            <a:r>
              <a:rPr lang="en-US" dirty="0" err="1"/>
              <a:t>ClickUp</a:t>
            </a:r>
            <a:r>
              <a:rPr lang="en-US" dirty="0"/>
              <a:t>…</a:t>
            </a:r>
          </a:p>
          <a:p>
            <a:pPr lvl="1"/>
            <a:r>
              <a:rPr lang="en-US" dirty="0"/>
              <a:t>Used to plan all steps in a project</a:t>
            </a:r>
          </a:p>
          <a:p>
            <a:pPr lvl="1"/>
            <a:r>
              <a:rPr lang="en-US" dirty="0"/>
              <a:t>Very useful if you work on multiple projects to keep</a:t>
            </a:r>
            <a:br>
              <a:rPr lang="en-US" dirty="0"/>
            </a:br>
            <a:r>
              <a:rPr lang="en-US" dirty="0"/>
              <a:t>track of all you have to do</a:t>
            </a:r>
          </a:p>
          <a:p>
            <a:pPr lvl="1"/>
            <a:r>
              <a:rPr lang="en-US" dirty="0"/>
              <a:t>Also great to check or report progress on tasks </a:t>
            </a:r>
          </a:p>
          <a:p>
            <a:pPr lvl="1"/>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5" name="Image 4">
            <a:extLst>
              <a:ext uri="{FF2B5EF4-FFF2-40B4-BE49-F238E27FC236}">
                <a16:creationId xmlns:a16="http://schemas.microsoft.com/office/drawing/2014/main" id="{0BD2A524-BF46-E726-3882-ABD1CFDCAA01}"/>
              </a:ext>
            </a:extLst>
          </p:cNvPr>
          <p:cNvPicPr>
            <a:picLocks noChangeAspect="1"/>
          </p:cNvPicPr>
          <p:nvPr/>
        </p:nvPicPr>
        <p:blipFill rotWithShape="1">
          <a:blip r:embed="rId4"/>
          <a:srcRect l="19864" t="1509" b="9199"/>
          <a:stretch/>
        </p:blipFill>
        <p:spPr>
          <a:xfrm>
            <a:off x="8112977" y="3968317"/>
            <a:ext cx="3736538" cy="2760955"/>
          </a:xfrm>
          <a:prstGeom prst="rect">
            <a:avLst/>
          </a:prstGeom>
          <a:ln>
            <a:solidFill>
              <a:srgbClr val="1891C3"/>
            </a:solidFill>
          </a:ln>
        </p:spPr>
      </p:pic>
      <p:sp>
        <p:nvSpPr>
          <p:cNvPr id="3" name="Espace réservé du numéro de diapositive 2">
            <a:extLst>
              <a:ext uri="{FF2B5EF4-FFF2-40B4-BE49-F238E27FC236}">
                <a16:creationId xmlns:a16="http://schemas.microsoft.com/office/drawing/2014/main" id="{CF51511B-A403-1B48-B3B7-E43FDAA075B1}"/>
              </a:ext>
            </a:extLst>
          </p:cNvPr>
          <p:cNvSpPr>
            <a:spLocks noGrp="1"/>
          </p:cNvSpPr>
          <p:nvPr>
            <p:ph type="sldNum" sz="quarter" idx="12"/>
          </p:nvPr>
        </p:nvSpPr>
        <p:spPr/>
        <p:txBody>
          <a:bodyPr/>
          <a:lstStyle/>
          <a:p>
            <a:fld id="{6F3806FF-9E51-4331-BB90-F49EFA1FA4FC}" type="slidenum">
              <a:rPr lang="fr-FR" smtClean="0"/>
              <a:t>81</a:t>
            </a:fld>
            <a:endParaRPr lang="fr-FR"/>
          </a:p>
        </p:txBody>
      </p:sp>
    </p:spTree>
    <p:extLst>
      <p:ext uri="{BB962C8B-B14F-4D97-AF65-F5344CB8AC3E}">
        <p14:creationId xmlns:p14="http://schemas.microsoft.com/office/powerpoint/2010/main" val="253094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7268</Words>
  <Application>Microsoft Office PowerPoint</Application>
  <PresentationFormat>Grand écran</PresentationFormat>
  <Paragraphs>870</Paragraphs>
  <Slides>81</Slides>
  <Notes>71</Notes>
  <HiddenSlides>0</HiddenSlides>
  <MMClips>2</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81</vt:i4>
      </vt:variant>
    </vt:vector>
  </HeadingPairs>
  <TitlesOfParts>
    <vt:vector size="89" baseType="lpstr">
      <vt:lpstr>Source Sans Pro</vt:lpstr>
      <vt:lpstr>Wingdings</vt:lpstr>
      <vt:lpstr>Arial</vt:lpstr>
      <vt:lpstr>Esteban</vt:lpstr>
      <vt:lpstr>Fira Code</vt:lpstr>
      <vt:lpstr>Aptos</vt:lpstr>
      <vt:lpstr>Montserrat</vt:lpstr>
      <vt:lpstr>Office Theme</vt:lpstr>
      <vt:lpstr>Practising data science in the real world</vt:lpstr>
      <vt:lpstr>What is this class about?</vt:lpstr>
      <vt:lpstr>How I made this class</vt:lpstr>
      <vt:lpstr>On the matter of books</vt:lpstr>
      <vt:lpstr>Who am I?</vt:lpstr>
      <vt:lpstr>Stuff I have worked on</vt:lpstr>
      <vt:lpstr>Stuff I have worked on</vt:lpstr>
      <vt:lpstr>Internships (1)</vt:lpstr>
      <vt:lpstr>Internships (2)</vt:lpstr>
      <vt:lpstr>Additional info on the course</vt:lpstr>
      <vt:lpstr>Github/Final assignment</vt:lpstr>
      <vt:lpstr>Grading</vt:lpstr>
      <vt:lpstr>Final assignment</vt:lpstr>
      <vt:lpstr>LLMs: my stance</vt:lpstr>
      <vt:lpstr>LLMs: my stance</vt:lpstr>
      <vt:lpstr>LLMs: obvious red flags</vt:lpstr>
      <vt:lpstr>Présentation PowerPoint</vt:lpstr>
      <vt:lpstr>Présentation PowerPoint</vt:lpstr>
      <vt:lpstr>Questions? I’ll answer questions about jobs, work experience as a data scientist, projects…   Don’t send me messages on LinkedIn, use my email address.</vt:lpstr>
      <vt:lpstr>Summary</vt:lpstr>
      <vt:lpstr>Summary</vt:lpstr>
      <vt:lpstr>Data &amp; defining needs</vt:lpstr>
      <vt:lpstr>What we’ll see</vt:lpstr>
      <vt:lpstr>Présentation PowerPoint</vt:lpstr>
      <vt:lpstr>🌈Data science🌈 What? Why?</vt:lpstr>
      <vt:lpstr>🌈Data science🌈 What? Why?</vt:lpstr>
      <vt:lpstr>🌈Data science🌈 What? Why?</vt:lpstr>
      <vt:lpstr>Don’t forget the end goal</vt:lpstr>
      <vt:lpstr>🌈Data science🌈 What? Why?</vt:lpstr>
      <vt:lpstr>🌈Data science🌈 What? Why?</vt:lpstr>
      <vt:lpstr>Data as fact</vt:lpstr>
      <vt:lpstr>🌈Data science🌈 What? Why?</vt:lpstr>
      <vt:lpstr>Data lifecycle</vt:lpstr>
      <vt:lpstr>Data lifecycle</vt:lpstr>
      <vt:lpstr>Data is a representation</vt:lpstr>
      <vt:lpstr>🌈Data science🌈 What? Why?</vt:lpstr>
      <vt:lpstr>Data déconstruit</vt:lpstr>
      <vt:lpstr>Data déconstruit</vt:lpstr>
      <vt:lpstr>Data as an interpretation</vt:lpstr>
      <vt:lpstr>Data as an interpretation</vt:lpstr>
      <vt:lpstr>Raw data</vt:lpstr>
      <vt:lpstr>Data as an interpretation</vt:lpstr>
      <vt:lpstr>Data as an interpretation</vt:lpstr>
      <vt:lpstr>Data as an interpretation</vt:lpstr>
      <vt:lpstr>Présentation PowerPoint</vt:lpstr>
      <vt:lpstr>Why does the data exist?</vt:lpstr>
      <vt:lpstr>Why does the data exist?</vt:lpstr>
      <vt:lpstr>Data as capta</vt:lpstr>
      <vt:lpstr>“Data” takeaway</vt:lpstr>
      <vt:lpstr>I. Defining needs</vt:lpstr>
      <vt:lpstr>Back to business</vt:lpstr>
      <vt:lpstr>Planning analyses (1)</vt:lpstr>
      <vt:lpstr>Planning analyses (2)</vt:lpstr>
      <vt:lpstr>Instant culture</vt:lpstr>
      <vt:lpstr>Planning analyses (3)</vt:lpstr>
      <vt:lpstr>R exercise (~1 hour)</vt:lpstr>
      <vt:lpstr>What analyses?</vt:lpstr>
      <vt:lpstr>What models?</vt:lpstr>
      <vt:lpstr>What models?</vt:lpstr>
      <vt:lpstr>What models, but for my data? (1)</vt:lpstr>
      <vt:lpstr>Supervised learning</vt:lpstr>
      <vt:lpstr>Supervised learning</vt:lpstr>
      <vt:lpstr>Some weird cases (1)</vt:lpstr>
      <vt:lpstr>Some weird cases (2)</vt:lpstr>
      <vt:lpstr>What models, but for my data? (2)</vt:lpstr>
      <vt:lpstr>Unsupervised learning (1)</vt:lpstr>
      <vt:lpstr>Unsupervised learning (2)</vt:lpstr>
      <vt:lpstr>What models, but for my data? (3)</vt:lpstr>
      <vt:lpstr>Google Big Query models cheat sheet</vt:lpstr>
      <vt:lpstr>What variables to include?</vt:lpstr>
      <vt:lpstr>What potential biases?</vt:lpstr>
      <vt:lpstr>What to report?</vt:lpstr>
      <vt:lpstr>How much resources?</vt:lpstr>
      <vt:lpstr>What programming language? (1)</vt:lpstr>
      <vt:lpstr>Popular languages</vt:lpstr>
      <vt:lpstr>Popular languages: the big ones</vt:lpstr>
      <vt:lpstr>Popular languages: the paid ones</vt:lpstr>
      <vt:lpstr>Rising languages?</vt:lpstr>
      <vt:lpstr>Some last ones</vt:lpstr>
      <vt:lpstr>Cookiecutter Data Science</vt:lpstr>
      <vt:lpstr>Working with others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Dimitri Scronias</dc:creator>
  <cp:lastModifiedBy>dimitri scronias</cp:lastModifiedBy>
  <cp:revision>333</cp:revision>
  <dcterms:created xsi:type="dcterms:W3CDTF">2024-07-27T21:19:28Z</dcterms:created>
  <dcterms:modified xsi:type="dcterms:W3CDTF">2026-09-26T06:57:27Z</dcterms:modified>
</cp:coreProperties>
</file>